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a418cac110477a" /><Relationship Type="http://schemas.openxmlformats.org/officeDocument/2006/relationships/extended-properties" Target="/docProps/app.xml" Id="Rbb714b219bdf4d9c" /><Relationship Type="http://schemas.openxmlformats.org/officeDocument/2006/relationships/officeDocument" Target="/ppt/presentation.xml" Id="Re734bd3424c048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ec7d5ff5fd44cc"/>
  </p:sldMasterIdLst>
  <p:notesMasterIdLst>
    <p:notesMasterId xmlns:r="http://schemas.openxmlformats.org/officeDocument/2006/relationships" r:id="R9f6e2e3c059e404c"/>
  </p:notesMasterIdLst>
  <p:sldIdLst>
    <p:sldId xmlns:r="http://schemas.openxmlformats.org/officeDocument/2006/relationships" id="256" r:id="R8656e95e29354e63"/>
    <p:sldId xmlns:r="http://schemas.openxmlformats.org/officeDocument/2006/relationships" id="257" r:id="R23f24c20d1f34b0b"/>
    <p:sldId xmlns:r="http://schemas.openxmlformats.org/officeDocument/2006/relationships" id="258" r:id="Rb8378bd6c64f49c3"/>
    <p:sldId xmlns:r="http://schemas.openxmlformats.org/officeDocument/2006/relationships" id="259" r:id="Ree516a54e04942f9"/>
    <p:sldId xmlns:r="http://schemas.openxmlformats.org/officeDocument/2006/relationships" id="260" r:id="R59bb95a6237e465c"/>
    <p:sldId xmlns:r="http://schemas.openxmlformats.org/officeDocument/2006/relationships" id="261" r:id="R37f61cb9a5404077"/>
    <p:sldId xmlns:r="http://schemas.openxmlformats.org/officeDocument/2006/relationships" id="262" r:id="Racbc6d5d66e44f4b"/>
    <p:sldId xmlns:r="http://schemas.openxmlformats.org/officeDocument/2006/relationships" id="263" r:id="R5d7f88c16b774741"/>
    <p:sldId xmlns:r="http://schemas.openxmlformats.org/officeDocument/2006/relationships" id="264" r:id="R2f24fad231fe42b7"/>
    <p:sldId xmlns:r="http://schemas.openxmlformats.org/officeDocument/2006/relationships" id="265" r:id="R90d34ae1170e45d8"/>
    <p:sldId xmlns:r="http://schemas.openxmlformats.org/officeDocument/2006/relationships" id="266" r:id="Recec6001e409438e"/>
    <p:sldId xmlns:r="http://schemas.openxmlformats.org/officeDocument/2006/relationships" id="267" r:id="Re63d43e34e854461"/>
    <p:sldId xmlns:r="http://schemas.openxmlformats.org/officeDocument/2006/relationships" id="268" r:id="Rab29de6b5d9c46c2"/>
    <p:sldId xmlns:r="http://schemas.openxmlformats.org/officeDocument/2006/relationships" id="269" r:id="Rb0511c6c9ef44872"/>
    <p:sldId xmlns:r="http://schemas.openxmlformats.org/officeDocument/2006/relationships" id="270" r:id="Reb58c6aab6a14b9a"/>
    <p:sldId xmlns:r="http://schemas.openxmlformats.org/officeDocument/2006/relationships" id="271" r:id="R9bf7b29c538546ea"/>
    <p:sldId xmlns:r="http://schemas.openxmlformats.org/officeDocument/2006/relationships" id="272" r:id="R3608809a28b74ce5"/>
    <p:sldId xmlns:r="http://schemas.openxmlformats.org/officeDocument/2006/relationships" id="273" r:id="R7386afbdc9634b8f"/>
    <p:sldId xmlns:r="http://schemas.openxmlformats.org/officeDocument/2006/relationships" id="274" r:id="R1d1bf131bf044a46"/>
    <p:sldId xmlns:r="http://schemas.openxmlformats.org/officeDocument/2006/relationships" id="275" r:id="R6b236a474e234593"/>
    <p:sldId xmlns:r="http://schemas.openxmlformats.org/officeDocument/2006/relationships" id="276" r:id="Rb125b5b628914441"/>
    <p:sldId xmlns:r="http://schemas.openxmlformats.org/officeDocument/2006/relationships" id="277" r:id="R2c07c7cc792945c1"/>
    <p:sldId xmlns:r="http://schemas.openxmlformats.org/officeDocument/2006/relationships" id="278" r:id="R153a3b11cb0d477d"/>
    <p:sldId xmlns:r="http://schemas.openxmlformats.org/officeDocument/2006/relationships" id="279" r:id="Re9cb8cc55afd4f84"/>
    <p:sldId xmlns:r="http://schemas.openxmlformats.org/officeDocument/2006/relationships" id="280" r:id="R972c6e74e3d041b3"/>
    <p:sldId xmlns:r="http://schemas.openxmlformats.org/officeDocument/2006/relationships" id="281" r:id="Rcdcce99f293a4009"/>
    <p:sldId xmlns:r="http://schemas.openxmlformats.org/officeDocument/2006/relationships" id="282" r:id="R99593101d15645c9"/>
    <p:sldId xmlns:r="http://schemas.openxmlformats.org/officeDocument/2006/relationships" id="283" r:id="Rc22734d710514270"/>
  </p:sldIdLst>
  <p:sldSz cx="10692384" cy="6019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6652fd5da240df" /><Relationship Type="http://schemas.openxmlformats.org/officeDocument/2006/relationships/slideMaster" Target="/ppt/slideMasters/slideMaster1.xml" Id="R62ec7d5ff5fd44cc" /><Relationship Type="http://schemas.openxmlformats.org/officeDocument/2006/relationships/notesMaster" Target="/ppt/notesMasters/notesMaster1.xml" Id="R9f6e2e3c059e404c" /><Relationship Type="http://schemas.openxmlformats.org/officeDocument/2006/relationships/presProps" Target="/ppt/presProps.xml" Id="R943ef6c686de4aef" /><Relationship Type="http://schemas.openxmlformats.org/officeDocument/2006/relationships/tableStyles" Target="/ppt/tableStyles.xml" Id="R95748316c3a24d42" /><Relationship Type="http://schemas.openxmlformats.org/officeDocument/2006/relationships/slide" Target="/ppt/slides/slide1.xml" Id="R8656e95e29354e63" /><Relationship Type="http://schemas.openxmlformats.org/officeDocument/2006/relationships/slide" Target="/ppt/slides/slide2.xml" Id="R23f24c20d1f34b0b" /><Relationship Type="http://schemas.openxmlformats.org/officeDocument/2006/relationships/slide" Target="/ppt/slides/slide3.xml" Id="Rb8378bd6c64f49c3" /><Relationship Type="http://schemas.openxmlformats.org/officeDocument/2006/relationships/slide" Target="/ppt/slides/slide4.xml" Id="Ree516a54e04942f9" /><Relationship Type="http://schemas.openxmlformats.org/officeDocument/2006/relationships/slide" Target="/ppt/slides/slide5.xml" Id="R59bb95a6237e465c" /><Relationship Type="http://schemas.openxmlformats.org/officeDocument/2006/relationships/slide" Target="/ppt/slides/slide6.xml" Id="R37f61cb9a5404077" /><Relationship Type="http://schemas.openxmlformats.org/officeDocument/2006/relationships/slide" Target="/ppt/slides/slide7.xml" Id="Racbc6d5d66e44f4b" /><Relationship Type="http://schemas.openxmlformats.org/officeDocument/2006/relationships/slide" Target="/ppt/slides/slide8.xml" Id="R5d7f88c16b774741" /><Relationship Type="http://schemas.openxmlformats.org/officeDocument/2006/relationships/slide" Target="/ppt/slides/slide9.xml" Id="R2f24fad231fe42b7" /><Relationship Type="http://schemas.openxmlformats.org/officeDocument/2006/relationships/slide" Target="/ppt/slides/slide10.xml" Id="R90d34ae1170e45d8" /><Relationship Type="http://schemas.openxmlformats.org/officeDocument/2006/relationships/slide" Target="/ppt/slides/slide11.xml" Id="Recec6001e409438e" /><Relationship Type="http://schemas.openxmlformats.org/officeDocument/2006/relationships/slide" Target="/ppt/slides/slide12.xml" Id="Re63d43e34e854461" /><Relationship Type="http://schemas.openxmlformats.org/officeDocument/2006/relationships/slide" Target="/ppt/slides/slide13.xml" Id="Rab29de6b5d9c46c2" /><Relationship Type="http://schemas.openxmlformats.org/officeDocument/2006/relationships/slide" Target="/ppt/slides/slide14.xml" Id="Rb0511c6c9ef44872" /><Relationship Type="http://schemas.openxmlformats.org/officeDocument/2006/relationships/slide" Target="/ppt/slides/slide15.xml" Id="Reb58c6aab6a14b9a" /><Relationship Type="http://schemas.openxmlformats.org/officeDocument/2006/relationships/slide" Target="/ppt/slides/slide16.xml" Id="R9bf7b29c538546ea" /><Relationship Type="http://schemas.openxmlformats.org/officeDocument/2006/relationships/slide" Target="/ppt/slides/slide17.xml" Id="R3608809a28b74ce5" /><Relationship Type="http://schemas.openxmlformats.org/officeDocument/2006/relationships/slide" Target="/ppt/slides/slide18.xml" Id="R7386afbdc9634b8f" /><Relationship Type="http://schemas.openxmlformats.org/officeDocument/2006/relationships/slide" Target="/ppt/slides/slide19.xml" Id="R1d1bf131bf044a46" /><Relationship Type="http://schemas.openxmlformats.org/officeDocument/2006/relationships/slide" Target="/ppt/slides/slide20.xml" Id="R6b236a474e234593" /><Relationship Type="http://schemas.openxmlformats.org/officeDocument/2006/relationships/slide" Target="/ppt/slides/slide21.xml" Id="Rb125b5b628914441" /><Relationship Type="http://schemas.openxmlformats.org/officeDocument/2006/relationships/slide" Target="/ppt/slides/slide22.xml" Id="R2c07c7cc792945c1" /><Relationship Type="http://schemas.openxmlformats.org/officeDocument/2006/relationships/slide" Target="/ppt/slides/slide23.xml" Id="R153a3b11cb0d477d" /><Relationship Type="http://schemas.openxmlformats.org/officeDocument/2006/relationships/slide" Target="/ppt/slides/slide24.xml" Id="Re9cb8cc55afd4f84" /><Relationship Type="http://schemas.openxmlformats.org/officeDocument/2006/relationships/slide" Target="/ppt/slides/slide25.xml" Id="R972c6e74e3d041b3" /><Relationship Type="http://schemas.openxmlformats.org/officeDocument/2006/relationships/slide" Target="/ppt/slides/slide26.xml" Id="Rcdcce99f293a4009" /><Relationship Type="http://schemas.openxmlformats.org/officeDocument/2006/relationships/slide" Target="/ppt/slides/slide27.xml" Id="R99593101d15645c9" /><Relationship Type="http://schemas.openxmlformats.org/officeDocument/2006/relationships/slide" Target="/ppt/slides/slide28.xml" Id="Rc22734d7105142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c58ef9e96142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71a9e5249a4984" /><Relationship Type="http://schemas.openxmlformats.org/officeDocument/2006/relationships/notesMaster" Target="/ppt/notesMasters/notesMaster1.xml" Id="R94d46f4bf64a43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f16370f812434e" /><Relationship Type="http://schemas.openxmlformats.org/officeDocument/2006/relationships/notesMaster" Target="/ppt/notesMasters/notesMaster1.xml" Id="Re248b931fdaf43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bb4cfb7f384348" /><Relationship Type="http://schemas.openxmlformats.org/officeDocument/2006/relationships/notesMaster" Target="/ppt/notesMasters/notesMaster1.xml" Id="R64c87447c62a4b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58feb737f74c25" /><Relationship Type="http://schemas.openxmlformats.org/officeDocument/2006/relationships/notesMaster" Target="/ppt/notesMasters/notesMaster1.xml" Id="Ra5ecd34213f448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bf10d8a48e436e" /><Relationship Type="http://schemas.openxmlformats.org/officeDocument/2006/relationships/notesMaster" Target="/ppt/notesMasters/notesMaster1.xml" Id="Rc0c11169acd24a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1268fa53fa4b33" /><Relationship Type="http://schemas.openxmlformats.org/officeDocument/2006/relationships/notesMaster" Target="/ppt/notesMasters/notesMaster1.xml" Id="R7b3a77dcd3964a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856fad7c4e46e9" /><Relationship Type="http://schemas.openxmlformats.org/officeDocument/2006/relationships/notesMaster" Target="/ppt/notesMasters/notesMaster1.xml" Id="R12aa0bb98eed4a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d01502d28949d4" /><Relationship Type="http://schemas.openxmlformats.org/officeDocument/2006/relationships/notesMaster" Target="/ppt/notesMasters/notesMaster1.xml" Id="Rf97c0c45213c4f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5e38ab6c834507" /><Relationship Type="http://schemas.openxmlformats.org/officeDocument/2006/relationships/notesMaster" Target="/ppt/notesMasters/notesMaster1.xml" Id="R39bc39876ee948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1f6c93c85e4c34" /><Relationship Type="http://schemas.openxmlformats.org/officeDocument/2006/relationships/notesMaster" Target="/ppt/notesMasters/notesMaster1.xml" Id="Rf232577606634c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fe73423d7a492f" /><Relationship Type="http://schemas.openxmlformats.org/officeDocument/2006/relationships/notesMaster" Target="/ppt/notesMasters/notesMaster1.xml" Id="R43266795750c42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a0f7b9bd884408" /><Relationship Type="http://schemas.openxmlformats.org/officeDocument/2006/relationships/notesMaster" Target="/ppt/notesMasters/notesMaster1.xml" Id="R5d6417fb9f6149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a385615aa748a7" /><Relationship Type="http://schemas.openxmlformats.org/officeDocument/2006/relationships/notesMaster" Target="/ppt/notesMasters/notesMaster1.xml" Id="R8dab5df53abe4b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8e0566b3234472" /><Relationship Type="http://schemas.openxmlformats.org/officeDocument/2006/relationships/notesMaster" Target="/ppt/notesMasters/notesMaster1.xml" Id="R10639e05b70a435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12ea2b6ee14b52" /><Relationship Type="http://schemas.openxmlformats.org/officeDocument/2006/relationships/notesMaster" Target="/ppt/notesMasters/notesMaster1.xml" Id="Rd05fc2cdbb214b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cc59a650e5645ad" /><Relationship Type="http://schemas.openxmlformats.org/officeDocument/2006/relationships/notesMaster" Target="/ppt/notesMasters/notesMaster1.xml" Id="Rb67281965d09442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45c3431683546df" /><Relationship Type="http://schemas.openxmlformats.org/officeDocument/2006/relationships/notesMaster" Target="/ppt/notesMasters/notesMaster1.xml" Id="R92ee85c57e7b438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462e152ee1144ec" /><Relationship Type="http://schemas.openxmlformats.org/officeDocument/2006/relationships/notesMaster" Target="/ppt/notesMasters/notesMaster1.xml" Id="Ra3ecb4c1be1f47c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09e8c20b33041de" /><Relationship Type="http://schemas.openxmlformats.org/officeDocument/2006/relationships/notesMaster" Target="/ppt/notesMasters/notesMaster1.xml" Id="R6dc76b7ceba744d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e4ea66f2fc84139" /><Relationship Type="http://schemas.openxmlformats.org/officeDocument/2006/relationships/notesMaster" Target="/ppt/notesMasters/notesMaster1.xml" Id="R80bbcd490d7a482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b70182d5dcf43fe" /><Relationship Type="http://schemas.openxmlformats.org/officeDocument/2006/relationships/notesMaster" Target="/ppt/notesMasters/notesMaster1.xml" Id="R0b6192c75fcb453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e071e5aaf6d49c7" /><Relationship Type="http://schemas.openxmlformats.org/officeDocument/2006/relationships/notesMaster" Target="/ppt/notesMasters/notesMaster1.xml" Id="R85ed1c564f18427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84e8ba6615148ed" /><Relationship Type="http://schemas.openxmlformats.org/officeDocument/2006/relationships/notesMaster" Target="/ppt/notesMasters/notesMaster1.xml" Id="R561a5241b3324e6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150a43d09f34773" /><Relationship Type="http://schemas.openxmlformats.org/officeDocument/2006/relationships/notesMaster" Target="/ppt/notesMasters/notesMaster1.xml" Id="R39323a21ba844eb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2316dd2c28b4f2c" /><Relationship Type="http://schemas.openxmlformats.org/officeDocument/2006/relationships/notesMaster" Target="/ppt/notesMasters/notesMaster1.xml" Id="Rd11aaf988b9a462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b33a66fd2eb4d64" /><Relationship Type="http://schemas.openxmlformats.org/officeDocument/2006/relationships/notesMaster" Target="/ppt/notesMasters/notesMaster1.xml" Id="R57332ea463654f5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9f86704604844e4" /><Relationship Type="http://schemas.openxmlformats.org/officeDocument/2006/relationships/notesMaster" Target="/ppt/notesMasters/notesMaster1.xml" Id="Rb9f151161b684dd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49b024633dc493d" /><Relationship Type="http://schemas.openxmlformats.org/officeDocument/2006/relationships/notesMaster" Target="/ppt/notesMasters/notesMaster1.xml" Id="R8112f2d4af444f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單元接續前四份進實驗室準備及第05–06份理論。第6週集中模型與控制變因，第7週集中可靠度、重現條件及實驗設計。學習目標是能判斷證據強弱與提出下一步，不要求初學者從一條I–V辨認唯一微觀機制。所有實際測試均須依實驗室SOP及受訓授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et al. 2008｜TiO_2 界面與缺陷的原始研究</a:t>
            </a:r>
          </a:p>
          <a:p xmlns:a="http://schemas.openxmlformats.org/drawingml/2006/main">
            <a:r>
              <a:t>https://www.nature.com/articles/nnano.2008.160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5.3｜實驗設計選擇</a:t>
            </a:r>
          </a:p>
          <a:p xmlns:a="http://schemas.openxmlformats.org/drawingml/2006/main">
            <a:r>
              <a:t>https://www.itl.nist.gov/div898/handbook/pri/section3/pri3.htm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如氧空缺重新分布可能改變界面能障，而低阻態與高阻態的電流限制因素不同。Yang等人的TiO_2研究支持特定元件中的缺陷與界面圖像，不能把該圖像當作每一種RRAM的結論。能描述曲線的方程，與能解釋切換原因的因果模型，需要不同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et al. 2008｜TiO_2 界面與缺陷的原始研究</a:t>
            </a:r>
          </a:p>
          <a:p xmlns:a="http://schemas.openxmlformats.org/drawingml/2006/main">
            <a:r>
              <a:t>https://www.nature.com/articles/nnano.2008.160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VCM為valence change mechanism，ECM為electrochemical metallization。這是初步候選清單，並非互斥且完備的分類。有些元件同時涉及熱、離子及電子效應。Yang等人2012年的原位TEM提供金屬細絲結構與組成證據，但TEM樣品幾何、電子束與實際元件差異仍需評估。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et al. 2008｜TiO_2 界面與缺陷的原始研究</a:t>
            </a:r>
          </a:p>
          <a:p xmlns:a="http://schemas.openxmlformats.org/drawingml/2006/main">
            <a:r>
              <a:t>https://www.nature.com/articles/nnano.2008.160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Yang et al. 2012｜導電細絲原位觀察</a:t>
            </a:r>
          </a:p>
          <a:p xmlns:a="http://schemas.openxmlformats.org/drawingml/2006/main">
            <a:r>
              <a:t>https://www.nature.com/articles/ncomms1737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符號T為絕對溫度，單位K。A是名義接觸面積，d是膜厚。電壓改變時，實際局部電場及有效通道截面也可能改變。設計控制時先問：兩個候選模型對哪個量有不同預測？再選能量測、能控制且經實驗室核准的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Völkel et al. 2023｜h-BN 傳導機制比較，作者機構典藏</a:t>
            </a:r>
          </a:p>
          <a:p xmlns:a="http://schemas.openxmlformats.org/drawingml/2006/main">
            <a:r>
              <a:t>https://juser.fz-juelich.de/record/1020664/files/Adv%20Funct%20Materials%20-%202023%20-%20V%C3%B6lkel%20-%20Resistive%20Switching%20and%20Current%20Conduction%20Mechanisms%20in%20Hexagonal%20Boron%20Nitride.pdf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5.3｜實驗設計選擇</a:t>
            </a:r>
          </a:p>
          <a:p xmlns:a="http://schemas.openxmlformats.org/drawingml/2006/main">
            <a:r>
              <a:t>https://www.itl.nist.gov/div898/handbook/pri/section3/pri3.htm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為電阻，I為電流，V膜是實際落在薄膜上的電壓。公式以電流與場的大小表示。若電子與電洞都重要，導電率需加總各種載子貢獻。低偏壓近似線性也可能來自其他模型的小訊號極限，因此斜率1只描述特定區間，不能直接宣稱金屬細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Gismatulin et al. 2021｜SiN_x 電荷傳輸原始研究</a:t>
            </a:r>
          </a:p>
          <a:p xmlns:a="http://schemas.openxmlformats.org/drawingml/2006/main">
            <a:r>
              <a:t>https://www.nature.com/articles/s41598-021-82159-7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SCLC為space-charge-limited current。ε為絕對介電常數，等於ε_0ε_r，不能把無因次ε_r直接代入SI式。公式還假設遷移率近似固定、擴散可忽略，並以實際膜壓降為準。相關SiN_x原始研究展示歐姆與受陷阱影響的SCLC組合，這不表示所有RRAM皆應採用此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Gismatulin et al. 2021｜SiN_x 電荷傳輸原始研究</a:t>
            </a:r>
          </a:p>
          <a:p xmlns:a="http://schemas.openxmlformats.org/drawingml/2006/main">
            <a:r>
              <a:t>https://www.nature.com/articles/s41598-021-82159-7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簡式為J_S=A* T^(2) exp[-(Φ_B-β_S√E)/(k_B T)]與J_PF=C E exp[-(Φ_t-β_PF√E)/(k_B T)]。A*為有效Richardson係數，C為前因子，Φ_B、Φ_t為能量單位的能障，k_B為Boltzmann常數。β_S=√(q^(3)/(4πε))，β_PF=2β_S是經典理想化結果。擬合所得ε應與獨立、適當頻率的介電資訊比較。對數式使用固定單位或參考尺度，不把帶單位量的對數當作物理不變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Simmons 1967｜Poole–Frenkel 與 Schottky 效應</a:t>
            </a:r>
          </a:p>
          <a:p xmlns:a="http://schemas.openxmlformats.org/drawingml/2006/main">
            <a:r>
              <a:t>https://doi.org/10.1103/PhysRev.155.657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N原始理論處理強場電子發射。固態薄膜套用FN型式時，必須另外檢查障壁、有效質量、供應載子及壓降的適用性。純直接或FN穿隧通常比熱發射呈現較弱的溫度依賴，但不能以「沒有明顯溫度變化」單獨證明穿隧。B會依能障與有效質量等改變，不是通用常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Fowler &amp; Nordheim 1928｜場致穿隧原始理論</a:t>
            </a:r>
          </a:p>
          <a:p xmlns:a="http://schemas.openxmlformats.org/drawingml/2006/main">
            <a:r>
              <a:t>https://doi.org/10.1098/rspa.1928.0091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Völkel et al. 2023｜h-BN 傳導機制比較，作者機構典藏</a:t>
            </a:r>
          </a:p>
          <a:p xmlns:a="http://schemas.openxmlformats.org/drawingml/2006/main">
            <a:r>
              <a:t>https://juser.fz-juelich.de/record/1020664/files/Adv%20Funct%20Materials%20-%202023%20-%20V%C3%B6lkel%20-%20Resistive%20Switching%20and%20Current%20Conduction%20Mechanisms%20in%20Hexagonal%20Boron%20Nitride.pdf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部數字為自編無因次教學數據，不對應操作設定。n是局部冪次，不是載子濃度，本頁與第5頁的n語境不同，實務建議寫n_slope避免混淆。只有兩點一定能定出直線，尚無法檢驗曲率、誤差或模型。需要更多獨立條件與殘差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Gismatulin et al. 2021｜SiN_x 電荷傳輸原始研究</a:t>
            </a:r>
          </a:p>
          <a:p xmlns:a="http://schemas.openxmlformats.org/drawingml/2006/main">
            <a:r>
              <a:t>https://www.nature.com/articles/s41598-021-82159-7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4.6.1.4｜殘差分析</a:t>
            </a:r>
          </a:p>
          <a:p xmlns:a="http://schemas.openxmlformats.org/drawingml/2006/main">
            <a:r>
              <a:t>https://www.itl.nist.gov/div898/handbook/pmd/section6/pmd614.htm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作答時間建議10分鐘。允許查第6頁公式。獨立測試需指出預測，例如理想SCLC於同膜電壓下J∝d^(-3)，而非泛稱「多量幾次」。不需提出任何設備電壓或溫度數值。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Gismatulin et al. 2021｜SiN_x 電荷傳輸原始研究</a:t>
            </a:r>
          </a:p>
          <a:p xmlns:a="http://schemas.openxmlformats.org/drawingml/2006/main">
            <a:r>
              <a:t>https://www.nature.com/articles/s41598-021-82159-7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其他有理據的答案也可接受，例如先測試量測限流或串聯電阻是否污染高偏壓區。評分重點是有寫模型適用條件，以及知道厚度系列的成分、粗糙度、缺陷與接觸可能一起變動。斜率不確定度也應從足夠資料評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Gismatulin et al. 2021｜SiN_x 電荷傳輸原始研究</a:t>
            </a:r>
          </a:p>
          <a:p xmlns:a="http://schemas.openxmlformats.org/drawingml/2006/main">
            <a:r>
              <a:t>https://www.nature.com/articles/s41598-021-82159-7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5.3｜實驗設計選擇</a:t>
            </a:r>
          </a:p>
          <a:p xmlns:a="http://schemas.openxmlformats.org/drawingml/2006/main">
            <a:r>
              <a:t>https://www.itl.nist.gov/div898/handbook/pri/section3/pri3.htm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此算例由第5–6頁方程代數推導，沒有實驗數據。歐姆I=q n μ A V膜/d。SCLC改用V膜=Ed，得到J=(9/8)εμE^(2)/d。面積弱依賴可能支持局部通道，但細絲數目、邊緣漏電與電流限流也會影響尺度關係，不能只憑面積依賴命名機制。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Gismatulin et al. 2021｜SiN_x 電荷傳輸原始研究</a:t>
            </a:r>
          </a:p>
          <a:p xmlns:a="http://schemas.openxmlformats.org/drawingml/2006/main">
            <a:r>
              <a:t>https://www.nature.com/articles/s41598-021-82159-7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Yang et al. 2012｜導電細絲原位觀察</a:t>
            </a:r>
          </a:p>
          <a:p xmlns:a="http://schemas.openxmlformats.org/drawingml/2006/main">
            <a:r>
              <a:t>https://www.nature.com/articles/ncomms1737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T以K計。單一熱活化簡式I=I_0exp[-E_a/(k_B T)]給斜率-E_a/k_B，但I_0可能含T依賴，Schottky式便包含T^(2)。因此不可未校正就把所有斜率當作單一陷阱深度。溫度為臺面溫度時也未必等於通道局部溫度。量測範圍與等待條件由核准SOP決定。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Völkel et al. 2023｜h-BN 傳導機制比較，作者機構典藏</a:t>
            </a:r>
          </a:p>
          <a:p xmlns:a="http://schemas.openxmlformats.org/drawingml/2006/main">
            <a:r>
              <a:t>https://juser.fz-juelich.de/record/1020664/files/Adv%20Funct%20Materials%20-%202023%20-%20V%C3%B6lkel%20-%20Resistive%20Switching%20and%20Current%20Conduction%20Mechanisms%20in%20Hexagonal%20Boron%20Nitride.pdf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8.1.5.1｜Arrhenius 加速模型</a:t>
            </a:r>
          </a:p>
          <a:p xmlns:a="http://schemas.openxmlformats.org/drawingml/2006/main">
            <a:r>
              <a:t>https://www.itl.nist.gov/div898/handbook/apr/section1/apr151.htm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8.4.3｜可靠度外推限制</a:t>
            </a:r>
          </a:p>
          <a:p xmlns:a="http://schemas.openxmlformats.org/drawingml/2006/main">
            <a:r>
              <a:t>https://www.itl.nist.gov/div898/handbook/apr/section4/apr43.htm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殘差為觀測值減去模型預測值。R^(2)只描述特定轉換與誤差定義下的擬合程度，無法確認因果機制。雙對數作圖使用電流大小時，需保留原本極性資訊。儀器解析度以下的點不能任意加小常數後當作可靠證據。不同模型若使用不同轉換，不宜直接比較各自R^(2)大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 e-Handbook 4.6.1.4｜殘差分析</a:t>
            </a:r>
          </a:p>
          <a:p xmlns:a="http://schemas.openxmlformats.org/drawingml/2006/main">
            <a:r>
              <a:t>https://www.itl.nist.gov/div898/handbook/pmd/section6/pmd614.htm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R^(2)是決定係數。請區分「數學擬合好」與「假設有根據」。答案至少涵蓋溫度、接觸或膜厚中的一項，並提到真實膜內電場可能未知。不得以「大部分論文都這樣寫」當作依據。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Simmons 1967｜Poole–Frenkel 與 Schottky 效應</a:t>
            </a:r>
          </a:p>
          <a:p xmlns:a="http://schemas.openxmlformats.org/drawingml/2006/main">
            <a:r>
              <a:t>https://doi.org/10.1103/PhysRev.155.657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4.6.1.4｜殘差分析</a:t>
            </a:r>
          </a:p>
          <a:p xmlns:a="http://schemas.openxmlformats.org/drawingml/2006/main">
            <a:r>
              <a:t>https://www.itl.nist.gov/div898/handbook/pmd/section6/pmd614.htm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提出膜厚控制、獨立介電量測或不同極性比較也合理，但需交代模型預測。不可為了得到漂亮參數而任意改厚度或刪點。高低頻介電回應不一定相同，應使用與能障降低模型相符的物理量。圖說也應附樣本數、狀態、量測區間與排除規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Simmons 1967｜Poole–Frenkel 與 Schottky 效應</a:t>
            </a:r>
          </a:p>
          <a:p xmlns:a="http://schemas.openxmlformats.org/drawingml/2006/main">
            <a:r>
              <a:t>https://doi.org/10.1103/PhysRev.155.657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4.6.1.4｜殘差分析</a:t>
            </a:r>
          </a:p>
          <a:p xmlns:a="http://schemas.openxmlformats.org/drawingml/2006/main">
            <a:r>
              <a:t>https://www.itl.nist.gov/div898/handbook/pmd/section6/pmd614.htm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循環數、保留時間都不是脫離條件的材料常數。讀取頻率本身可能影響元件，寫入驗證演算法也會影響看到的耐久度。長期保留外推需要多溫度資料、合理失效模型與不確定度，不能將短時間曲線畫直就宣稱多年壽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Garbin et al. 2016｜OxRAM 變異模型原始研究</a:t>
            </a:r>
          </a:p>
          <a:p xmlns:a="http://schemas.openxmlformats.org/drawingml/2006/main">
            <a:r>
              <a:t>https://doi.org/10.1016/j.sse.2015.09.004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8.4.3｜可靠度外推限制</a:t>
            </a:r>
          </a:p>
          <a:p xmlns:a="http://schemas.openxmlformats.org/drawingml/2006/main">
            <a:r>
              <a:t>https://www.itl.nist.gov/div898/handbook/apr/section4/apr43.htm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循環常有序列相關與老化，不能假設完全獨立。原始OxRAM研究以隨機陷阱網路解釋循環與元件差異，是一種可檢驗模型，而非普遍已知真相。使用CDF時，橫軸為門檻、縱軸為累積比例。若跨元件與循環混合，需清楚標示權重與統計單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Garbin et al. 2016｜OxRAM 變異模型原始研究</a:t>
            </a:r>
          </a:p>
          <a:p xmlns:a="http://schemas.openxmlformats.org/drawingml/2006/main">
            <a:r>
              <a:t>https://doi.org/10.1016/j.sse.2015.09.004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此為自編假設壽命數據，時間單位任意。右設限（right censoring，亦稱右刪失）代表只知道事件時間的下界。若只平均40與80，會忽略仍存活樣品。若把100+當作恰於100失效，也會低估其未知壽命。完整估計需記錄停止原因並檢查設限是否與失效風險相關。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 e-Handbook 8.1.3.1｜設限資料</a:t>
            </a:r>
          </a:p>
          <a:p xmlns:a="http://schemas.openxmlformats.org/drawingml/2006/main">
            <a:r>
              <a:t>https://www.itl.nist.gov/div898/handbook/apr/section1/apr131.htm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Kaplan–Meier簡式S_hat(t)=∏(1-d_i/n_i)。在每個失效時刻i，n_i是當時仍受觀察且未失效的樣品數，d_i是當時失效數。設限時只減少後續風險集，不直接讓存活曲線下降。這是概念練習，小樣本答案有很大不確定度。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 e-Handbook 8.2.1.5｜Kaplan–Meier 估計</a:t>
            </a:r>
          </a:p>
          <a:p xmlns:a="http://schemas.openxmlformats.org/drawingml/2006/main">
            <a:r>
              <a:t>https://www.itl.nist.gov/div898/handbook/apr/section2/apr215.htm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面上共有兩顆失效，但不同觀察長度使簡單的2/4無法取代Kaplan–Meier估計。若50退出是因為元件快壞了而停止量測，獨立設限假設可能失敗，以上估計會偏誤。完整平均壽命通常需要超過觀察末端的尾部資訊或額外模型，不能擅自補零或延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 e-Handbook 8.2.1.5｜Kaplan–Meier 估計</a:t>
            </a:r>
          </a:p>
          <a:p xmlns:a="http://schemas.openxmlformats.org/drawingml/2006/main">
            <a:r>
              <a:t>https://www.itl.nist.gov/div898/handbook/apr/section2/apr215.htm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此處依VIM量測術語，中文譯名可能因機構不同而異，報告可附英文repeatability與reproducibility。僅跨日而同一實驗室常屬中間精密度（intermediate precision），不宜所有重測都稱跨實驗室再現性。研究領域中的「可重現」也可能專指用同一程式重算，務必先定義語境。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BIPM JCGM VIM3 2.21｜量測重複性</a:t>
            </a:r>
          </a:p>
          <a:p xmlns:a="http://schemas.openxmlformats.org/drawingml/2006/main">
            <a:r>
              <a:t>https://jcgm.bipm.org/vim/en/2.21.html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BIPM JCGM VIM3 2.25｜量測再現性</a:t>
            </a:r>
          </a:p>
          <a:p xmlns:a="http://schemas.openxmlformats.org/drawingml/2006/main">
            <a:r>
              <a:t>https://jcgm.bipm.org/vim/en/2.25.html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TN1297 附錄D1｜量測術語</a:t>
            </a:r>
          </a:p>
          <a:p xmlns:a="http://schemas.openxmlformats.org/drawingml/2006/main">
            <a:r>
              <a:t>https://www.nist.gov/pml/nist-technical-note-1297/nist-tn-1297-appendix-d1-terminology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電阻在計算前需固定參考電阻與底數。若處理施加在整批薄膜，實驗單位可能是批次，而非同片上所有元件。這與軟體測試中同一輸入重跑很多次、卻未增加輸入多樣性的情況類似。樣本數應依先導變異、重要差異、資源與安全條件規劃，沒有通用最少顆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 e-Handbook 5.3｜實驗設計選擇</a:t>
            </a:r>
          </a:p>
          <a:p xmlns:a="http://schemas.openxmlformats.org/drawingml/2006/main">
            <a:r>
              <a:t>https://www.itl.nist.gov/div898/handbook/pri/section3/pri3.htm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5.3.3.2｜隨機區集設計</a:t>
            </a:r>
          </a:p>
          <a:p xmlns:a="http://schemas.openxmlformats.org/drawingml/2006/main">
            <a:r>
              <a:t>https://www.itl.nist.gov/div898/handbook/pri/section3/pri332.htm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原創紀錄清單，依實驗設計與量測可比較性原則制定，不是儀器操作SOP。避免覆寫原始檔，將處理後資料與原始資料分開。欄位需足以重建主張，不能只存最後一張圖。包含可識別個人或機密製程資訊時，依實驗室權限及資料治理規範處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 e-Handbook 5.3｜實驗設計選擇</a:t>
            </a:r>
          </a:p>
          <a:p xmlns:a="http://schemas.openxmlformats.org/drawingml/2006/main">
            <a:r>
              <a:t>https://www.itl.nist.gov/div898/handbook/pri/section3/pri3.htm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TN1297 附錄D1｜量測術語</a:t>
            </a:r>
          </a:p>
          <a:p xmlns:a="http://schemas.openxmlformats.org/drawingml/2006/main">
            <a:r>
              <a:t>https://www.nist.gov/pml/nist-technical-note-1297/nist-tn-1297-appendix-d1-terminology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數字是自編假設差值，單位為同一定義的log電阻分散指標。負號表示B相對A較低，並不等於已達實質改善或統計顯著。區集只能降低已納入因素的混淆，不能修復不同組成、不同厚度或不一致的量測規則。 本例將日期當作區集，製程批次才是接受A或B處理的獨立單位。一個製程批次不會同時接受兩種互斥製程條件。區集內比較是將同一日期的A批次與B批次相比。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 e-Handbook 5.3.3.2｜隨機區集設計</a:t>
            </a:r>
          </a:p>
          <a:p xmlns:a="http://schemas.openxmlformats.org/drawingml/2006/main">
            <a:r>
              <a:t>https://www.itl.nist.gov/div898/handbook/pri/section3/pri332.htm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預留20分鐘作答。只設計比較邏輯，不填入未經核准的製程氣體、功率、壓力、電壓或溫度。允許寫「具體範圍由指導者與SOP確認」。研究設計需考量可行性與樣品資源，不能透過任意增加樣本取代對主要誤差來源的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 e-Handbook 5.3｜實驗設計選擇</a:t>
            </a:r>
          </a:p>
          <a:p xmlns:a="http://schemas.openxmlformats.org/drawingml/2006/main">
            <a:r>
              <a:t>https://www.itl.nist.gov/div898/handbook/pri/section3/pri3.htm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8.1.3.1｜設限資料</a:t>
            </a:r>
          </a:p>
          <a:p xmlns:a="http://schemas.openxmlformats.org/drawingml/2006/main">
            <a:r>
              <a:t>https://www.itl.nist.gov/div898/handbook/apr/section1/apr131.htm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合格答案的一種，並非唯一設計。更完整的草案還應說明以先導資料估計樣本需求、對量測系統進行能力檢查，以及以盲化檔名減少分析偏好。若假說只談電子傳輸，卻用氧空缺移動解釋切換，需補上兩者連結的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 e-Handbook 5.3｜實驗設計選擇</a:t>
            </a:r>
          </a:p>
          <a:p xmlns:a="http://schemas.openxmlformats.org/drawingml/2006/main">
            <a:r>
              <a:t>https://www.itl.nist.gov/div898/handbook/pri/section3/pri3.htm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5.3.3.2｜隨機區集設計</a:t>
            </a:r>
          </a:p>
          <a:p xmlns:a="http://schemas.openxmlformats.org/drawingml/2006/main">
            <a:r>
              <a:t>https://www.itl.nist.gov/div898/handbook/pri/section3/pri332.htm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頭自測：給自己一張陌生I–V，先描述可直接看見的事，再列三個候選解釋，最後選一個最能區分的控制測試。若無法區分，直接說「目前證據不足」並說明缺什麼。完成本單元代表具備入門判讀架構，不代表已能獨立主持所有元件可靠度或材料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 e-Handbook 4.6.1.4｜殘差分析</a:t>
            </a:r>
          </a:p>
          <a:p xmlns:a="http://schemas.openxmlformats.org/drawingml/2006/main">
            <a:r>
              <a:t>https://www.itl.nist.gov/div898/handbook/pmd/section6/pmd614.htm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e-Handbook 8.4.3｜可靠度外推限制</a:t>
            </a:r>
          </a:p>
          <a:p xmlns:a="http://schemas.openxmlformats.org/drawingml/2006/main">
            <a:r>
              <a:t>https://www.itl.nist.gov/div898/handbook/apr/section4/apr43.htm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31a499ea748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142a76dd440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435fc6af140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dcb931e7ce46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1806ec11d40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dc221cb2d84b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B84FEE-EBEF-4BE2-ACC5-1AB88B2E6D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38" y="2274147"/>
            <a:ext cx="8553907" cy="86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259EE7-5158-4546-8D06-57168EA055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3858" y="3310890"/>
            <a:ext cx="7484669" cy="668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7EB6C3-92ED-4A90-A91F-C5DF050B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38" y="2508250"/>
            <a:ext cx="8553907" cy="10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BC8FA7-0006-4F0D-8D1C-5023180874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0E7D20-638A-43AC-A546-2BBCD56827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9489491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7C5117-C95F-4072-827E-0DAC577957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8086FE-8748-4762-B79A-9D42E2C1B0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88BB9A-F4A1-47C1-9B5C-B58F90B99B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80329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4BFE28-6D24-4643-819A-F4E6CE2B82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D4140B-E754-41D4-8A36-1705950B0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77255256094bea" /><Relationship Type="http://schemas.openxmlformats.org/officeDocument/2006/relationships/slideLayout" Target="/ppt/slideLayouts/slideLayout1.xml" Id="Raac8924143024e43" /><Relationship Type="http://schemas.openxmlformats.org/officeDocument/2006/relationships/slideLayout" Target="/ppt/slideLayouts/slideLayout2.xml" Id="R9feea9f8d8054882" /><Relationship Type="http://schemas.openxmlformats.org/officeDocument/2006/relationships/slideLayout" Target="/ppt/slideLayouts/slideLayout3.xml" Id="Rbd4816d823f84abc" /><Relationship Type="http://schemas.openxmlformats.org/officeDocument/2006/relationships/slideLayout" Target="/ppt/slideLayouts/slideLayout4.xml" Id="Rb3aaa32cb13d4685" /><Relationship Type="http://schemas.openxmlformats.org/officeDocument/2006/relationships/slideLayout" Target="/ppt/slideLayouts/slideLayout5.xml" Id="R2739e03fc0634f79" /><Relationship Type="http://schemas.openxmlformats.org/officeDocument/2006/relationships/slideLayout" Target="/ppt/slideLayouts/slideLayout6.xml" Id="R8e191015283148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c8924143024e43"/>
    <p:sldLayoutId xmlns:r="http://schemas.openxmlformats.org/officeDocument/2006/relationships" id="2147483650" r:id="R9feea9f8d8054882"/>
    <p:sldLayoutId xmlns:r="http://schemas.openxmlformats.org/officeDocument/2006/relationships" id="2147483651" r:id="Rbd4816d823f84abc"/>
    <p:sldLayoutId xmlns:r="http://schemas.openxmlformats.org/officeDocument/2006/relationships" id="2147483652" r:id="Rb3aaa32cb13d4685"/>
    <p:sldLayoutId xmlns:r="http://schemas.openxmlformats.org/officeDocument/2006/relationships" id="2147483653" r:id="R2739e03fc0634f79"/>
    <p:sldLayoutId xmlns:r="http://schemas.openxmlformats.org/officeDocument/2006/relationships" id="2147483654" r:id="R8e191015283148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03e9c8ead04ac2" /><Relationship Type="http://schemas.openxmlformats.org/officeDocument/2006/relationships/notesSlide" Target="/ppt/notesSlides/notesSlide1.xml" Id="Rfc47d40f4f0849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d822fbf1a7433a" /><Relationship Type="http://schemas.openxmlformats.org/officeDocument/2006/relationships/notesSlide" Target="/ppt/notesSlides/notesSlide2.xml" Id="Rcba23b8307eb46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53ac1ede341ca" /><Relationship Type="http://schemas.openxmlformats.org/officeDocument/2006/relationships/notesSlide" Target="/ppt/notesSlides/notesSlide3.xml" Id="R45f95c4696f145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02a6fe4bc4a0b" /><Relationship Type="http://schemas.openxmlformats.org/officeDocument/2006/relationships/notesSlide" Target="/ppt/notesSlides/notesSlide4.xml" Id="R94ba03f45abf41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6b00fcf36f4aae" /><Relationship Type="http://schemas.openxmlformats.org/officeDocument/2006/relationships/notesSlide" Target="/ppt/notesSlides/notesSlide5.xml" Id="Reef1f1eb850f42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4548623718438e" /><Relationship Type="http://schemas.openxmlformats.org/officeDocument/2006/relationships/notesSlide" Target="/ppt/notesSlides/notesSlide6.xml" Id="R1fb32b8eb95448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4d8a3ed8ac4a99" /><Relationship Type="http://schemas.openxmlformats.org/officeDocument/2006/relationships/notesSlide" Target="/ppt/notesSlides/notesSlide7.xml" Id="Rb0e621b23b0c4d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6143ec2a344502" /><Relationship Type="http://schemas.openxmlformats.org/officeDocument/2006/relationships/notesSlide" Target="/ppt/notesSlides/notesSlide8.xml" Id="R35ed9607ee234e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d59ef3384d4eaf" /><Relationship Type="http://schemas.openxmlformats.org/officeDocument/2006/relationships/notesSlide" Target="/ppt/notesSlides/notesSlide9.xml" Id="R9567280f1e7342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0c82d5e404475" /><Relationship Type="http://schemas.openxmlformats.org/officeDocument/2006/relationships/notesSlide" Target="/ppt/notesSlides/notesSlide10.xml" Id="Re4821115a12848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7f67e31289431b" /><Relationship Type="http://schemas.openxmlformats.org/officeDocument/2006/relationships/notesSlide" Target="/ppt/notesSlides/notesSlide11.xml" Id="Rffc7b9b56a5546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62b310c5a74cbf" /><Relationship Type="http://schemas.openxmlformats.org/officeDocument/2006/relationships/notesSlide" Target="/ppt/notesSlides/notesSlide12.xml" Id="R1f968d928d8c4f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0591d8ab854fa2" /><Relationship Type="http://schemas.openxmlformats.org/officeDocument/2006/relationships/notesSlide" Target="/ppt/notesSlides/notesSlide13.xml" Id="R496a2fba04d542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d6acf272ca4455" /><Relationship Type="http://schemas.openxmlformats.org/officeDocument/2006/relationships/notesSlide" Target="/ppt/notesSlides/notesSlide14.xml" Id="Rddcd93a1fb8e40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1ba113e75548d9" /><Relationship Type="http://schemas.openxmlformats.org/officeDocument/2006/relationships/notesSlide" Target="/ppt/notesSlides/notesSlide15.xml" Id="R94c9d013ff7b4e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ad826bb5444cac" /><Relationship Type="http://schemas.openxmlformats.org/officeDocument/2006/relationships/notesSlide" Target="/ppt/notesSlides/notesSlide16.xml" Id="Rda5eb730302a4f9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3d2cdf5204934" /><Relationship Type="http://schemas.openxmlformats.org/officeDocument/2006/relationships/notesSlide" Target="/ppt/notesSlides/notesSlide17.xml" Id="R31387c5b51dc457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87bbdb78ff46fc" /><Relationship Type="http://schemas.openxmlformats.org/officeDocument/2006/relationships/notesSlide" Target="/ppt/notesSlides/notesSlide18.xml" Id="R54b8de082895448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05376b43774b30" /><Relationship Type="http://schemas.openxmlformats.org/officeDocument/2006/relationships/notesSlide" Target="/ppt/notesSlides/notesSlide19.xml" Id="R93651e41044f437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3e1f30f6bb4d23" /><Relationship Type="http://schemas.openxmlformats.org/officeDocument/2006/relationships/notesSlide" Target="/ppt/notesSlides/notesSlide20.xml" Id="Rd9d749e9d1fa425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779a7751a6421c" /><Relationship Type="http://schemas.openxmlformats.org/officeDocument/2006/relationships/notesSlide" Target="/ppt/notesSlides/notesSlide21.xml" Id="Re6976f6a2827422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6babcdd304747" /><Relationship Type="http://schemas.openxmlformats.org/officeDocument/2006/relationships/notesSlide" Target="/ppt/notesSlides/notesSlide22.xml" Id="R939320291a4b411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63aee9bd304ead" /><Relationship Type="http://schemas.openxmlformats.org/officeDocument/2006/relationships/notesSlide" Target="/ppt/notesSlides/notesSlide23.xml" Id="Rfd251a63730342a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5d0992fa5a4089" /><Relationship Type="http://schemas.openxmlformats.org/officeDocument/2006/relationships/notesSlide" Target="/ppt/notesSlides/notesSlide24.xml" Id="Rc403b3f5aa01444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1b05419e284670" /><Relationship Type="http://schemas.openxmlformats.org/officeDocument/2006/relationships/notesSlide" Target="/ppt/notesSlides/notesSlide25.xml" Id="Re1626672df5443a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90e390274041a3" /><Relationship Type="http://schemas.openxmlformats.org/officeDocument/2006/relationships/notesSlide" Target="/ppt/notesSlides/notesSlide26.xml" Id="Ra98b7e777f07419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d8e2d481084aeb" /><Relationship Type="http://schemas.openxmlformats.org/officeDocument/2006/relationships/notesSlide" Target="/ppt/notesSlides/notesSlide27.xml" Id="R1f92aaa158ba4d5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0104f2d9e64e14" /><Relationship Type="http://schemas.openxmlformats.org/officeDocument/2006/relationships/notesSlide" Target="/ppt/notesSlides/notesSlide28.xml" Id="Rb33ddc5a600e4c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4851DD-8361-4CFC-9592-04DAEC25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07｜RRAM 證據與實驗判讀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2707A6F-A04D-4EA3-9052-1CE96ED5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51DFED82-A2EA-4D7A-A7B4-760E0642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核心：傳導模型的假設、可靠度與可檢驗的研究設計。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06352E53-B6B4-4418-99DD-B08AD4B4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先備：I–V、能障、缺陷、擴散及基本統計。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EDC966EA-B234-4309-BDE6-6F5F5DB2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學習產出：一頁主張與證據表、一份對照實驗草案。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6D86D91F-5CE2-4E7B-A987-12049260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本單元使用假設數據練習，沒有新量測結果或通用製程配方。</a:t>
            </a:r>
          </a:p>
        </p:txBody>
      </p:sp>
      <p:sp>
        <p:nvSpPr>
          <p:cNvPr id="7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A4CA2275-F375-42D7-AEFA-75D231BA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F1F97D9-4842-4B27-BE82-F7F2EF44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9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49543115-A68A-4A65-8EC5-9B6EB474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07-01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4C7DCA1-1799-402F-9B94-9A8EBA5B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 / 28</a:t>
            </a:r>
          </a:p>
        </p:txBody>
      </p:sp>
    </p:spTree>
    <p:extLst>
      <p:ext uri="{BB962C8B-B14F-4D97-AF65-F5344CB8AC3E}">
        <p14:creationId xmlns:p14="http://schemas.microsoft.com/office/powerpoint/2010/main" val="10284550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06F636-F16E-4DC8-8BE8-943EBE82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傳導機制與切換機制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B98B971-7FA1-44BC-914E-6E328F03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0827F9E7-2CCF-41F0-B619-105C77D9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傳導回答：在固定狀態下，載子如何通過元件？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790EDAA6-46DE-4CAB-A94A-DD2DB7B0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切換回答：哪些原子、缺陷或界面改變了狀態？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0F0D663F-ED43-4BD0-AAFB-7F71F68E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同一切換機制可在不同電壓區間呈現不同傳導方式。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F41A908-66DC-4046-8CFA-AEE3692E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同樣的I–V外形，也可能來自不同結構與量測限制。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DE52A44C-9ADB-454D-96B2-0B6E7E4C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推論需同時交代狀態、時間尺度及模型適用區間。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82231B6D-0557-4701-8A06-0DE0AE6B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2BE370F-7E17-4F6F-8188-AC8CB694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088CB589-DBB6-4AF2-A629-D45859C2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07-02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97EAF8-ECE3-45A2-A93D-7705804C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 / 28</a:t>
            </a:r>
          </a:p>
        </p:txBody>
      </p:sp>
    </p:spTree>
    <p:extLst>
      <p:ext uri="{BB962C8B-B14F-4D97-AF65-F5344CB8AC3E}">
        <p14:creationId xmlns:p14="http://schemas.microsoft.com/office/powerpoint/2010/main" val="17132928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4C9A69-0F08-43BA-9294-3BC62E0B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候選切換機制與替代解釋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834711A-0500-4517-9DAB-0DEE0D9C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D37C48EF-4D3E-4505-9AA1-43CFFD8C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VCM：價態改變與氧相關缺陷重分布，可能形成局部通道。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12502F2F-DA10-41B9-A6F2-79DCE97F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ECM：活性電極供應金屬離子，還原後形成導電路徑。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48693B37-C7A1-4FD5-9A5E-A19C9A0F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界面型：較大範圍的能障或陷阱佔據改變電流。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BFC2E0A1-BF35-4985-BAD4-EFA33F02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替代解釋：接觸漂移、寄生漏電、不可逆崩潰或量測限流。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B937BA56-4D93-4E70-ACC6-A55FD183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材料名稱或雙極性迴圈，都不足以單獨裁定上述機制。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D22ABF8-53B5-4097-BD59-61DB1D78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772DD16-49AE-40B2-8997-1EF1E097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AB2AA4A8-FABE-4C99-8CAA-7E10E41D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07-03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D105FE-C9B8-4114-9BC3-5DA80A87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3 / 28</a:t>
            </a:r>
          </a:p>
        </p:txBody>
      </p:sp>
    </p:spTree>
    <p:extLst>
      <p:ext uri="{BB962C8B-B14F-4D97-AF65-F5344CB8AC3E}">
        <p14:creationId xmlns:p14="http://schemas.microsoft.com/office/powerpoint/2010/main" val="15282324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833486-BC68-460A-A0C6-A66A9506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可區分模型的控制變因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0692E55-345B-4E49-835C-95D7C9E9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EE651C18-1116-43CE-A96D-9CE760F4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溫度T：檢查熱活化與狀態是否在量測中漂移。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8A97580D-5E24-4487-B29A-6F1C8695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面積A、厚度d：比較預測的尺度關係及實際有效區域。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43DE082B-B1F8-4AC8-892C-28C10B3D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電極與極性：測試注入界面、反應與不對稱性。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C783906D-4957-4E44-9638-2AD01236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脈衝寬度、間隔與讀取次數：分離時間、發熱與擾動。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0E5F2021-B153-4C9E-B6FA-F0C1696E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控制條件只在核准範圍內選擇，並保留參考樣品。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04E3F1A6-A16A-45D6-A8A5-25C9ADDD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A364DAD-C4A9-49DE-95FC-16495FE2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A05D2420-D3DA-4B0E-8A56-441C8E4E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07-04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2BA0EA-1579-45D9-A1BE-3B9969DB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4 / 28</a:t>
            </a:r>
          </a:p>
        </p:txBody>
      </p:sp>
    </p:spTree>
    <p:extLst>
      <p:ext uri="{BB962C8B-B14F-4D97-AF65-F5344CB8AC3E}">
        <p14:creationId xmlns:p14="http://schemas.microsoft.com/office/powerpoint/2010/main" val="19390189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CFFDFD-4355-499F-A4A0-B2C3D1E5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歐姆傳導的適用條件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424D30C8-4BF0-49F7-8483-7E790C4F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AC2E261A-81DB-4D44-B2DC-1705BCA5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均勻單載子近似：J = q n μ E，且I = JA。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0F9B1271-D76C-46FB-B976-FC1A17D4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J為電流密度，q為電荷量大小，n為自由載子濃度。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9BD0920E-342D-4D9C-91F6-8B795E0D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μ為遷移率，E為電場，假設它們不隨偏壓明顯改變。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142042CA-94D0-4272-91AA-9FB5F918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均勻膜有E ≈ V膜/d，故R ≈ d/(q n μ A)。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239FDF2B-BB84-4B25-AC07-C8E7D2A4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log I–log V斜率約1可相容於歐姆行為，仍需排除串聯電阻。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B1B3AFFB-BD98-4381-920A-92B24C14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C9D39E8-4701-435D-8C76-F8E73E70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ECC76514-BCEA-477C-A58D-DDDFB8AD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07-05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0C4F0A5-77E6-4694-B393-0FE4C7D9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5 / 28</a:t>
            </a:r>
          </a:p>
        </p:txBody>
      </p:sp>
    </p:spTree>
    <p:extLst>
      <p:ext uri="{BB962C8B-B14F-4D97-AF65-F5344CB8AC3E}">
        <p14:creationId xmlns:p14="http://schemas.microsoft.com/office/powerpoint/2010/main" val="4830713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DED56C-FA7D-48BB-BBD0-D9B38D10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空間電荷限制電流 SCLC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FD4702B-F2B4-4C10-844A-3D85ECEE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4C3C14FC-A076-49FB-83A5-9A147F3A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理想無陷阱情形：J = (9/8) ε μ V膜^(2)/d^(3)。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CD475C30-26CD-4F30-96F4-0D8BD0B0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ε = ε_0ε_r為絕對介電常數（F/m），μ為遷移率，d為膜厚。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6FB50B8C-3599-4557-AFD3-56F76718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條件包括單載子、穩態、良好注入及近似一維均勻膜。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853A4994-BC3D-48C2-B76E-0E21459F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注入電荷主導內部電場，陷阱會改變電流與冪次。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A40E367-D388-4E5B-B753-F2B9FD7B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斜率約2只是一項線索，還要檢查接觸與厚度尺度關係。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CDE7BBF6-8DC2-4016-B240-1CD1F35A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A907887-0C30-4209-BEDF-EBAABAF0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B25689C-49E0-4022-B239-4A3D7E66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07-06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4D743D-0FEB-4181-8009-62ACE7F6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6 / 28</a:t>
            </a:r>
          </a:p>
        </p:txBody>
      </p:sp>
    </p:spTree>
    <p:extLst>
      <p:ext uri="{BB962C8B-B14F-4D97-AF65-F5344CB8AC3E}">
        <p14:creationId xmlns:p14="http://schemas.microsoft.com/office/powerpoint/2010/main" val="8409484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11A56-8316-49E2-90EC-D17A5E8C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Schottky 與 Poole–Frenkel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2A86420-CCB1-4EED-97F9-3970AA77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6531D2AE-A816-4D58-9869-61A36A71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Schottky發射：電子跨越電極／材料界面的熱活化能障。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1494A17D-A35E-4906-82F6-5DB8A609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Poole–Frenkel（PF）：電場降低材料內帶電陷阱的逃逸能障。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631436F6-1704-4BBF-BDA7-98AFD538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理想圖法：ln(J/T^(2))對√E，以及ln(J/E)對√E。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5A27E81E-DE26-4D2B-A77A-2D8F0B8E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兩種圖都可能近似直線，必須比較溫度與物理參數。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C393FB99-1C31-491C-B47C-F556909D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簡化模型的PF能障降低係數為Schottky的2倍。</a:t>
            </a:r>
          </a:p>
        </p:txBody>
      </p:sp>
      <p:sp>
        <p:nvSpPr>
          <p:cNvPr id="8" name="block-0-paragraph-5">
            <a:extLst xmlns:a="http://schemas.openxmlformats.org/drawingml/2006/main">
              <a:ext uri="{FF2B5EF4-FFF2-40B4-BE49-F238E27FC236}">
                <a16:creationId xmlns:a16="http://schemas.microsoft.com/office/drawing/2014/main" id="{48DD9439-53CB-49EA-AF5F-1FE1F904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5569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補償陷阱、非均勻場及未知局部場，會破壞簡單斜率判據。</a:t>
            </a:r>
          </a:p>
        </p:txBody>
      </p:sp>
      <p:sp>
        <p:nvSpPr>
          <p:cNvPr id="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99AAAE8-EBDE-4233-9AFA-CB86DC53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A9887B71-8795-4B99-BD6B-622D7303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1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52AE6338-7588-448F-A2AB-BE99FAAA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07-07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6836AAD-80BC-4E61-8967-B8354D42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7 / 28</a:t>
            </a:r>
          </a:p>
        </p:txBody>
      </p:sp>
    </p:spTree>
    <p:extLst>
      <p:ext uri="{BB962C8B-B14F-4D97-AF65-F5344CB8AC3E}">
        <p14:creationId xmlns:p14="http://schemas.microsoft.com/office/powerpoint/2010/main" val="17394927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809CA9-3610-4A9B-832D-48B0AD90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穿隧模型的判讀邊界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17A5032-ADB4-4C2C-99AC-2FA3EB52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57D7D870-98B7-4F78-BA17-18915004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直接穿隧：載子通過薄的位能障壁，厚度依賴常很強。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BDFB3F6C-1862-4ED5-8C49-1E93061A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Fowler–Nordheim（FN）：高場下近似三角能障的穿隧。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C86F6B72-88A3-4FE5-8D9E-65A7FC25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簡化FN式：J ∝ E^(2) exp(-B/E)，B為模型相關常數。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545695C8-9160-49E0-A6D3-0CD39AE6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ln(J/E^(2))對1/E近似直線，需先確認場與能障假設。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6ED647A4-EC22-4656-B76A-E58F0165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陷阱輔助穿隧可帶有溫度依賴，不能把所有穿隧混為一類。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FCEF4577-74F9-46CB-A379-35B72712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22E9EAB-1326-4FF4-BCCF-0560ABED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9C014F50-E472-4B6C-B60D-83CF48F1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07-08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89519E-F207-4CFD-9069-33D0686E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8 / 28</a:t>
            </a:r>
          </a:p>
        </p:txBody>
      </p:sp>
    </p:spTree>
    <p:extLst>
      <p:ext uri="{BB962C8B-B14F-4D97-AF65-F5344CB8AC3E}">
        <p14:creationId xmlns:p14="http://schemas.microsoft.com/office/powerpoint/2010/main" val="10201292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8FCA20-D85C-4CB4-A9F9-DDCF9A19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算例1｜雙對數斜率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4C0E0141-CA97-484E-8155-48F02661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6DA9886C-B5B6-495C-A4A6-77086D5F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假設數據：V從1單位變2單位，I從3單位變12單位。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6543E5DF-C616-4BC7-8E00-DD711EF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步驟1：電壓比為2，電流比為4。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7A7606E5-2160-4B53-9FE4-BD83CAD4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步驟2：n = ln(12/3) / ln(2/1) = 2。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D1870E3A-FEF5-4809-BA17-80B9F8D3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步驟3：此區間符合I ∝ V^(2)的數學形狀。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8DAA70A4-E3F2-498A-861A-602CE595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步驟4：補做厚度、溫度及接觸比較，才能評估SCLC。</a:t>
            </a:r>
          </a:p>
        </p:txBody>
      </p:sp>
      <p:sp>
        <p:nvSpPr>
          <p:cNvPr id="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EA02A36-CC01-4F5B-A3A5-390213C2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4286250"/>
            <a:ext cx="36385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57889"/>
            </a:solidFill>
            <a:prstDash val="solid"/>
          </a:ln>
        </p:spPr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80C169EF-9238-44E6-92D8-B9810918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1857375"/>
            <a:ext cx="95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57889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D37C5B4-9B9E-44F7-AEE7-788A63DF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42481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9CCE4F0-4F1F-4965-9DEA-EECFEA35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36245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</a:t>
            </a:r>
          </a:p>
        </p:txBody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E3C5BA9-954B-4196-9AB4-23C5CBE8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42481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A18E389-70D3-4B35-BDEE-9060FF15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6245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1.1</a:t>
            </a:r>
          </a:p>
        </p:txBody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F5E558E7-34E2-476F-B5A1-3341E9F1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72675" y="4248150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3EC242F1-EF4B-4921-9576-19C09E84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6245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2.2</a:t>
            </a:r>
          </a:p>
        </p:txBody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23937213-2CC3-46B3-8CE8-934E5931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3071813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7D5E913A-169A-4668-900E-C5448BF5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976563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7</a:t>
            </a:r>
          </a:p>
        </p:txBody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F12766F7-FDFB-4FD0-9208-0AB72ED1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1857375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28F2DE27-9BC4-4DB2-9522-8222522B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76212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14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72F6B3A4-8996-4A3E-8B35-EA9AC51F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8630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V / 參考電壓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3FFE2FAB-FADE-4559-8343-72E75D99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3638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I / 參考電流</a:t>
            </a:r>
          </a:p>
        </p:txBody>
      </p:sp>
      <p:sp>
        <p:nvSpPr>
          <p:cNvPr id="22" name="假設 I=3V^(2)">
            <a:extLst xmlns:a="http://schemas.openxmlformats.org/drawingml/2006/main">
              <a:ext uri="{FF2B5EF4-FFF2-40B4-BE49-F238E27FC236}">
                <a16:creationId xmlns:a16="http://schemas.microsoft.com/office/drawing/2014/main" id="{92CD4382-EDCB-4932-A4E1-57309D27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1068" y="2204357"/>
            <a:ext cx="2480830" cy="1951775"/>
          </a:xfrm>
          <a:custGeom xmlns:a="http://schemas.openxmlformats.org/drawingml/2006/main">
            <a:pathLst>
              <a:path w="2480830" h="1951775">
                <a:moveTo>
                  <a:pt x="0" y="1951775"/>
                </a:moveTo>
                <a:lnTo>
                  <a:pt x="826943" y="1561420"/>
                </a:lnTo>
                <a:lnTo>
                  <a:pt x="1653886" y="910828"/>
                </a:lnTo>
                <a:lnTo>
                  <a:pt x="24808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37C80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9056313E-DD43-4FE2-B3AD-20773A9A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923925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137C80"/>
                </a:solidFill>
                <a:latin typeface="Noto Sans CJK TC"/>
                <a:ea typeface="Noto Sans CJK TC"/>
                <a:cs typeface="Noto Sans CJK TC"/>
              </a:rPr>
              <a:t>假設 I=3V^(2)</a:t>
            </a:r>
          </a:p>
        </p:txBody>
      </p:sp>
      <p:sp>
        <p:nvSpPr>
          <p:cNvPr id="24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FF693DCD-3945-46D5-A6B7-3897B985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29225"/>
            <a:ext cx="4400550" cy="199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教學假設曲線，非量測資料</a:t>
            </a:r>
          </a:p>
        </p:txBody>
      </p:sp>
      <p:sp>
        <p:nvSpPr>
          <p:cNvPr id="25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299FC73B-E281-4E74-BBB6-6FE1AC40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6" name="footer">
            <a:extLst xmlns:a="http://schemas.openxmlformats.org/drawingml/2006/main">
              <a:ext uri="{FF2B5EF4-FFF2-40B4-BE49-F238E27FC236}">
                <a16:creationId xmlns:a16="http://schemas.microsoft.com/office/drawing/2014/main" id="{F20B395E-CA48-48F7-A699-64B3C934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27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7823725E-7F87-4266-B998-3074CC1B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07-09</a:t>
            </a:r>
          </a:p>
        </p:txBody>
      </p:sp>
      <p:sp>
        <p:nvSpPr>
          <p:cNvPr id="2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F268EE0-44B4-4843-8BCE-A9B8DCD2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9 / 28</a:t>
            </a:r>
          </a:p>
        </p:txBody>
      </p:sp>
    </p:spTree>
    <p:extLst>
      <p:ext uri="{BB962C8B-B14F-4D97-AF65-F5344CB8AC3E}">
        <p14:creationId xmlns:p14="http://schemas.microsoft.com/office/powerpoint/2010/main" val="80480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DE92A6-33B2-4F80-96C5-A28B4B79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練習1｜斜率能證明什麼？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36B2A938-0A4C-49EA-8F8C-E998D793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EC3EE659-20CC-4A80-9FBA-9CF439BD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假設同一穩定狀態中，V增加3倍，I增加9倍。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61086C3B-E8C0-43EA-952F-39BE94D6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題1：計算雙對數斜率n_slope。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839522D1-7F29-422C-BC05-9F7502E0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題2：寫出一個相容模型及兩項必要假設。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37F12CB8-E06C-4E23-B77F-1B8DD091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題3：提出一項可挑戰該模型的獨立測試。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88600C06-5EED-4B78-A271-4762879B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先寫答案再打開獨立詳解，避免把「相容」寫成「已證實」。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E35B51E8-01F6-4178-A875-63FD0CBF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364AD0DC-9504-48C4-9C8D-569CE547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6F0B2B7A-ED3D-4FB4-9ED4-993F02F0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07-10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DB921F-C3B7-47D5-BDF6-2A1AAB50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10 / 28</a:t>
            </a:r>
          </a:p>
        </p:txBody>
      </p:sp>
    </p:spTree>
    <p:extLst>
      <p:ext uri="{BB962C8B-B14F-4D97-AF65-F5344CB8AC3E}">
        <p14:creationId xmlns:p14="http://schemas.microsoft.com/office/powerpoint/2010/main" val="3656305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67D1EE-27EB-4475-BE25-7B24F589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練習1｜逐步解答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68E710E-F063-4AD5-8CC8-B1CDEB6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C3B7DB9E-851C-45C4-87A0-33AA0C7C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步驟1：n_slope = ln9 / ln3 = 2。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34F77951-BA1F-4746-9E71-A3C2592F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步驟2：理想無陷阱SCLC與此冪次相容。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011F8EEE-5CEA-4295-AC15-F8F2AAA0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步驟3：先檢查良好注入、單載子及穩態等假設。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ACBE1953-79C1-4B11-A5D5-AD1EB9EA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步驟4：比較多個膜厚，檢查同V膜下的d^(-3)預測。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D2C5F34C-ED19-4FC1-B2F5-0275C586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步驟5：若接觸或膜結構同時改變，結果仍可能無法區分。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D51A09DF-223A-4E81-817A-EE982205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9E5CB4F-1F04-4BE1-BDF1-B9467552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22F75214-4881-40B7-AA7F-38EB11BA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07-11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4D9FA87-8865-46B6-81BA-EB4DE5E1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11 / 28</a:t>
            </a:r>
          </a:p>
        </p:txBody>
      </p:sp>
    </p:spTree>
    <p:extLst>
      <p:ext uri="{BB962C8B-B14F-4D97-AF65-F5344CB8AC3E}">
        <p14:creationId xmlns:p14="http://schemas.microsoft.com/office/powerpoint/2010/main" val="4182927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AE8A49-5FCA-49B5-9D1E-3DCC79CC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算例2｜面積與厚度的尺度關係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F246CAD-B88A-48B4-9BFD-0319E74B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6D67A07E-D7B2-467D-AC94-F4F90B94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假設均勻歐姆膜：A變4A、d不變，預測I變4I。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E7982769-8188-4FA9-B32F-B91CE362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若只把d變2d，在同V膜下預測I變I/2。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06CB038-556B-4121-B45A-2382C7D8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理想SCLC在同V膜下，d變2d則J變J/8。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881C043B-2E80-45C3-BE2A-38AEBD03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若維持同E，SCLC則有J ∝ 1/d，預測J變J/2。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C4641FFA-1005-4004-9BEC-C237A256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比較結果前，須說清楚固定的是電壓、電場或電流。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D00DEE4C-E552-4C40-A3BF-F7F2D4CC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38755B9-35B5-4FF3-BE44-41AD45D6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DE4D1F30-CD59-4512-8A4F-48C7B413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07-12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73A5E19-519A-414A-8A0D-B227B762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12 / 28</a:t>
            </a:r>
          </a:p>
        </p:txBody>
      </p:sp>
    </p:spTree>
    <p:extLst>
      <p:ext uri="{BB962C8B-B14F-4D97-AF65-F5344CB8AC3E}">
        <p14:creationId xmlns:p14="http://schemas.microsoft.com/office/powerpoint/2010/main" val="3614008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372F5F-21CD-404F-B9F5-A0B80EBC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溫度、脈衝與狀態控制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C6749E6-E32E-4318-99AE-30F31FB8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4BD902EE-B9C1-4C47-970F-4F75DAFD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溫度系列需維持可比較的狀態與讀取歷史。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C812ADF2-20EA-4ACA-81AD-EABF25AC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ln I對1/T的斜率，只有在前因子及機制適合時才對應活化能。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858A352-F3B8-4825-8475-2539F12B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脈衝寬度改變反應時間，也可能改變局部升溫。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B7F2FA28-A113-4C6E-B84F-F4EDA62E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記錄脈衝間隔、波形、線纜與實際端點響應。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22FA9882-EA94-4A6B-BB61-F21EB582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加速保留測試須檢查失效機制一致，避免跨機制外推。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02161AE9-D161-40BC-8BA4-6421B280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551FF35-5FA0-4CEB-A7DD-E4116962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9B66B4F0-A21F-429F-89F2-7C730A9D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07-13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07B0BD-14D4-4106-9EA1-D107C862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13 / 28</a:t>
            </a:r>
          </a:p>
        </p:txBody>
      </p:sp>
    </p:spTree>
    <p:extLst>
      <p:ext uri="{BB962C8B-B14F-4D97-AF65-F5344CB8AC3E}">
        <p14:creationId xmlns:p14="http://schemas.microsoft.com/office/powerpoint/2010/main" val="3689969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7DFF22-D385-46C7-A86F-11C8967D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線性化擬合的常見陷阱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1AD7D31-D16C-4318-9856-BCF688EE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DFF91317-FECE-4DAF-9F59-F3661E7F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狹窄區間內，多個非線性模型都可能看起來像直線。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1F8CF6C3-8A91-4391-8230-4DEA49B0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取對數會改變誤差權重，零值與負值也不能直接取log。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E5068BB4-B0C2-4A82-A3F3-F597D425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截取漂亮區段、混合掃描方向或忽略限流，會扭曲結論。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6B0427B9-D918-42CE-B47F-308F4DDE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回到原尺度檢查預測、殘差、參數單位與物理合理性。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B49F367E-F72F-4CCA-8298-913AA446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報告區間與排除規則，保留原始資料及替代模型。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697A0E5-DF4B-47C3-B265-4AE047DC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E062275-CA74-4017-B79B-7B474117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35BC930F-AF24-47B4-8A39-3EF67D85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07-14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CA2151B-262F-4ACB-A3B8-CEFBDC01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14 / 28</a:t>
            </a:r>
          </a:p>
        </p:txBody>
      </p:sp>
    </p:spTree>
    <p:extLst>
      <p:ext uri="{BB962C8B-B14F-4D97-AF65-F5344CB8AC3E}">
        <p14:creationId xmlns:p14="http://schemas.microsoft.com/office/powerpoint/2010/main" val="19693158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201E76-CE04-44F3-BFA8-616342A3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練習2｜兩條漂亮直線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4624324-7192-421B-A2EC-60D0F8FB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BC4E0153-FF40-432B-9E1B-8A599F20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假設Schottky與PF轉換圖皆有R^(2) = 0.99。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89FDF0A8-ADDD-4285-A38A-AD2F3F43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題1：能否選出唯一機制？用一句話說明。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CFBDF692-AED9-49F2-8D75-38BF3351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題2：列出兩種新證據，以及各自要檢驗的預測。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9E74BEB-80DA-457E-8BEB-FAE64402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題3：若擬合介電常數與獨立量測差很多，如何處理？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3F3CE204-C879-4C28-A658-D243DFAC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題4：寫出一個不誇大的圖說。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3924D97B-3FAA-4A86-9CEB-70A3A8F4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188DF82-8A3B-4EA4-98D4-1116F7F7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8AAA8E6B-D3AB-4663-AD0F-6C3E5FEB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07-15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D5BCEE4-D7B9-4A3E-A21D-11CEC4B1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15 / 28</a:t>
            </a:r>
          </a:p>
        </p:txBody>
      </p:sp>
    </p:spTree>
    <p:extLst>
      <p:ext uri="{BB962C8B-B14F-4D97-AF65-F5344CB8AC3E}">
        <p14:creationId xmlns:p14="http://schemas.microsoft.com/office/powerpoint/2010/main" val="15300386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863652-C4E3-4545-959B-7DFAD8CC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練習2｜逐步解答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DD0CCA8-A777-464F-AA6A-3B5879D9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2E1CFDE5-EEB5-44B4-A087-03B2D85C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步驟1：不能裁定，兩種線性化都可能描述有限區間。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04454B8E-DD3E-4B16-BAD1-7398D6F7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步驟2：比較溫度依賴及電極控制，檢查熱活化與注入特性。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9D0CE466-D743-43CF-83BF-1C56876F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步驟3：檢查場估計、串聯壓降、介電常數頻率及陷阱假設。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2314CC49-264A-47C3-B89F-35D1B914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步驟4：若仍不合理，降低模型可信度並保留替代解釋。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36497DD4-F3E3-4E7B-9FF3-8C922B44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圖說例：「此區間與兩模型皆相容，現有資料無法唯一區分。」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F43231B1-57EF-4CDE-A6CF-64BEFDAB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587C486-4A70-455C-856F-5EBE9712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C99E9707-A2AC-4ABF-8331-0372EB2E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07-16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776B729-FA7A-4BAA-998C-16462744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16 / 28</a:t>
            </a:r>
          </a:p>
        </p:txBody>
      </p:sp>
    </p:spTree>
    <p:extLst>
      <p:ext uri="{BB962C8B-B14F-4D97-AF65-F5344CB8AC3E}">
        <p14:creationId xmlns:p14="http://schemas.microsoft.com/office/powerpoint/2010/main" val="9124523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7CACAC-FB78-4DF3-A184-24915083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耐久度與資料保留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F768C02-E843-42CF-8D80-D1676553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A38A7DAA-9FB0-417D-BE24-EFC64F77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耐久度：在指定寫入與判定規則下，可維持功能的循環數。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0929A176-472F-4AAE-BB8F-C9D5093B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保留：寫入後，狀態在指定時間與環境中的穩定程度。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904A98F4-48C3-4B01-B82A-D52A0B68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先定義失效：讀取窗重疊、寫入失敗或其他應用門檻。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136F4CE6-93C3-4ED8-A768-FABF32A8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報告讀取擾動、驗證寫入、測試停止條件及失敗樣品。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316A94FC-6CF0-40CF-B6B5-0C5F6225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短時間未失效，僅支持觀察期間內的結果。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B02C5C90-DA2C-497F-B46C-BAFE0170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75F32CB-F858-4519-8C35-5CC4DD4D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AAB86126-08A5-457E-942D-CEDBD9B2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07-17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47CB15E-21A0-4FCC-B4C2-63E153A1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17 / 28</a:t>
            </a:r>
          </a:p>
        </p:txBody>
      </p:sp>
    </p:spTree>
    <p:extLst>
      <p:ext uri="{BB962C8B-B14F-4D97-AF65-F5344CB8AC3E}">
        <p14:creationId xmlns:p14="http://schemas.microsoft.com/office/powerpoint/2010/main" val="12113221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EE6A23-1BC5-4117-BFDB-FED0F09D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循環、元件與批次的分布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70E8095B-386B-4AA8-89A9-CFC43C0A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F5A105F6-2E07-4DD0-AA5E-00A39021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Cycle-to-cycle：同一元件每次切換的差異。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20492F5B-F01C-4128-B0F2-AAB5383E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Device-to-device：不同元件在可比較條件下的差異。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0FC1BFCE-2722-4966-BDC1-3EF0973E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Batch-to-batch：不同製程批次或日期的差異。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ECECACFE-04D3-4595-98AC-6EFC0DA2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一顆元件的100次循環，不能當作100顆獨立元件。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86374B57-2C5F-4A34-B698-B8FA75D4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同時呈現個體軌跡、分布與樣本階層，避免只報平均。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D6000A95-2841-46CF-8EC9-8AE13107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5710E89A-F274-4084-A327-544D1105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20723D97-1A7F-42C1-B32D-EE2A9CE2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07-18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BD46B7-466D-4BA5-BEE9-21AB7C57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18 / 28</a:t>
            </a:r>
          </a:p>
        </p:txBody>
      </p:sp>
    </p:spTree>
    <p:extLst>
      <p:ext uri="{BB962C8B-B14F-4D97-AF65-F5344CB8AC3E}">
        <p14:creationId xmlns:p14="http://schemas.microsoft.com/office/powerpoint/2010/main" val="9954067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3867B6-6436-4E97-97D8-5A893EDA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算例3｜尚未失效的樣品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6D35C90-993A-46E7-A64E-AE90FB84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6D06E307-91E3-4A73-823C-91F0F2C4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假設4顆元件：失效於40與80時間單位，另2顆到100仍正常。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D66D0D82-FEF8-43D9-AEDF-346B7FA0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記錄為40、80、100+、100+，加號表示右設限。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8D538483-8642-4333-89BD-F11803D3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100+只告訴我們壽命大於100，不能改寫成壽命等於100。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58D00755-A2AC-44BE-8409-114685C4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共同截止時，觀察到的存活比例為2/4 = 50%。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D69C9C22-2103-409A-BA4D-8AF3C833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這4顆樣品不足以精確代表整體尾端，更不能保證長期壽命。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E8A590CB-C03F-4BEA-BE19-1B28F7AB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48DBEE4-054E-4927-8EA3-24E660B0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12CC49D3-88B5-4331-8C31-BC5C129B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07-19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1774E8-7FF6-4391-AFF8-B115E5CF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19 / 28</a:t>
            </a:r>
          </a:p>
        </p:txBody>
      </p:sp>
    </p:spTree>
    <p:extLst>
      <p:ext uri="{BB962C8B-B14F-4D97-AF65-F5344CB8AC3E}">
        <p14:creationId xmlns:p14="http://schemas.microsoft.com/office/powerpoint/2010/main" val="20692006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C9822D-10A2-4A26-B4BD-19D09294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練習3｜含設限的存活估計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29421DD-C19D-40D2-8FB6-D2F0397B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D986EC05-A7E1-45F9-A292-0E1CD695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假設4顆獨立元件：20失效、50+、70失效、100+。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AA489B3D-9FA7-448B-BB8A-4FFDDEC9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假設設限與失效風險無關，請手算Kaplan–Meier估計。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96BE8EE-C629-4F70-8131-E036DF7A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題1：20失效前有幾顆仍在風險集中？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3AC3A846-F529-49EE-9526-F696DB0E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題2：50設限後，70失效前還有幾顆？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3AE83111-9DFB-47AA-A67C-3129AFF5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題3：70之後的估計存活比例是多少？能否宣稱平均壽命？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5A0BDCC7-EC50-42D8-AEFC-F9582D01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5D64583-39C4-48A3-A293-9323981A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361B5D95-4166-4777-8D7E-81370CDF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07-20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9D1D02-C844-4BD9-A204-23D47021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20 / 28</a:t>
            </a:r>
          </a:p>
        </p:txBody>
      </p:sp>
    </p:spTree>
    <p:extLst>
      <p:ext uri="{BB962C8B-B14F-4D97-AF65-F5344CB8AC3E}">
        <p14:creationId xmlns:p14="http://schemas.microsoft.com/office/powerpoint/2010/main" val="6940469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06235B-523C-4F28-A33B-120EA267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練習3｜逐步解答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0807C91-735A-4B73-95A2-3E2BCFDD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C7804A1C-71E1-49B4-B859-D669C5B4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步驟1：20之前n_1 = 4，失效1顆後S_hat = 3/4。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6E694A6C-B9AD-4157-943D-2B8C0EC2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步驟2：50時退出1顆未失效樣品，存活估計仍為3/4。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D5252285-8C9C-45B9-90AB-B4F81834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步驟3：70之前n_2 = 2，其中1顆失效。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AC50557E-F640-4637-9B85-1708F12A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步驟4：S_hat = (3/4) × (1/2) = 3/8 = 37.5%。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6BDBFBC-BB82-47E6-8259-E770A671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步驟5：100最後一顆設限，尾端未知，不能直接算完整平均壽命。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BB4B2148-5DBD-4E73-9639-EE83AC97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DB23A01-2C02-4113-A7AC-0BE40F90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ED8CF46D-E115-4906-8B6A-31E5C8A3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07-21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848FF67-E0C8-4B2F-BF4A-7451CF1A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21 / 28</a:t>
            </a:r>
          </a:p>
        </p:txBody>
      </p:sp>
    </p:spTree>
    <p:extLst>
      <p:ext uri="{BB962C8B-B14F-4D97-AF65-F5344CB8AC3E}">
        <p14:creationId xmlns:p14="http://schemas.microsoft.com/office/powerpoint/2010/main" val="974340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E494E2-FED2-451F-B668-CC44F381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重複性與再現性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E610698F-9BC9-4A56-9B36-501CDF36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AD0B86EF-B7FE-4C7C-9206-51949A7C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重複性：相同程序、操作者與系統等條件下的量測精密程度。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E2851EE2-EBBC-4565-BE86-F2484AD1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再現性：明確改變實驗室、操作者或系統等條件後的精密程度。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027B52DE-5BF3-41AC-AEBE-34B97C21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同日重測接近，只回答特定重複條件下的問題。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9322B0BA-FB7E-4A9F-B5E7-2D1B06DE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跨日、跨人或跨設備的比較，應逐項列出改變的條件。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9B79DCA9-84E8-4A35-86BB-23EB2C10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精密、準確與不確定度有不同意義，報告時附定量指標。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F86384CC-B454-4B7B-A39E-2ED50398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7032036-5B3B-4C54-870D-897684D8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3FCC1F88-F8B6-4EFE-9B21-80FFD9F2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07-22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A72AD25-645A-491F-8F45-0247FE55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22 / 28</a:t>
            </a:r>
          </a:p>
        </p:txBody>
      </p:sp>
    </p:spTree>
    <p:extLst>
      <p:ext uri="{BB962C8B-B14F-4D97-AF65-F5344CB8AC3E}">
        <p14:creationId xmlns:p14="http://schemas.microsoft.com/office/powerpoint/2010/main" val="8268938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26461C-A825-45CE-997A-01759019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假說、對照與獨立實驗單位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29D52B54-D2C8-4545-863C-C3904A1C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9290972D-9A20-4830-AF13-8CBA5E0D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假說範例：某製程差異改變缺陷分布，進而改變切換變異。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8394449E-F477-49BB-9175-2F77FCB9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預先指定主要終點，例如元件間log電阻的分散程度。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FF38E0C2-75A0-437B-BFB9-83FC8D0C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設置參考組，保持膜厚、電極與量測流程可比較。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708D3742-1060-46C0-A59F-F2EB9128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若製程以整批施加，批次才是獨立單位，片上元件屬巢狀樣本。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CB45BC6C-AE37-41CE-AD61-3484F4FB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以日期作區集，各日期安排不同條件的獨立製程批次。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C73801B4-998A-4EE3-B866-66AE16D0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6165D34-79D8-4467-9C79-1483229B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CC2E08A1-4F48-40F1-B2DD-78C81D13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07-23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979BE35-153F-4194-A957-6556F311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23 / 28</a:t>
            </a:r>
          </a:p>
        </p:txBody>
      </p:sp>
    </p:spTree>
    <p:extLst>
      <p:ext uri="{BB962C8B-B14F-4D97-AF65-F5344CB8AC3E}">
        <p14:creationId xmlns:p14="http://schemas.microsoft.com/office/powerpoint/2010/main" val="210349915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225BCE-93FF-49A7-9267-A84018AF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可追溯的實驗紀錄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AC61D82-270C-487B-B916-B1DD554F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C284B33C-D357-47D9-B3CC-330CCA90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樣品：批次、基板位置、層結構、膜厚及製程紀錄ID。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B0C2CE56-C5D6-4A5E-96A8-BD076E42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量測：接線、儀器ID、量程、限流、掃描方向與時間戳。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3BBA506E-BE96-48A2-92AD-B1415D15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歷史：形成、寫入、讀取、等待及已累積循環數。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6120CEFA-CBB1-42FC-93E6-19F6F3A1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分析：原始檔、單位、程式版本、篩選規則及參數不確定度。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0D7E6E18-562B-473E-BD02-7A9A6551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異常：接觸失敗、停止原因與未成功元件都要保留。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920891FA-A4E1-4347-ABE5-B8DABF0E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841CB80-5DCB-44B0-8C15-F4A99E4E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7BC5302-EA46-4420-95D8-BD783AB0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07-24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7CC2F41-C51C-49D4-904F-BB9C8E85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24 / 28</a:t>
            </a:r>
          </a:p>
        </p:txBody>
      </p:sp>
    </p:spTree>
    <p:extLst>
      <p:ext uri="{BB962C8B-B14F-4D97-AF65-F5344CB8AC3E}">
        <p14:creationId xmlns:p14="http://schemas.microsoft.com/office/powerpoint/2010/main" val="151380356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834FA4-5B31-4FF7-A636-F2E8C9AD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算例4｜批次混淆與區集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310D64FF-8344-4D79-BE22-A587F0C7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2EFEE5D5-B157-41DB-B2FA-ED5D2AEE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假設A條件全在週一製作，B條件全在週二製作。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E00A510E-DB27-4062-906B-67FE01E9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若B的變異較小，條件效果與日期效果無法分離。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5FE0F571-8115-49EA-BEC7-201C2280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修正：每個日期區集安排A、B獨立製程批次，再比較區集內差。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80B32AAF-ACB2-4AF7-B2DA-41367B3A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假設兩日期的差值為-0.2與-0.1，平均差為-0.15。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707B26EA-67CE-431F-905E-4A821CD5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僅兩區集仍資訊有限，不能把片上元件或循環當作製程重複。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E9A216B0-5FEA-47DD-9443-BBD319A5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D96EA3E-BC9D-492C-B2C7-5E2295DA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CDF80271-64CB-4FEC-BD61-91891074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07-25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B098134-C365-4C2A-89D6-80D03B16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25 / 28</a:t>
            </a:r>
          </a:p>
        </p:txBody>
      </p:sp>
    </p:spTree>
    <p:extLst>
      <p:ext uri="{BB962C8B-B14F-4D97-AF65-F5344CB8AC3E}">
        <p14:creationId xmlns:p14="http://schemas.microsoft.com/office/powerpoint/2010/main" val="9559386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D7345E-51D6-402D-858C-65A9E22E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練習4｜一頁實驗草案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4B3DF888-1F16-4D8F-A4BA-34AD3DFC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D1DEE68D-54EC-4B9C-8F9A-1DA40FE3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任務：研究一個已核准製程差異是否改善RRAM變異。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1B9F2AB5-FFAB-452B-ABAD-2FF9C234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題1：寫出假說、主要終點及至少一個替代解釋。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324637D8-F7CC-4204-9504-56BC4D9C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題2：指定參考組、獨立實驗單位、區集與順序規則。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7813E0B8-B3E1-49FA-8295-C5B917C7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題3：列出必存紀錄及失敗／設限處理方式。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BEBB961E-4802-4826-AAE9-CCBD7085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題4：提出會使你修正原假說的觀察結果。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C99F4009-80F4-425B-BFA5-0CE0BEBC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BDF0C061-1FCF-4CFF-9043-950C5D53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256CBB03-EB5F-43DC-AD9C-E5BF65B8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07-26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283DEA-0781-4E32-9BC4-4AA5847A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26 / 28</a:t>
            </a:r>
          </a:p>
        </p:txBody>
      </p:sp>
    </p:spTree>
    <p:extLst>
      <p:ext uri="{BB962C8B-B14F-4D97-AF65-F5344CB8AC3E}">
        <p14:creationId xmlns:p14="http://schemas.microsoft.com/office/powerpoint/2010/main" val="144719780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2094BB-F5FE-44B4-A164-4A9098E7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練習4｜逐步解答示例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3A06185-F2A5-49DE-9A44-C42BF5AB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2A8ECAE3-002D-467F-B337-737F647B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步驟1：假說為缺陷分布改變，主要終點為元件間分散程度。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79E7FC8A-9845-4968-9858-9E5BE8FA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步驟2：替代解釋為膜厚或接觸差異，安排獨立表徵。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889CFBB-5086-447F-975C-84115D27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步驟3：日期內安排參考與處理批次，元件保留巢狀階層。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9AD5996C-4335-4412-BA3A-2A618EB1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步驟4：預定排除、停止與設限規則，保存全部原始檔。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A77235A3-DF07-497E-A791-63F8786F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步驟5：若效果只出現在單一批次，降低因果主張並查批次差異。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56853C66-81A7-4F2D-99E5-F9E23600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90CD620-276E-4651-B1C4-D75DFD4E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E4C6C7CB-E832-45E1-9FD9-88650565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07-27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EEDC31-3338-4EDD-AB56-6EB57D7F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27 / 28</a:t>
            </a:r>
          </a:p>
        </p:txBody>
      </p:sp>
    </p:spTree>
    <p:extLst>
      <p:ext uri="{BB962C8B-B14F-4D97-AF65-F5344CB8AC3E}">
        <p14:creationId xmlns:p14="http://schemas.microsoft.com/office/powerpoint/2010/main" val="122687163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1B9652-2C16-48B9-B9B6-463F9F33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第6–7週的完成標準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C9256EB-260B-44CC-B8D1-CB6274AE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4A698FCE-AC56-47D6-BC7D-85BBDE09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能寫出每個候選模型的假設與一項反證條件。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B412CC95-E240-484E-9F42-082EC92B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能分開傳導、切換、儀器效應與材料表徵的證據。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DD271243-8B1E-4483-A172-C5C140E3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能辨識樣本階層、右設限與長期外推的限制。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FC2C59F8-B194-4B5A-9A9F-9EED2D1F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能以原始資料和分析版本重建一張圖及其結論。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90F78CF1-56E5-4229-84E1-153F227A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下一份將把這些能力用於材料全貌、論文閱讀與面試。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78DD197F-C724-47D9-89A7-14BF1EF6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14784665-9D0E-4EE0-84EC-FC00F804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第6–7週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66BBEC30-4B8B-46D7-A14C-A0DDD4AC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07-28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8A6640-A74B-4D4E-A956-96F6615F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28 / 28</a:t>
            </a:r>
          </a:p>
        </p:txBody>
      </p:sp>
    </p:spTree>
    <p:extLst>
      <p:ext uri="{BB962C8B-B14F-4D97-AF65-F5344CB8AC3E}">
        <p14:creationId xmlns:p14="http://schemas.microsoft.com/office/powerpoint/2010/main" val="1822933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2026-10-29T04:46:18.6280000Z</dcterms:created>
  <dcterms:modified xsi:type="dcterms:W3CDTF">2026-10-29T04:46:18.6280000Z</dcterms:modified>
</coreProperties>
</file>