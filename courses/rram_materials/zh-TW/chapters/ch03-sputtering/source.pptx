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eb07d94144f1a" /><Relationship Type="http://schemas.openxmlformats.org/officeDocument/2006/relationships/extended-properties" Target="/docProps/app.xml" Id="Re11bf9fe77d844e8" /><Relationship Type="http://schemas.openxmlformats.org/officeDocument/2006/relationships/officeDocument" Target="/ppt/presentation.xml" Id="R9e621759cd96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55e3e25ee4b52"/>
  </p:sldMasterIdLst>
  <p:notesMasterIdLst>
    <p:notesMasterId xmlns:r="http://schemas.openxmlformats.org/officeDocument/2006/relationships" r:id="R31157a5834964712"/>
  </p:notesMasterIdLst>
  <p:sldIdLst>
    <p:sldId xmlns:r="http://schemas.openxmlformats.org/officeDocument/2006/relationships" id="256" r:id="R199fae00f82b4774"/>
    <p:sldId xmlns:r="http://schemas.openxmlformats.org/officeDocument/2006/relationships" id="257" r:id="Rb09adf3ddd3b490c"/>
    <p:sldId xmlns:r="http://schemas.openxmlformats.org/officeDocument/2006/relationships" id="258" r:id="R1f2bb9f71025456c"/>
    <p:sldId xmlns:r="http://schemas.openxmlformats.org/officeDocument/2006/relationships" id="259" r:id="R5630409b5e914fe4"/>
    <p:sldId xmlns:r="http://schemas.openxmlformats.org/officeDocument/2006/relationships" id="260" r:id="R55bab77bf98b4ebe"/>
    <p:sldId xmlns:r="http://schemas.openxmlformats.org/officeDocument/2006/relationships" id="261" r:id="R4230f4975fef43ca"/>
    <p:sldId xmlns:r="http://schemas.openxmlformats.org/officeDocument/2006/relationships" id="262" r:id="R74c7e7f2dfb64fa8"/>
    <p:sldId xmlns:r="http://schemas.openxmlformats.org/officeDocument/2006/relationships" id="263" r:id="R1c2a234656bf4e15"/>
    <p:sldId xmlns:r="http://schemas.openxmlformats.org/officeDocument/2006/relationships" id="264" r:id="Rd38733fd403f4316"/>
    <p:sldId xmlns:r="http://schemas.openxmlformats.org/officeDocument/2006/relationships" id="265" r:id="R0adaf7a5108c4996"/>
    <p:sldId xmlns:r="http://schemas.openxmlformats.org/officeDocument/2006/relationships" id="266" r:id="R3e5af01764074850"/>
    <p:sldId xmlns:r="http://schemas.openxmlformats.org/officeDocument/2006/relationships" id="267" r:id="R34dd66b794524d36"/>
    <p:sldId xmlns:r="http://schemas.openxmlformats.org/officeDocument/2006/relationships" id="268" r:id="Rf6cc3a6ab90f4710"/>
    <p:sldId xmlns:r="http://schemas.openxmlformats.org/officeDocument/2006/relationships" id="269" r:id="R5492f4db13c54c85"/>
    <p:sldId xmlns:r="http://schemas.openxmlformats.org/officeDocument/2006/relationships" id="270" r:id="Raad55cc535e24641"/>
    <p:sldId xmlns:r="http://schemas.openxmlformats.org/officeDocument/2006/relationships" id="271" r:id="Re07bb3501a1f4caa"/>
    <p:sldId xmlns:r="http://schemas.openxmlformats.org/officeDocument/2006/relationships" id="272" r:id="Ra7901b7300804ce2"/>
    <p:sldId xmlns:r="http://schemas.openxmlformats.org/officeDocument/2006/relationships" id="273" r:id="R78379379222b44ad"/>
    <p:sldId xmlns:r="http://schemas.openxmlformats.org/officeDocument/2006/relationships" id="274" r:id="R38fe3b39360840db"/>
    <p:sldId xmlns:r="http://schemas.openxmlformats.org/officeDocument/2006/relationships" id="275" r:id="Ra7296013b5844d77"/>
    <p:sldId xmlns:r="http://schemas.openxmlformats.org/officeDocument/2006/relationships" id="276" r:id="Rb4a2150fc3ed4daa"/>
    <p:sldId xmlns:r="http://schemas.openxmlformats.org/officeDocument/2006/relationships" id="277" r:id="R7b39652e456441e5"/>
    <p:sldId xmlns:r="http://schemas.openxmlformats.org/officeDocument/2006/relationships" id="278" r:id="Rc13b26166f0a4dd3"/>
    <p:sldId xmlns:r="http://schemas.openxmlformats.org/officeDocument/2006/relationships" id="279" r:id="R3b4f56be979a489f"/>
    <p:sldId xmlns:r="http://schemas.openxmlformats.org/officeDocument/2006/relationships" id="280" r:id="R800a8cd7e29445b3"/>
    <p:sldId xmlns:r="http://schemas.openxmlformats.org/officeDocument/2006/relationships" id="281" r:id="Rf07585ecc7204641"/>
    <p:sldId xmlns:r="http://schemas.openxmlformats.org/officeDocument/2006/relationships" id="282" r:id="Rb67b71f08106453b"/>
    <p:sldId xmlns:r="http://schemas.openxmlformats.org/officeDocument/2006/relationships" id="283" r:id="Rc0f5133989b84d03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39d5f55c914069" /><Relationship Type="http://schemas.openxmlformats.org/officeDocument/2006/relationships/slideMaster" Target="/ppt/slideMasters/slideMaster1.xml" Id="Ra5355e3e25ee4b52" /><Relationship Type="http://schemas.openxmlformats.org/officeDocument/2006/relationships/notesMaster" Target="/ppt/notesMasters/notesMaster1.xml" Id="R31157a5834964712" /><Relationship Type="http://schemas.openxmlformats.org/officeDocument/2006/relationships/presProps" Target="/ppt/presProps.xml" Id="Racaec1cd76874bd3" /><Relationship Type="http://schemas.openxmlformats.org/officeDocument/2006/relationships/tableStyles" Target="/ppt/tableStyles.xml" Id="Rd40d8f84827f42d6" /><Relationship Type="http://schemas.openxmlformats.org/officeDocument/2006/relationships/slide" Target="/ppt/slides/slide1.xml" Id="R199fae00f82b4774" /><Relationship Type="http://schemas.openxmlformats.org/officeDocument/2006/relationships/slide" Target="/ppt/slides/slide2.xml" Id="Rb09adf3ddd3b490c" /><Relationship Type="http://schemas.openxmlformats.org/officeDocument/2006/relationships/slide" Target="/ppt/slides/slide3.xml" Id="R1f2bb9f71025456c" /><Relationship Type="http://schemas.openxmlformats.org/officeDocument/2006/relationships/slide" Target="/ppt/slides/slide4.xml" Id="R5630409b5e914fe4" /><Relationship Type="http://schemas.openxmlformats.org/officeDocument/2006/relationships/slide" Target="/ppt/slides/slide5.xml" Id="R55bab77bf98b4ebe" /><Relationship Type="http://schemas.openxmlformats.org/officeDocument/2006/relationships/slide" Target="/ppt/slides/slide6.xml" Id="R4230f4975fef43ca" /><Relationship Type="http://schemas.openxmlformats.org/officeDocument/2006/relationships/slide" Target="/ppt/slides/slide7.xml" Id="R74c7e7f2dfb64fa8" /><Relationship Type="http://schemas.openxmlformats.org/officeDocument/2006/relationships/slide" Target="/ppt/slides/slide8.xml" Id="R1c2a234656bf4e15" /><Relationship Type="http://schemas.openxmlformats.org/officeDocument/2006/relationships/slide" Target="/ppt/slides/slide9.xml" Id="Rd38733fd403f4316" /><Relationship Type="http://schemas.openxmlformats.org/officeDocument/2006/relationships/slide" Target="/ppt/slides/slide10.xml" Id="R0adaf7a5108c4996" /><Relationship Type="http://schemas.openxmlformats.org/officeDocument/2006/relationships/slide" Target="/ppt/slides/slide11.xml" Id="R3e5af01764074850" /><Relationship Type="http://schemas.openxmlformats.org/officeDocument/2006/relationships/slide" Target="/ppt/slides/slide12.xml" Id="R34dd66b794524d36" /><Relationship Type="http://schemas.openxmlformats.org/officeDocument/2006/relationships/slide" Target="/ppt/slides/slide13.xml" Id="Rf6cc3a6ab90f4710" /><Relationship Type="http://schemas.openxmlformats.org/officeDocument/2006/relationships/slide" Target="/ppt/slides/slide14.xml" Id="R5492f4db13c54c85" /><Relationship Type="http://schemas.openxmlformats.org/officeDocument/2006/relationships/slide" Target="/ppt/slides/slide15.xml" Id="Raad55cc535e24641" /><Relationship Type="http://schemas.openxmlformats.org/officeDocument/2006/relationships/slide" Target="/ppt/slides/slide16.xml" Id="Re07bb3501a1f4caa" /><Relationship Type="http://schemas.openxmlformats.org/officeDocument/2006/relationships/slide" Target="/ppt/slides/slide17.xml" Id="Ra7901b7300804ce2" /><Relationship Type="http://schemas.openxmlformats.org/officeDocument/2006/relationships/slide" Target="/ppt/slides/slide18.xml" Id="R78379379222b44ad" /><Relationship Type="http://schemas.openxmlformats.org/officeDocument/2006/relationships/slide" Target="/ppt/slides/slide19.xml" Id="R38fe3b39360840db" /><Relationship Type="http://schemas.openxmlformats.org/officeDocument/2006/relationships/slide" Target="/ppt/slides/slide20.xml" Id="Ra7296013b5844d77" /><Relationship Type="http://schemas.openxmlformats.org/officeDocument/2006/relationships/slide" Target="/ppt/slides/slide21.xml" Id="Rb4a2150fc3ed4daa" /><Relationship Type="http://schemas.openxmlformats.org/officeDocument/2006/relationships/slide" Target="/ppt/slides/slide22.xml" Id="R7b39652e456441e5" /><Relationship Type="http://schemas.openxmlformats.org/officeDocument/2006/relationships/slide" Target="/ppt/slides/slide23.xml" Id="Rc13b26166f0a4dd3" /><Relationship Type="http://schemas.openxmlformats.org/officeDocument/2006/relationships/slide" Target="/ppt/slides/slide24.xml" Id="R3b4f56be979a489f" /><Relationship Type="http://schemas.openxmlformats.org/officeDocument/2006/relationships/slide" Target="/ppt/slides/slide25.xml" Id="R800a8cd7e29445b3" /><Relationship Type="http://schemas.openxmlformats.org/officeDocument/2006/relationships/slide" Target="/ppt/slides/slide26.xml" Id="Rf07585ecc7204641" /><Relationship Type="http://schemas.openxmlformats.org/officeDocument/2006/relationships/slide" Target="/ppt/slides/slide27.xml" Id="Rb67b71f08106453b" /><Relationship Type="http://schemas.openxmlformats.org/officeDocument/2006/relationships/slide" Target="/ppt/slides/slide28.xml" Id="Rc0f5133989b84d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febbf2e845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52b017da343c1" /><Relationship Type="http://schemas.openxmlformats.org/officeDocument/2006/relationships/notesMaster" Target="/ppt/notesMasters/notesMaster1.xml" Id="R5d9668116dce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8ba42cf42847dd" /><Relationship Type="http://schemas.openxmlformats.org/officeDocument/2006/relationships/notesMaster" Target="/ppt/notesMasters/notesMaster1.xml" Id="Ra6585600a14446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f1df9fd354821" /><Relationship Type="http://schemas.openxmlformats.org/officeDocument/2006/relationships/notesMaster" Target="/ppt/notesMasters/notesMaster1.xml" Id="Rcbb39ce5b231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2be2a123a4f11" /><Relationship Type="http://schemas.openxmlformats.org/officeDocument/2006/relationships/notesMaster" Target="/ppt/notesMasters/notesMaster1.xml" Id="R52c11705973e4f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79c0ed0cad4292" /><Relationship Type="http://schemas.openxmlformats.org/officeDocument/2006/relationships/notesMaster" Target="/ppt/notesMasters/notesMaster1.xml" Id="Rd6f2f4b1a56148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dbd1431e8d4073" /><Relationship Type="http://schemas.openxmlformats.org/officeDocument/2006/relationships/notesMaster" Target="/ppt/notesMasters/notesMaster1.xml" Id="R91d90b249e4244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43664bf0e4375" /><Relationship Type="http://schemas.openxmlformats.org/officeDocument/2006/relationships/notesMaster" Target="/ppt/notesMasters/notesMaster1.xml" Id="Raaeadbcf481746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b005e2d0124e6b" /><Relationship Type="http://schemas.openxmlformats.org/officeDocument/2006/relationships/notesMaster" Target="/ppt/notesMasters/notesMaster1.xml" Id="R708a686f26334c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74e2141284f81" /><Relationship Type="http://schemas.openxmlformats.org/officeDocument/2006/relationships/notesMaster" Target="/ppt/notesMasters/notesMaster1.xml" Id="R85143ca26aec4b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98aa0d25bb4188" /><Relationship Type="http://schemas.openxmlformats.org/officeDocument/2006/relationships/notesMaster" Target="/ppt/notesMasters/notesMaster1.xml" Id="R782bccee054f47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4abe4561e4986" /><Relationship Type="http://schemas.openxmlformats.org/officeDocument/2006/relationships/notesMaster" Target="/ppt/notesMasters/notesMaster1.xml" Id="Re60b9bbf152941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3816bbcfbb4634" /><Relationship Type="http://schemas.openxmlformats.org/officeDocument/2006/relationships/notesMaster" Target="/ppt/notesMasters/notesMaster1.xml" Id="R406f5550e55c46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27f883dfe542d2" /><Relationship Type="http://schemas.openxmlformats.org/officeDocument/2006/relationships/notesMaster" Target="/ppt/notesMasters/notesMaster1.xml" Id="R3da7fb9b476d41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15e7685fe94e24" /><Relationship Type="http://schemas.openxmlformats.org/officeDocument/2006/relationships/notesMaster" Target="/ppt/notesMasters/notesMaster1.xml" Id="R5f86c8fd4dba4e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a2328ae45941b9" /><Relationship Type="http://schemas.openxmlformats.org/officeDocument/2006/relationships/notesMaster" Target="/ppt/notesMasters/notesMaster1.xml" Id="Rfd27ec5a45c147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964b8216064701" /><Relationship Type="http://schemas.openxmlformats.org/officeDocument/2006/relationships/notesMaster" Target="/ppt/notesMasters/notesMaster1.xml" Id="R3333d5a5e1344b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906a7c6e734de1" /><Relationship Type="http://schemas.openxmlformats.org/officeDocument/2006/relationships/notesMaster" Target="/ppt/notesMasters/notesMaster1.xml" Id="Rd8c2016ca57541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9105fccc234fba" /><Relationship Type="http://schemas.openxmlformats.org/officeDocument/2006/relationships/notesMaster" Target="/ppt/notesMasters/notesMaster1.xml" Id="R4ba73b652da547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1f5089644b4f07" /><Relationship Type="http://schemas.openxmlformats.org/officeDocument/2006/relationships/notesMaster" Target="/ppt/notesMasters/notesMaster1.xml" Id="Ra0d5ac83dca044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9db2904f15447c" /><Relationship Type="http://schemas.openxmlformats.org/officeDocument/2006/relationships/notesMaster" Target="/ppt/notesMasters/notesMaster1.xml" Id="R51ca334f345346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441f64c8744f97" /><Relationship Type="http://schemas.openxmlformats.org/officeDocument/2006/relationships/notesMaster" Target="/ppt/notesMasters/notesMaster1.xml" Id="Rf2ba71a1623342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b05517e15f4c58" /><Relationship Type="http://schemas.openxmlformats.org/officeDocument/2006/relationships/notesMaster" Target="/ppt/notesMasters/notesMaster1.xml" Id="R137170143a0f4c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666522814e4403" /><Relationship Type="http://schemas.openxmlformats.org/officeDocument/2006/relationships/notesMaster" Target="/ppt/notesMasters/notesMaster1.xml" Id="Rf652b3689f4440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f6cfa5a15b4fc7" /><Relationship Type="http://schemas.openxmlformats.org/officeDocument/2006/relationships/notesMaster" Target="/ppt/notesMasters/notesMaster1.xml" Id="R5cf15c1d4669413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45f2e08b5f4355" /><Relationship Type="http://schemas.openxmlformats.org/officeDocument/2006/relationships/notesMaster" Target="/ppt/notesMasters/notesMaster1.xml" Id="R62cf985af64a490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7f53fe8e0b4cb1" /><Relationship Type="http://schemas.openxmlformats.org/officeDocument/2006/relationships/notesMaster" Target="/ppt/notesMasters/notesMaster1.xml" Id="R8a44659c798b44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689f1437b64b02" /><Relationship Type="http://schemas.openxmlformats.org/officeDocument/2006/relationships/notesMaster" Target="/ppt/notesMasters/notesMaster1.xml" Id="Rf372fde62d154d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dce4dc72964d6d" /><Relationship Type="http://schemas.openxmlformats.org/officeDocument/2006/relationships/notesMaster" Target="/ppt/notesMasters/notesMaster1.xml" Id="Rcbc440cf71a147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單元把濺鍍拆成可以觀察與提問的物理環節。第一天學壓力、氣體與真空，第二天學電漿與靶材轟擊，第三天學薄膜、界面與追溯。理解原理能幫助你辨認異常，但不能替代工具別訓練。所有練習數值只用於演算，不提供未知機台的功率、壓力、氣流或操作順序。每天的實驗軌道已包含在六小時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Utah Nanofab, Training</a:t>
            </a:r>
          </a:p>
          <a:p xmlns:a="http://schemas.openxmlformats.org/drawingml/2006/main">
            <a:r>
              <a:t>https://www.nanofab.utah.edu/training/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退火後電流增加，可能涉及缺陷、結晶、電極反應或接觸改變。只看I–V無法知道其中哪一條路徑佔主導。先記錄直接觀察，再列候選原因與能區分它們的量測。圖中箭頭表示待檢驗的依賴關係，並非已證實的因果。這也是CS背景能發揮的地方：把每個資料物件連回相同樣品與製程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Berkeley Lab Molecular Foundry, integrated thin-film workflow</a:t>
            </a:r>
          </a:p>
          <a:p xmlns:a="http://schemas.openxmlformats.org/drawingml/2006/main">
            <a:r>
              <a:t>https://foundry.lbl.gov/instrumentation/angstrom-engineering-cluster-tool/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想氣體近似把粒子視為稀薄且彼此作用很弱，得到p=nkBT，其中n為每單位體積粒子數，不能與莫耳數混淆。這裡先用關係理解：固定T時p減半，n也減半。真正真空系統仍有水氣、殘留氣體、放氣與漏氣等來源，壓力低不代表腔體內完全沒有分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Vacuum System</a:t>
            </a:r>
          </a:p>
          <a:p xmlns:a="http://schemas.openxmlformats.org/drawingml/2006/main">
            <a:r>
              <a:t>https://ocw.mit.edu/courses/6-152j-micro-nano-processing-technology-fall-2005/resources/vacsci/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先獨立做題再翻頁。把m寫成10的負三次方，避免只移動小數點卻忘記單位。第三題考的是量綱，不需要背sccm與throughput的轉換係數。這一筆數字是合成的單位練習，不是推薦製程壓力。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Vacuum System</a:t>
            </a:r>
          </a:p>
          <a:p xmlns:a="http://schemas.openxmlformats.org/drawingml/2006/main">
            <a:r>
              <a:t>https://ocw.mit.edu/courses/6-152j-micro-nano-processing-technology-fall-2005/resources/vacsci/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答案一定保留等號兩側單位。sccm常用於流量控制器，是標準立方公分每分鐘。標準狀態的定義與校正氣體需查本機文件。氣流與腔體壓力之間還有泵速、流導、氣體消耗與回授控制，不能背一個通用的一對一轉換。若資料欄位只有數字而沒有單位，標成待確認，不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Vacuum System</a:t>
            </a:r>
          </a:p>
          <a:p xmlns:a="http://schemas.openxmlformats.org/drawingml/2006/main">
            <a:r>
              <a:t>https://ocw.mit.edu/courses/6-152j-micro-nano-processing-technology-fall-2005/resources/vacsci/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礎壓力反映當時真空系統的背景狀態，包含抽氣、放氣與漏氣等作用。製程壓力則是在有意導入氣體與維持放電時的狀態。低基礎壓力常有助減少非預期殘留物，但它不保證薄膜必然純淨或電性必然較好。總壓力也不等於每一種氣體的分壓，遇到化學問題時還要問氣體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Angstrom Engineering, Magnetron Sputtering</a:t>
            </a:r>
          </a:p>
          <a:p xmlns:a="http://schemas.openxmlformats.org/drawingml/2006/main">
            <a:r>
              <a:t>https://angstromengineering.com/tech/magnetron%20sputtering/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均自由徑不是每一個粒子都走相同長度。它是大量粒子路徑的平均量。用稀薄硬球氣體模型，固定溫度與碰撞直徑時λ反比於壓力。這個模型幫助比較尺度，真實濺鍍的不同粒子具有不同質量、截面與能量。不能把較長自由徑直接翻成薄膜必然最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Kurt J. Lesker, Basic Vacuum Concepts</a:t>
            </a:r>
          </a:p>
          <a:p xmlns:a="http://schemas.openxmlformats.org/drawingml/2006/main">
            <a:r>
              <a:t>https://www.lesker.com/newweb/technical_info/vacuumtech/basicvac_03_vacterms.cfm?section=concepts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反比關係得到λ增加五倍。原L/λ=10/2=5，新值10/10=1。這裡不是說每一顆粒子一定碰撞五次或一次，也沒有主張改壓就可改善RRAM。模型只是讓你知道壓力與幾何要一起看。實驗改變壓力還可能影響放電、靶材轟擊與沉積速率，因此不能把所有效果歸給自由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Kurt J. Lesker, Basic Vacuum Concepts</a:t>
            </a:r>
          </a:p>
          <a:p xmlns:a="http://schemas.openxmlformats.org/drawingml/2006/main">
            <a:r>
              <a:t>https://www.lesker.com/newweb/technical_info/vacuumtech/basicvac_03_vacterms.cfm?section=concepts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功能圖，不是閥門操作圖。不同泵與量規的適用壓力、氣體相依性及啟停條件不同。量規顯示一個數字，仍需知道它的類型、位置與有效範圍。新手只辨認標籤與功能，開閥、切換泵、調氣瓶、維修或解除互鎖均按當地正式訓練。若不知道目前狀態，先停在查證，不用嘗試操作推測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Vacuum System</a:t>
            </a:r>
          </a:p>
          <a:p xmlns:a="http://schemas.openxmlformats.org/drawingml/2006/main">
            <a:r>
              <a:t>https://ocw.mit.edu/courses/6-152j-micro-nano-processing-technology-fall-2005/resources/vacsci/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Utah Nanofab, Training</a:t>
            </a:r>
          </a:p>
          <a:p xmlns:a="http://schemas.openxmlformats.org/drawingml/2006/main">
            <a:r>
              <a:t>https://www.nanofab.utah.edu/training/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此式用有效泵速與簡化的穩態氣體收支。忽略反應與放氣時，輸入throughput等於泵移除的throughput。真實腔體有效泵速還受管路流導與控制閥影響，反應性濺鍍又會消耗反應氣體。因此同一個sccm不保證同一個working pressure。只用公式理解參數關係，不用它建立未知機台的操作值。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Vacuum System</a:t>
            </a:r>
          </a:p>
          <a:p xmlns:a="http://schemas.openxmlformats.org/drawingml/2006/main">
            <a:r>
              <a:t>https://ocw.mit.edu/courses/6-152j-micro-nano-processing-technology-fall-2005/resources/vacsci/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準中性表示足夠大尺度上正負電荷密度接近平衡，不表示每個位置完全無電場。靠近電極或表面，電子與離子的運動不同，形成鞘層與電位降。把這件事連回第一單元：帶電粒子通過電位差會改變能量。電漿顏色不能直接告訴你薄膜成分或離子能量，需要適合的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Kurt J. Lesker, Sputtering technical notes</a:t>
            </a:r>
          </a:p>
          <a:p xmlns:a="http://schemas.openxmlformats.org/drawingml/2006/main">
            <a:r>
              <a:t>https://www.lesker.com/newweb/deposition_sources/technotes_sputtering.cfm?init=skip&amp;section=tech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濺鍍主要靠轟擊造成的動量與能量轉移，不要求先把整塊靶材熔化。沉積粒子也不必全部帶電，很多濺出粒子可以是中性原子。靶材與基板都可能升溫，因此「不是熱蒸發」不代表完全沒有熱負荷。實際yield與到達基板的比例不同，幾何、碰撞與再濺鍍都會介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Kurt J. Lesker, Sputtering technical notes</a:t>
            </a:r>
          </a:p>
          <a:p xmlns:a="http://schemas.openxmlformats.org/drawingml/2006/main">
            <a:r>
              <a:t>https://www.lesker.com/newweb/deposition_sources/technotes_sputtering.cfm?init=skip&amp;section=tech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「氧化物薄膜」直接等同於「一定用RF氧化物靶」。金屬靶加反應氣體也可形成化合物，會牽涉DC或pulsed-DC等不同配置。RF降低絕緣靶連續累積電荷造成的問題，並透過電漿與電極的阻抗耦合供能。這裡只建立概念，具體頻率、功率、匹配與可用材料由設備文件與訓練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Angstrom Engineering, RF Sputtering</a:t>
            </a:r>
          </a:p>
          <a:p xmlns:a="http://schemas.openxmlformats.org/drawingml/2006/main">
            <a:r>
              <a:t>https://angstromengineering.com/tech/magnetron-sputtering/rf-sputtering/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Lesker, What is reactive sputtering?</a:t>
            </a:r>
          </a:p>
          <a:p xmlns:a="http://schemas.openxmlformats.org/drawingml/2006/main">
            <a:r>
              <a:t>https://www.lesker.com/newweb/faqs/question.cfm?id=181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射功率表示有部分電磁能量沒有按理想方式傳到負載。即使把forward減reflected作為某處淨功率估計，仍不能直接說那就是基板吸收的熱量，線路與匹配網路也可能有損耗。學習目標是辨認紀錄欄位與其意義，不是在帶電狀態自行手調匹配。遇到不穩定放電、警報或未知讀值，依本地受訓程序停止並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Angstrom Engineering, RF Sputtering</a:t>
            </a:r>
          </a:p>
          <a:p xmlns:a="http://schemas.openxmlformats.org/drawingml/2006/main">
            <a:r>
              <a:t>https://angstromengineering.com/tech/magnetron-sputtering/rf-sputtering/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帶電粒子的磁力方向與其速度及磁場方向有關。磁控設計利用電子較容易受磁場影響的特性，在靶附近維持有效放電。不要把磁鐵想成把所有中性靶原子直接吸到基板。靶材侵蝕歷史會影響幾何與製程重現性，所以靶材批號、使用狀況與更換時間是值得保留的metadat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Angstrom Engineering, Magnetron Sputtering</a:t>
            </a:r>
          </a:p>
          <a:p xmlns:a="http://schemas.openxmlformats.org/drawingml/2006/main">
            <a:r>
              <a:t>https://angstromengineering.com/tech/magnetron%20sputtering/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變數通常同時影響多條物理路徑，因此不能用「功率越大越好」「壓力越低越好」作通則。說某變數可能改變某結果，是提出假說，不是宣稱方向一定相同。真正一因子比較還需固定其他條件、辨認殘留混雜、保留批次與樣品歷史。新手先完整重現已批准baseline，優化屬下一階段而且需再次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Sputtering</a:t>
            </a:r>
          </a:p>
          <a:p xmlns:a="http://schemas.openxmlformats.org/drawingml/2006/main">
            <a:r>
              <a:t>https://ocw.mit.edu/courses/6-152j-micro-nano-processing-technology-fall-2005/resources/pvd_1/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soning是製程術語，不是毒理學判定。靶面從金屬樣狀態轉為氧化或氮化表面，會改變轟擊與電荷累積，製程可能呈現歷史相依。氣體流率、分壓與薄膜成分不能假定線性一一對應。增加氧氣可能降低某些缺氧成分，但也可能改變靶面與速率，不能直接保證RRAM更穩定。本課不提供反應氣體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Angstrom Engineering, Reactive Gas Sputtering</a:t>
            </a:r>
          </a:p>
          <a:p xmlns:a="http://schemas.openxmlformats.org/drawingml/2006/main">
            <a:r>
              <a:t>https://angstromengineering.com/tech/magnetron-sputtering/reactive-gas-sputtering/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沉積理解成到達通量與表面演化的競爭。並非每顆到達的原子都永遠停在原地，粒子可能擴散、再脫附或遭再濺鍍。島狀與連續只是概念示意，不能套用為所有材料必經同一條路徑。後續熱力學與動力學會解釋表面能及遷移障壁。此時能提出「需要看厚度、形貌與連續性」就已達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Sputtering</a:t>
            </a:r>
          </a:p>
          <a:p xmlns:a="http://schemas.openxmlformats.org/drawingml/2006/main">
            <a:r>
              <a:t>https://ocw.mit.edu/courses/6-152j-micro-nano-processing-technology-fall-2005/resources/pvd_1/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RAM需要電極注入與內部狀態改變，界面因此會影響可觀察的電流及切換。文獻中的電極工程顯示材料配置可能改變反應位置，但這不能自動證明你的樣品屬同一機制。請記錄是否破真空、等待時間與處理歷史。清潔、plasma處理或改電極也會改變樣品，必須依本地授權，不能自行把網路清洗流程拼接上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Chen et al., Advanced Materials 2022, 10.1002/adma.202105022</a:t>
            </a:r>
          </a:p>
          <a:p xmlns:a="http://schemas.openxmlformats.org/drawingml/2006/main">
            <a:r>
              <a:t>https://onlinelibrary.wiley.com/doi/full/10.1002/adma.202105022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厚度符號寫成d，避免和時間t混淆。這題固定速率近似忽略起始暫態與速率漂移。先算中心值，再處理相對不確定度。第三題請至少寫出靶材歷史、壓力或氣體、幾何或熱狀態中的兩項。所有數字是為演算設計，沒有對應任何真機允許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Yale Research, Sputtering and evaporation</a:t>
            </a:r>
          </a:p>
          <a:p xmlns:a="http://schemas.openxmlformats.org/drawingml/2006/main">
            <a:r>
              <a:t>https://research.yale.edu/cores/sputtering-and-evaporation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若r是標準不確定度10%，d也應以標準不確定度10%報告。如果10%只是上下界，就不能換名為一個標準差。真實速率隨時間變化時d=∫r(t)dt。QCM監控與基板位置還可能有tooling factor或幾何差別，需本地校正。輪廓儀、橢偏、XRR或截面方法各有模型與適用條件，不應只拿沉積時間宣稱精確厚度。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Yale Research, Sputtering and evaporation</a:t>
            </a:r>
          </a:p>
          <a:p xmlns:a="http://schemas.openxmlformats.org/drawingml/2006/main">
            <a:r>
              <a:t>https://research.yale.edu/cores/sputtering-and-evaporation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NIST, Thin Film X-ray Reflectometry</a:t>
            </a:r>
          </a:p>
          <a:p xmlns:a="http://schemas.openxmlformats.org/drawingml/2006/main">
            <a:r>
              <a:t>https://www.nist.gov/document/8520882bpdf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計算：10nm=10^-8m，1V除以10^-8m等於10^8V/m，再除100得到10^6V/cm。這是平均量。若元件串聯接觸電阻或進入compliance，命令電壓也不等於跨切換層的電壓。多層介電質可能各有不同分壓，所以任何E換算圖都要註明使用的厚度、端電壓與模型。此例不代表允許施加1V到未知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6.152J, Sputtering</a:t>
            </a:r>
          </a:p>
          <a:p xmlns:a="http://schemas.openxmlformats.org/drawingml/2006/main">
            <a:r>
              <a:t>https://ocw.mit.edu/courses/6-152j-micro-nano-processing-technology-fall-2005/resources/pvd_1/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峰值溫度可能配上不同升溫速率與停留時間，產生不同熱預算。氣氛也可能改變氧交換與化學狀態。此時先用「可能」描述，再提出可判別的表徵，不要聲稱某一退火一定增加氧空缺或一定降低缺陷。操作包含高溫、氣體與冷卻要求，完全依設備專屬訓練。後續Deck06會用自由能與Arrhenius把概念定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3.020, Thermodynamics of Materials</a:t>
            </a:r>
          </a:p>
          <a:p xmlns:a="http://schemas.openxmlformats.org/drawingml/2006/main">
            <a:r>
              <a:t>https://ocw.mit.edu/courses/3-020-thermodynamics-of-materials-spring-2021/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RR可由反射模型估計厚度、密度與界面寬度，但擬合參數有相關性與不確定度。XPS的峰形受到化學環境、污染、充電與分析假設影響，因此O1s肩峰不能獨自證明氧空缺切換。XRD沒有明顯峰也可能涉及厚度、texture與偵測極限。先問工具實際量到哪個物理訊號，再問從訊號到材料結論加了哪些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NIST, Thin Film X-ray Reflectometry</a:t>
            </a:r>
          </a:p>
          <a:p xmlns:a="http://schemas.openxmlformats.org/drawingml/2006/main">
            <a:r>
              <a:t>https://www.nist.gov/document/8520882bpdf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3.014, Materials Laboratory</a:t>
            </a:r>
          </a:p>
          <a:p xmlns:a="http://schemas.openxmlformats.org/drawingml/2006/main">
            <a:r>
              <a:t>https://ocw.mit.edu/courses/3-014-materials-laboratory-fall-2006/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把本頁轉成自己的資料字典，而不是單純複製資料夾名稱。至少記錄工具、操作者角色、日期時間、材料、基板、電極、厚度來源、氣體、壓力、電源類型、熱歷史、位置與異常。具體設定只從已批准SOP或實際run讀取，未知就保留未知。沒有資料權限時，練習用虛構ID與明標合成資料，不能把實驗室內容任意放上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Berkeley Lab Molecular Foundry, integrated thin-film workflow</a:t>
            </a:r>
          </a:p>
          <a:p xmlns:a="http://schemas.openxmlformats.org/drawingml/2006/main">
            <a:r>
              <a:t>https://foundry.lbl.gov/instrumentation/angstrom-engineering-cluster-tool/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假設A與B同時改了氧比例和退火，看到電流變化不能分別估計各因素的貢獻。即使名義recipe相同，target history與樣品位置也可能造成差異。先建立原樣SOP的baseline，再與帶領者選一個範圍小且可解釋的比較。CS能力可以用於manifest、schema驗證與一鍵重畫，但程式自動化不能取代實驗設計或擴大操作權限。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Berkeley Lab Molecular Foundry, integrated thin-film workflow</a:t>
            </a:r>
          </a:p>
          <a:p xmlns:a="http://schemas.openxmlformats.org/drawingml/2006/main">
            <a:r>
              <a:t>https://foundry.lbl.gov/instrumentation/angstrom-engineering-cluster-tool/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Utah Nanofab, Training</a:t>
            </a:r>
          </a:p>
          <a:p xmlns:a="http://schemas.openxmlformats.org/drawingml/2006/main">
            <a:r>
              <a:t>https://www.nanofab.utah.edu/training/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用本單元的traveler結構完成一頁審查。這是文件與資料題，不要求操作任何儀器。每個缺漏都寫出為什麼影響判讀。例如30nm可能是名義估計，I的比較可能沒有相同read voltage，而RF缺少工具與電源/靶材條件。對表徵方法要同時寫能力與限制，避免只列工具名字。第四題必須承認授權與安全資訊未完整。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範例答案：用XRR估計厚度/密度/界面模型參數，用XPS檢查近表面化學線索，但XRR不能直接給切換機制，XPS也不能獨自確定整個膜內導電通道。用受控read條件與接觸檢查排除量測差異。通關時應能不用講義解釋base和working pressure、RF與target的角色、厚度估計及其限制，並交完整traveler。學科答對仍不等於設備授權，未完成現場訓練就維持觀察與資料路徑。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NIST, Thin Film X-ray Reflectometry</a:t>
            </a:r>
          </a:p>
          <a:p xmlns:a="http://schemas.openxmlformats.org/drawingml/2006/main">
            <a:r>
              <a:t>https://www.nist.gov/document/8520882bpdf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3.014, Materials Laboratory</a:t>
            </a:r>
          </a:p>
          <a:p xmlns:a="http://schemas.openxmlformats.org/drawingml/2006/main">
            <a:r>
              <a:t>https://ocw.mit.edu/courses/3-014-materials-laboratory-fall-2006/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Utah Nanofab, Training</a:t>
            </a:r>
          </a:p>
          <a:p xmlns:a="http://schemas.openxmlformats.org/drawingml/2006/main">
            <a:r>
              <a:t>https://www.nanofab.utah.edu/training/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37000948a48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989a2c04e4f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94381cbe64c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26c234d1449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64d0260cf4a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a9826752e49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195787-75A6-4D88-8730-48FDE70A4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30E911-AB13-4195-9A44-61F5285C69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310DCF-0A41-42B9-A4DE-5359248C6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37927E-ACEE-461D-B896-7CDC1037D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2F9316-EB8A-4297-BC42-543CFAD41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005FCC-E31D-4733-8EC1-BB8913904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138ECA-A620-4FE4-A598-EF3F629F0F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60F1494-AF9A-410A-80EB-894A28804A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AAC68C-B4C5-4928-A5C2-30F5B346F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893C1E-7A5B-4272-A1F9-9D349506B5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c3bc1802a4ad9" /><Relationship Type="http://schemas.openxmlformats.org/officeDocument/2006/relationships/slideLayout" Target="/ppt/slideLayouts/slideLayout1.xml" Id="R4b7be1c13d304ed9" /><Relationship Type="http://schemas.openxmlformats.org/officeDocument/2006/relationships/slideLayout" Target="/ppt/slideLayouts/slideLayout2.xml" Id="R8060dad6434f4d58" /><Relationship Type="http://schemas.openxmlformats.org/officeDocument/2006/relationships/slideLayout" Target="/ppt/slideLayouts/slideLayout3.xml" Id="R2f933681cea2461c" /><Relationship Type="http://schemas.openxmlformats.org/officeDocument/2006/relationships/slideLayout" Target="/ppt/slideLayouts/slideLayout4.xml" Id="R9f566e793ef744c5" /><Relationship Type="http://schemas.openxmlformats.org/officeDocument/2006/relationships/slideLayout" Target="/ppt/slideLayouts/slideLayout5.xml" Id="R908f3a0c650241d0" /><Relationship Type="http://schemas.openxmlformats.org/officeDocument/2006/relationships/slideLayout" Target="/ppt/slideLayouts/slideLayout6.xml" Id="Rb5864d162a27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be1c13d304ed9"/>
    <p:sldLayoutId xmlns:r="http://schemas.openxmlformats.org/officeDocument/2006/relationships" id="2147483650" r:id="R8060dad6434f4d58"/>
    <p:sldLayoutId xmlns:r="http://schemas.openxmlformats.org/officeDocument/2006/relationships" id="2147483651" r:id="R2f933681cea2461c"/>
    <p:sldLayoutId xmlns:r="http://schemas.openxmlformats.org/officeDocument/2006/relationships" id="2147483652" r:id="R9f566e793ef744c5"/>
    <p:sldLayoutId xmlns:r="http://schemas.openxmlformats.org/officeDocument/2006/relationships" id="2147483653" r:id="R908f3a0c650241d0"/>
    <p:sldLayoutId xmlns:r="http://schemas.openxmlformats.org/officeDocument/2006/relationships" id="2147483654" r:id="Rb5864d162a27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d1a6b2fe14370" /><Relationship Type="http://schemas.openxmlformats.org/officeDocument/2006/relationships/notesSlide" Target="/ppt/notesSlides/notesSlide1.xml" Id="R1f3bacb57562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cf16f6cc34aca" /><Relationship Type="http://schemas.openxmlformats.org/officeDocument/2006/relationships/notesSlide" Target="/ppt/notesSlides/notesSlide2.xml" Id="R9731b615927c48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88935f5634e5a" /><Relationship Type="http://schemas.openxmlformats.org/officeDocument/2006/relationships/notesSlide" Target="/ppt/notesSlides/notesSlide3.xml" Id="R33c5c6929473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8a9a971494020" /><Relationship Type="http://schemas.openxmlformats.org/officeDocument/2006/relationships/notesSlide" Target="/ppt/notesSlides/notesSlide4.xml" Id="R4498af545d984d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ead8d65e340f1" /><Relationship Type="http://schemas.openxmlformats.org/officeDocument/2006/relationships/notesSlide" Target="/ppt/notesSlides/notesSlide5.xml" Id="R83b30031a61b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0396651ed4cc7" /><Relationship Type="http://schemas.openxmlformats.org/officeDocument/2006/relationships/notesSlide" Target="/ppt/notesSlides/notesSlide6.xml" Id="R6ec4459e7c15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54fcf1e1074b9f" /><Relationship Type="http://schemas.openxmlformats.org/officeDocument/2006/relationships/notesSlide" Target="/ppt/notesSlides/notesSlide7.xml" Id="Rf9571640202b4f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63efad90546fc" /><Relationship Type="http://schemas.openxmlformats.org/officeDocument/2006/relationships/notesSlide" Target="/ppt/notesSlides/notesSlide8.xml" Id="R37202aad2aae40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11a3448ef4fb6" /><Relationship Type="http://schemas.openxmlformats.org/officeDocument/2006/relationships/notesSlide" Target="/ppt/notesSlides/notesSlide9.xml" Id="Rdd8d6b42838d4a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ae8f3ec4847a3" /><Relationship Type="http://schemas.openxmlformats.org/officeDocument/2006/relationships/notesSlide" Target="/ppt/notesSlides/notesSlide10.xml" Id="Rfe50004f19d742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cfc351b5d45c0" /><Relationship Type="http://schemas.openxmlformats.org/officeDocument/2006/relationships/notesSlide" Target="/ppt/notesSlides/notesSlide11.xml" Id="R87718c4a3b0f42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f775fe2eb4079" /><Relationship Type="http://schemas.openxmlformats.org/officeDocument/2006/relationships/notesSlide" Target="/ppt/notesSlides/notesSlide12.xml" Id="R5820af0045324f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e4c078a9843bf" /><Relationship Type="http://schemas.openxmlformats.org/officeDocument/2006/relationships/notesSlide" Target="/ppt/notesSlides/notesSlide13.xml" Id="R6991c62e5a354e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3eeb3b1614831" /><Relationship Type="http://schemas.openxmlformats.org/officeDocument/2006/relationships/notesSlide" Target="/ppt/notesSlides/notesSlide14.xml" Id="R3742210ea199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47bea10444cfe" /><Relationship Type="http://schemas.openxmlformats.org/officeDocument/2006/relationships/notesSlide" Target="/ppt/notesSlides/notesSlide15.xml" Id="Ree698fcb5d4040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69df569584066" /><Relationship Type="http://schemas.openxmlformats.org/officeDocument/2006/relationships/notesSlide" Target="/ppt/notesSlides/notesSlide16.xml" Id="R82791afb649a4f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6bcd7d098433b" /><Relationship Type="http://schemas.openxmlformats.org/officeDocument/2006/relationships/notesSlide" Target="/ppt/notesSlides/notesSlide17.xml" Id="R39a7714717a743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6762bf00f4c17" /><Relationship Type="http://schemas.openxmlformats.org/officeDocument/2006/relationships/notesSlide" Target="/ppt/notesSlides/notesSlide18.xml" Id="R7c01e3b3eed047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fe204865640df" /><Relationship Type="http://schemas.openxmlformats.org/officeDocument/2006/relationships/notesSlide" Target="/ppt/notesSlides/notesSlide19.xml" Id="Raa5b4b7c39874e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360a0339e48c7" /><Relationship Type="http://schemas.openxmlformats.org/officeDocument/2006/relationships/notesSlide" Target="/ppt/notesSlides/notesSlide20.xml" Id="R59c32b2dbd3a4a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4b20cf99245d1" /><Relationship Type="http://schemas.openxmlformats.org/officeDocument/2006/relationships/notesSlide" Target="/ppt/notesSlides/notesSlide21.xml" Id="R82b989fac67d47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fc4e321144d3f" /><Relationship Type="http://schemas.openxmlformats.org/officeDocument/2006/relationships/notesSlide" Target="/ppt/notesSlides/notesSlide22.xml" Id="Rc1de22b0196c4b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920793cc44715" /><Relationship Type="http://schemas.openxmlformats.org/officeDocument/2006/relationships/notesSlide" Target="/ppt/notesSlides/notesSlide23.xml" Id="Rc355d96b58b44e4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3e289ee1844b1" /><Relationship Type="http://schemas.openxmlformats.org/officeDocument/2006/relationships/notesSlide" Target="/ppt/notesSlides/notesSlide24.xml" Id="Ra65a9528ff5b45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699f381944f00" /><Relationship Type="http://schemas.openxmlformats.org/officeDocument/2006/relationships/notesSlide" Target="/ppt/notesSlides/notesSlide25.xml" Id="R35cdcbee86c744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2baca13a648b7" /><Relationship Type="http://schemas.openxmlformats.org/officeDocument/2006/relationships/notesSlide" Target="/ppt/notesSlides/notesSlide26.xml" Id="R64e34b633d1b41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5461c9ff84841" /><Relationship Type="http://schemas.openxmlformats.org/officeDocument/2006/relationships/notesSlide" Target="/ppt/notesSlides/notesSlide27.xml" Id="Rfaddfe683aef4c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c8acf771c4a3c" /><Relationship Type="http://schemas.openxmlformats.org/officeDocument/2006/relationships/notesSlide" Target="/ppt/notesSlides/notesSlide28.xml" Id="R4ba8476b1080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5CE7F3-FE0B-4DB1-9764-C1D8943F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真空、電漿與濺鍍薄膜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6AC5DAE-6101-4AF9-BC89-32C4514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F067AE2-36F1-43B6-89FD-D59365D9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D8–D10：理解製程原理與紀錄。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4D5FFDD-BE00-4354-B6B7-F12315C8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起點：已學過V、I、能量與MIM結構。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E106003-E6C1-41DF-A5FA-5378F9B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終點：能解釋設備功能，提出可驗證的薄膜假說。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9B47A65-9C93-485A-B3AA-C7E25775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操作權限仍由本地訓練者與SOP決定。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9F5D6D4-913F-4C38-9320-5A66AFA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13AA912-F953-423D-BF12-4556F826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3468909-7E96-47DD-BE9F-877871D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1EB5B3-13BA-4F33-9107-621CDC5C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210430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79DE0-760C-4922-B9DA-FC65C86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製程、結構與電性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594586C-0D2C-4821-9944-D7439E1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ED3C07D-1D0D-4DBB-8322-04B4CAB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Recipe記錄外部條件。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7AE30C7-F108-49AF-B7DB-8345AB5E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薄膜具有厚度、成分、相態與界面。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FADE6F6-73E4-4D27-955C-34235E2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I–V反映材料，也受到接觸與量測影響。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C057DE1-7F10-4ADC-83AC-6AEE8916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同一電性變化可能有不同材料原因。</a:t>
            </a:r>
          </a:p>
        </p:txBody>
      </p:sp>
      <p:sp>
        <p:nvSpPr>
          <p:cNvPr id="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F0D959D-2A81-4B6B-8120-48A1024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核准製程條件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31753F2-E753-4DAD-B663-EFC7939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薄膜與界面</a:t>
            </a:r>
          </a:p>
        </p:txBody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107A71E-5DB0-414A-B53E-2C300873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5D2B93C-92AA-4342-96BC-EE02DABC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5218213-78D2-4F08-A109-B02DCC79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8D2AC1B-3CA2-41AA-838A-6D805E2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元件與接觸</a:t>
            </a:r>
          </a:p>
        </p:txBody>
      </p:sp>
      <p:sp>
        <p:nvSpPr>
          <p:cNvPr id="13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E3F7E27-46CB-4F5C-9817-75ACBAB2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EF6B329-32FA-4BB2-93A8-941FC52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EA3459B-408F-42FF-B9F9-4CE2192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82B8A4B-7DEE-43FC-A439-C6573A14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量測訊號與分析</a:t>
            </a:r>
          </a:p>
        </p:txBody>
      </p:sp>
      <p:sp>
        <p:nvSpPr>
          <p:cNvPr id="17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494FFA1-C572-41D6-BE6A-9351FBC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E151F76-8228-43A5-9372-71F51F1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DC77735-900A-4E48-98B0-F655C8B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9A1666D2-CE36-4146-A479-6D1283F8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概念因果鏈，非使用者實驗結果</a:t>
            </a:r>
          </a:p>
        </p:txBody>
      </p:sp>
      <p:sp>
        <p:nvSpPr>
          <p:cNvPr id="2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CD57659-CA4A-41A4-B677-8B0F151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D2A36A71-C263-483F-8816-2BFCEFBF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2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B851A91-066D-47DB-9F38-C3B65C1D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03-02</a:t>
            </a:r>
          </a:p>
        </p:txBody>
      </p:sp>
      <p:sp>
        <p:nvSpPr>
          <p:cNvPr id="2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7B3DFF-F56B-4F03-94A6-0300700E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383619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34D68E-4BCC-4125-870B-22007C6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氣體與壓力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51B694B-966E-47A8-8BBB-6F403141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B42D8BCF-A4B4-4B3E-85C0-0986DD23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p = n kB T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BFE2D97-6B2B-41B3-8CE5-A7BD6906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氣體由持續運動的粒子組成。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5442E01-D84E-431E-A901-DE093D2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粒子撞擊表面，傳遞動量而形成壓力。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1DFB3C63-F749-47BD-8605-4183D27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SI壓力單位Pa，1 Pa = 1 N/m^(2)。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B5364E2-D25B-444D-AC2A-5323612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固定溫度下，較低壓力通常代表較低粒子密度。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2FBC545-C21F-4AC1-9684-817311F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FF6411E-66CB-4D26-8EFE-79CD2A9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ED82480-561C-44AF-BA59-AEF5336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57C718-8D1B-4059-9353-5884F0E1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833705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1B23D0-FCB6-4155-927C-A882FC7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練習：壓力單位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AFC8399-5687-4E7C-82CA-BCCED894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5F4E17-1741-49FA-B9AD-E456255A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教學合成值，不可作為上機設定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2A93FC6-9EF2-488E-8E68-208E814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教學數值：一筆檔案記錄4.0 mTorr。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C284442-A6BF-45AC-A0F3-87E79FAD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已知1 Torr ≈ 133.322 Pa。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32A204D-08D8-4117-9B34-E94FB0B4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① 換成Torr與Pa。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3A4555D-4CDD-4944-9C32-64894822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② 若欄名誤寫Torr，會差多少倍？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110B08E-4F64-44D2-8DDF-84A127EE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③ sccm能直接當成Pa嗎？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F4DD496-E1F6-4786-89CB-62432A5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EB1B4C3-9804-4018-868A-5CA14B3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CE162A6-4047-475A-AE58-D9BD7A3D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03-04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226835-6798-43FB-9202-46B0C702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149321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3A8E35-C8F0-44FE-A005-86C483E2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解答：單位錯誤會放大一千倍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92AAE48-B1C0-45E5-B130-6A171098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7B0B790-D85D-4B3B-B029-D1100742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4.0 mTorr = 4.0×10^(-3) Torr。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43FFF69-83E6-4733-9EE6-9BAACCA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 = 4.0×10^(-3)×133.322 ≈ 0.533 Pa。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7C91B8D-3793-44B9-9F2F-6E04F85C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若把4.0 mTorr讀成4.0 Torr，誤差為1000倍。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049B2B2-0400-4591-A9CE-E5B2E78F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sccm描述標準狀態下的氣體流率。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F37BD74-3361-4390-9528-D89DD90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Pa描述壓力，兩者不能直接互換。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0B273DC-6EBF-4084-AD77-E340FA38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3C97E93-88CD-49D0-95D5-0F5DFC0F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3137FE0-A480-4B60-9855-DB9BC588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144CEC-7953-42EA-B41A-4D99E8A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1017303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376B96-5F91-4B34-B227-91058D7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基礎壓力與製程壓力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AEA3EEE-92EB-45CE-A281-74E2FA8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A150EFF-A855-4F31-AE68-96A434E3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Base pressure：導入製程氣體前的背景壓力。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E20D85E-7837-4885-9C00-A00006B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Working pressure：沉積時的氣體環境。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2274E00-71E3-4998-8C6D-F1C3A20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兩者回答不同問題，需要分欄紀錄。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A30295E-F8E5-4F87-9697-5758A03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殘留水氣與污染可能改變成分或界面。</a:t>
            </a:r>
          </a:p>
        </p:txBody>
      </p:sp>
      <p:sp>
        <p:nvSpPr>
          <p:cNvPr id="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B3C04FD-50D5-4AA1-A728-236181DE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1547813"/>
            <a:ext cx="176022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導氣前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背景氣體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DBF92E8-3F27-47EB-B5A7-B1DB8D9A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553" y="1547813"/>
            <a:ext cx="176022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製程中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工作氣體＋背景</a:t>
            </a:r>
          </a:p>
        </p:txBody>
      </p:sp>
      <p:sp>
        <p:nvSpPr>
          <p:cNvPr id="9" name="figure-label-2">
            <a:extLst xmlns:a="http://schemas.openxmlformats.org/drawingml/2006/main">
              <a:ext uri="{FF2B5EF4-FFF2-40B4-BE49-F238E27FC236}">
                <a16:creationId xmlns:a16="http://schemas.microsoft.com/office/drawing/2014/main" id="{DA110C1C-8E76-4A6D-A438-5648CB8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2747963"/>
            <a:ext cx="387248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紀錄：時間、量規、壓力、氣體、recipe版本</a:t>
            </a:r>
          </a:p>
        </p:txBody>
      </p:sp>
      <p:sp>
        <p:nvSpPr>
          <p:cNvPr id="10" name="figure-label-3">
            <a:extLst xmlns:a="http://schemas.openxmlformats.org/drawingml/2006/main">
              <a:ext uri="{FF2B5EF4-FFF2-40B4-BE49-F238E27FC236}">
                <a16:creationId xmlns:a16="http://schemas.microsoft.com/office/drawing/2014/main" id="{D255EB20-E73C-4F11-A8CD-1F65C51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3562350"/>
            <a:ext cx="3872484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同一欄混放兩種壓力，會破壞批次比較。</a:t>
            </a:r>
          </a:p>
        </p:txBody>
      </p:sp>
      <p:sp>
        <p:nvSpPr>
          <p:cNvPr id="11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AB18D28-2784-4D9B-A3C6-E7EFE8C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58B3C2C-825A-4E34-933B-8A28552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3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76E8253-C449-4D2B-98DA-2C03CF1B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03-06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C00E64-D7D1-4D94-B2A2-FA1D02A4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6753261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593B7B-4502-4CA2-9545-E09B8691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平均自由徑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33FECFC-FFF3-4A70-ADCD-99FE603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B819F822-46AD-49EF-AE80-C227107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固定T與碰撞截面時：λ ∝ 1 / p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664FE50-7981-4B40-AA36-FFC1692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Mean free path λ：粒子兩次碰撞間的平均距離。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4E752A5-9150-4571-879C-C1C90D0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低壓通常減少氣相碰撞。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7A4F570-D9A6-4C3A-9EBE-549358F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λ與靶材到基板的距離一起決定碰撞機會。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A71BE36-DE9A-451F-AE3B-182C9DC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粒子到達基板的能量與方向分布會受影響。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25D1C33-B217-4444-A825-3A2C709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04CF3F6-23BA-4BCB-BE82-A9ABD69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CB0BB31-CE5E-4D60-B01C-10E4DC6E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AD83B0-0F30-4BEB-883A-20A4A0B4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21445954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F72B57-083D-4B61-9325-061AE44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算例：平均自由程與碰撞尺度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425228F-C52C-4C01-BACD-D2A2ECA9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1C7D65-DB03-4D52-85F0-A9EA46C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比例模型與教學數值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AA904B6-B198-426C-8144-101C9AC5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原本λ = 2 cm，靶基距離L = 10 cm。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71E04E3-5E17-48ED-924A-8024055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734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教學比較：壓力降為原來1/5，其他假設不變。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0112FE8-BF4D-41BD-8901-A36D1D87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新λ = 10 cm，L/λ由5變成1。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2D4AA16-19B8-4102-8A7D-B52AA49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885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L/λ可作碰撞機會的尺度指標。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5701027-2BB2-4CEB-BC17-2993C945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461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這個比值不能取代真實粒子傳輸模擬。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2D982DF-D802-4266-BDB2-73E3A735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7CFC4CC-0952-4C1F-9322-C58C6686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5A1C489-8397-4E4D-9145-7592F35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03-08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E9EB62-BE86-426E-B054-F4ED99FD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794927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5BA42-0CE5-4AF7-B98D-891AEB73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真空系統的功能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3401591-00B4-4BD3-BDFE-B47D9D6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51628FC-5C8B-4576-80A0-B77DFDAA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Chamber提供可控制的製程空間。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83132D0-EB35-491F-AB22-F686C567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Pump移除進入抽氣路徑的氣體。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4F1CD40-BABC-4618-8B5E-5EE91D55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Gauge把物理訊號轉換為壓力讀值。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060317F-66E3-4816-B086-75DC6AAD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MFC控制氣體流量，控制閥影響有效抽氣。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450B791-1009-4DA6-A9E4-D3FC08CA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Interlock限制不安全的設備狀態。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7B5A766-3974-4903-B996-243EF76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7F62E33-6895-4DE8-BCAC-EFD84059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7C7A864-9FA0-4D34-A33D-F0455E0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03-09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036EAC-38B8-4656-8220-B49FCDE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313922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17E5B2-2844-4C5B-B46A-AA49CB9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流率與壓力的關係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9D81BCC-E819-4D46-96CF-063958A9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90335917-39E6-4091-9FD6-7317955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Q ≈ p S  （穩態簡化模型）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C009B25-E7AA-4FF0-9CB7-3BEB7FA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氣體進入、抽出，也可能與表面反應。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0772BA2-0BBE-445B-B969-BAFE3036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相同流率在不同泵速下可有不同壓力。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DB4ABF5-8677-458D-BA9C-11CCA38E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穩態簡化模型：throughput = pressure × pump speed。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347FE89-5CBA-4CC0-8B51-7F0C3B3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Q的單位可用Pa·m^(3)/s，S用m^(3)/s。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1855630-5B36-49CA-8B9D-AF8A247D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082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MFC的sccm讀值需依標準狀態換算。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E37B68C-19C1-487B-8917-3F07D592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03DC07E-F1F4-4E0F-8FAC-FD4C5A7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1EE6AB4-7BCB-48AD-9C92-22CA5B1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03-10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70E516-CF4A-4143-83DE-2981919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2238928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16DB9-AB28-448A-A2E6-1F6CB365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電漿與鞘層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F1A0457-14B2-474F-8D4F-2594C9C0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20CC1B3-08C2-428C-98D3-78857B3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Plasma含電子、離子與中性粒子。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48FF6EF-7E55-49AB-8C0E-34BDEA5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電子碰撞氣體可造成電離。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142EBC0-673F-4084-82AE-E2C79890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電漿主體常可近似準中性。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CFF1118-E569-451B-8637-DEDB0EBB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靠近表面的sheath有明顯電位降。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A4072E4-722A-46CD-BDF8-36ADBFB9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離子在鞘層中加速，影響表面轟擊。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C168619-3370-406A-9F3A-8BA521F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83" y="1333500"/>
            <a:ext cx="3872484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靶材 target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34AC8C6E-D7EE-4957-8B2D-718B650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83" y="1955006"/>
            <a:ext cx="3872484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F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鞘層：電位降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B628D6A7-FB3B-498C-9943-57E0DE4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83" y="2705100"/>
            <a:ext cx="3872484" cy="985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電漿主體</a:t>
            </a:r>
          </a:p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e^(-)、Ar^(+)、Ar等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2179D73-AE04-4504-A54C-FF071570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283" y="3990975"/>
            <a:ext cx="3872484" cy="385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基板 substrate</a:t>
            </a:r>
          </a:p>
        </p:txBody>
      </p:sp>
      <p:sp>
        <p:nvSpPr>
          <p:cNvPr id="12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B0F124CD-DF32-4075-ACAC-50C97F07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294" y="4548188"/>
            <a:ext cx="3696462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概念剖面，未按實際比例繪製</a:t>
            </a:r>
          </a:p>
        </p:txBody>
      </p:sp>
      <p:sp>
        <p:nvSpPr>
          <p:cNvPr id="13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5CD2709-991C-459B-AF79-F7E2ECE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FC70EBA-FA93-4D4B-8E04-05442CAE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5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9D8BC79-1971-457D-8A68-F485898F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03-11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DFA9FC-16E3-48A8-9FCF-F8A7C77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692578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1D680-D28B-4019-938B-7BB8B51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濺鍍的動量轉移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2790C2F-0AFF-42F8-9C28-51101CB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5C75D203-A3BB-44B6-B1D1-1D0CF4D3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Y = 濺出原子數 / 入射離子數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7132A68-0183-4727-88EA-E4622E97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正離子撞擊靶材，將能量傳給靶原子。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712406F-7931-47AA-A50E-FDE7CCD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部分靶原子離開表面，成為濺出通量。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627D143-3832-41B7-B64A-72329D5A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抵達基板的粒子參與薄膜成長。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E8990A7-4FD1-4D6C-833C-46AC19ED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Sputter yield表示每入射離子平均濺出原子數。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3360BF9-52AF-487E-8C4E-B7779817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082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Yield隨材料、離子能量與入射角改變。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9132E72-D19C-493E-87EA-66897D8F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40615E9-B59D-4458-89B6-F36A21A6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905DB62-2AD5-4077-B593-A4C0E389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210C09C-5F0F-4BA5-AB20-2190D9A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5843925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132129-406E-40FC-81FA-209BB8C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DC與RF電源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2BDF9CA-B9DF-4326-B53B-344F588D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4ED98C6-66E3-46AB-A1C6-A98615C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導電靶常可使用DC濺鍍。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0FBE6FA-1D6A-4EA9-8CC8-15A8161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絕緣靶容易累積表面電荷，RF提供另一種耦合方式。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E1733F7-8062-4267-A294-04B4320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RF系統使用交流電場維持放電。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E8C923A-3CDD-48FB-A0A1-200B73B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氧化物薄膜也可能由金屬靶反應性濺鍍製成。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7747056-27EA-4D96-9C84-B837E1F6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電源選擇需配合靶材與設備設計。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A426CA8-5581-4315-AAA9-09D83D4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13CC0AC-DE53-4983-8F30-8BF40DA2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6FD0302-C5D8-4F4B-B421-8AD029A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C2D80E-872A-4F80-A8F5-26162C3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7950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5B51A-BBC4-4535-A162-EF86128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RF匹配與功率讀值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A487EB4-C096-404B-B030-69C7FA5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4DE605B-FA3C-4369-B646-3CD8813B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RF 系統由 generator、matching network 與 plasma 負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載構成。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A3C42F4-277B-4DFE-A96E-B70D3A2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匹配網路調整電源看到的阻抗。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E991E2B-8A5C-42CD-81EC-D7098E3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83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Forward與reflected power是不同讀值。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EF51EE2-8916-4A59-BCBF-A38F23C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設定功率、耦合功率與樣品吸收能量也不同。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0815F50-1E79-41AB-86B9-8B9428BE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異常反射或警報交由合格人員處理。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2EA7468-88CC-4DB5-8BB8-EBA13A1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RF generator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F0413B1-D5A2-4B49-8948-C73C8DF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Matching network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3DAC8F0-2AB6-47DE-94DA-7DEF32F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51F6FCD-C1A4-4325-8EC3-AC23397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43F8352-6A7A-4E4D-B077-56DF1B4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4EFBFE7-099C-4E65-ACAF-4218CA7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電極與plasma負載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02CBB0F5-EC07-4BFB-810B-8120FC7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38A7AAC-5286-45ED-A914-2C224A17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234024C-458B-4E05-AEA1-6F52E3CB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7286623E-8FAF-4A46-BE2E-914B503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功率量測位置與定義需查本機文件</a:t>
            </a:r>
          </a:p>
        </p:txBody>
      </p:sp>
      <p:sp>
        <p:nvSpPr>
          <p:cNvPr id="1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5747A0D-2099-44DF-B929-5CFA02F8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B012A09D-E0F2-4D34-9534-ECF3248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2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C91E3C9-00D0-4B38-AC53-B6EECCDF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03-14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2080F1-73B3-40B8-8553-FF16A1D1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7221950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ACF9BA-0F75-4040-AFB2-0E25BA62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磁控濺鍍的磁場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644F465-9CFD-4897-98C7-4BED373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3BBC662-B606-416F-A5B3-7E2E1D1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Magnetron利用靶附近磁場改變電子軌跡。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0397721-BBC9-44D8-8377-E1350966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電子停留較久，可增加氣體電離的機會。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D0C666D-CD00-4396-B36E-3CEC3DC7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靶面常出現特定侵蝕分布。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3B94413-9598-473E-834D-36F683D5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磁控描述的是放電配置。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1D2E94E-795D-44B9-A603-13B2CF1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它不代表沉積材料必須有磁性。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4E5256F-DFE1-406B-95E1-DC4504C5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AE91C07-CCDC-459D-A03B-239D0A3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18B3A7A-7846-439C-A97E-3DA3823C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A879D4-0A6C-4DDC-BB2A-8E816CB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352332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73F03-04FD-4C09-995E-BC95D01B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Recipe變數與可能影響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057A994-1F42-4C5F-BCDF-E9B7DC7E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DBCF9B2-F7D1-4805-BBB5-FBDC4223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功率可能改變轟擊、沉積率與熱負荷。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3B739C7-1A33-4222-8FC0-07833D69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壓力影響碰撞，也影響放電條件。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5C02FE0-80CE-49BD-B775-5A710EA9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氣體比例可能改變成分與靶面狀態。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646FAD0-6374-4FC5-A531-299E49C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基板溫度與表面狀態影響成核及成長。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48BB16B-D41A-449F-987B-18924AE7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時間與幾何共同影響厚度及均勻性。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4CC225B-051A-4EF2-8C0F-09593F2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2A84EF6-6FE7-4758-8EBF-5B77FB3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6506F20-5977-4A90-826D-842FD75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327349-9CC3-42ED-8EB1-A416A121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6045828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F56851-EE86-46BD-8980-C17E633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反應性濺鍍與靶面反應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61E3049-5717-4F37-8CA4-E2317AA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6C6FB4A-0CF3-48E0-80C0-9494C354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Reactive sputtering加入可反應的氣體。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CA13551-5AB5-4564-9350-5D507F5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金屬與氧或氮反應，可形成化合物薄膜。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528E94B-089B-46C1-9DC3-6B2E22C8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反應也可能在靶面發生。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A94329D-6EA3-49A9-B9AC-158CAD73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Target poisoning指靶面形成反應層。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9D3BD7B-042A-4334-BC15-F0E79237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沉積率、放電穩定性與成分可能一起改變。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DCA04AF-611E-4A2F-A42E-1D3178E6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4064293-5505-401D-81AA-8AC81FC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DEDD9EF-1CF8-4B60-88D7-BFCD90A9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86DE0-D34E-42B2-BB03-752976A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2309309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5B4690-292D-437B-AA5B-D9020702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薄膜成長與微結構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7DFB32F-701E-4A0B-A1B1-EF19523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47B330E-D367-47E3-96D5-B2E50E5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到達的原子可吸附、移動、成核，島可合併（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coalescence）。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DDBB478-B1F7-4778-81CF-8E0CEA2E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連續膜形成前，可能先出現分離的島。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E647468-316B-4411-B325-D1723D18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83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溫度、能量與表面鍵結影響微結構。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42CC2C2-C1C5-44E3-9993-3A94219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晶粒、孔隙、應力及粗糙度可能共同變化。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E31CE1F-D915-48F6-B7FF-51C73B6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實際成長模式需要材料與表徵證據。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95F4E93A-CA9A-4571-9145-29DF8903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1847850"/>
            <a:ext cx="1100138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基板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A08096C-1F6E-4EF9-977E-C61ED3FF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56" y="1847850"/>
            <a:ext cx="1100138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基板</a:t>
            </a:r>
          </a:p>
        </p:txBody>
      </p:sp>
      <p:sp>
        <p:nvSpPr>
          <p:cNvPr id="10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09D2A3DB-BE0F-4E0D-BD87-FCB1D33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1847850"/>
            <a:ext cx="1100138" cy="2786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基板</a:t>
            </a:r>
          </a:p>
        </p:txBody>
      </p:sp>
      <p:sp>
        <p:nvSpPr>
          <p:cNvPr id="11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98B06E2-5A9F-4758-BC34-A039C41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291" y="1612106"/>
            <a:ext cx="264033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2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80D0E458-9520-4D48-A5EB-D91E1BEE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357" y="1526381"/>
            <a:ext cx="286036" cy="30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9F6C102-4CB6-46F2-8CF2-0E5DD958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465" y="1526381"/>
            <a:ext cx="792099" cy="321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4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7DF9451-FC80-418C-BFD4-5A9931A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569" y="1633538"/>
            <a:ext cx="154019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5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7EEFD008-0757-4D7F-BF8B-2689FCB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1504950"/>
            <a:ext cx="1100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5"/>
          </a:solidFill>
          <a:ln xmlns:a="http://schemas.openxmlformats.org/drawingml/2006/main" w="16193">
            <a:solidFill>
              <a:srgbClr val="657889"/>
            </a:solidFill>
            <a:prstDash val="solid"/>
          </a:ln>
        </p:spPr>
      </p:sp>
      <p:sp>
        <p:nvSpPr>
          <p:cNvPr id="16" name="figure-label-8">
            <a:extLst xmlns:a="http://schemas.openxmlformats.org/drawingml/2006/main">
              <a:ext uri="{FF2B5EF4-FFF2-40B4-BE49-F238E27FC236}">
                <a16:creationId xmlns:a16="http://schemas.microsoft.com/office/drawing/2014/main" id="{FC810CEE-D3B1-4FF9-85E7-E4D99E62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2405063"/>
            <a:ext cx="11001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孤立島</a:t>
            </a:r>
          </a:p>
        </p:txBody>
      </p:sp>
      <p:sp>
        <p:nvSpPr>
          <p:cNvPr id="17" name="figure-label-9">
            <a:extLst xmlns:a="http://schemas.openxmlformats.org/drawingml/2006/main">
              <a:ext uri="{FF2B5EF4-FFF2-40B4-BE49-F238E27FC236}">
                <a16:creationId xmlns:a16="http://schemas.microsoft.com/office/drawing/2014/main" id="{8017E53B-C116-446B-ADD0-39B5459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56" y="2405063"/>
            <a:ext cx="11001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島合併</a:t>
            </a:r>
          </a:p>
        </p:txBody>
      </p:sp>
      <p:sp>
        <p:nvSpPr>
          <p:cNvPr id="18" name="figure-label-10">
            <a:extLst xmlns:a="http://schemas.openxmlformats.org/drawingml/2006/main">
              <a:ext uri="{FF2B5EF4-FFF2-40B4-BE49-F238E27FC236}">
                <a16:creationId xmlns:a16="http://schemas.microsoft.com/office/drawing/2014/main" id="{415AE491-0133-4EAC-9A9E-65FE136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635" y="2405063"/>
            <a:ext cx="110013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連續膜</a:t>
            </a:r>
          </a:p>
        </p:txBody>
      </p:sp>
      <p:sp>
        <p:nvSpPr>
          <p:cNvPr id="19" name="figure-label-11">
            <a:extLst xmlns:a="http://schemas.openxmlformats.org/drawingml/2006/main">
              <a:ext uri="{FF2B5EF4-FFF2-40B4-BE49-F238E27FC236}">
                <a16:creationId xmlns:a16="http://schemas.microsoft.com/office/drawing/2014/main" id="{6EF65EEF-21D8-4378-B2CB-FF6A657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78" y="3305175"/>
            <a:ext cx="3960495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概念示意：不同材料可能呈現不同成長路徑。</a:t>
            </a:r>
          </a:p>
        </p:txBody>
      </p:sp>
      <p:sp>
        <p:nvSpPr>
          <p:cNvPr id="20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30A1F44-07A9-4F9C-9D4B-21D2095E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946CCEB0-A501-49D9-B329-68F04469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22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10CECA4-35B2-4D93-8994-B2D7AAD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03-18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33D6F9-08ED-40B2-8AA9-86A1BA5B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20870064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F9084F-D6C7-4E1C-B0E1-CE205F05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界面與污染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B623B6D-A1F7-4759-B198-22DAD213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CF08D8F-7961-4A6C-BE3C-B8EFAD80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兩層接觸後可能交換電荷或發生化學反應。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43FA4AF-07ED-4773-9761-29811DC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表面吸附物可能成為下一層的埋藏界面。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62F4341-712A-42F0-94A0-36D9B5E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電極也可能參與氧交換或金屬遷移。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5A7E6C6-315B-4704-BE70-F03A3B2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名義厚度相同，不代表界面狀態相同。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1A8F400-1BA1-4413-9FAC-D97E524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空氣曝露與等待時間值得記錄。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211A348-0271-4CDD-972F-E68E51B5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F1AFB70-150B-4880-B011-ACFA68A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41C4DAB-D81A-4F81-B4EC-CFD4377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03-19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5D010E-26B2-4A48-8837-8AB7729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1998179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D9517A-CBCE-45F0-BEE2-C989A3EC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練習：沉積率與厚度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5DF4CC3-0DF3-41B4-BDEC-5EDDAD6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30F1C3-4595-4045-9DE0-DF10658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5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教學合成值，非濺鍍recipe</a:t>
            </a:r>
          </a:p>
        </p:txBody>
      </p:sp>
      <p:sp>
        <p:nvSpPr>
          <p:cNvPr id="4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5891C34C-97C3-49A3-8318-EAC38D9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1583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d ≈ r × t</a:t>
            </a:r>
          </a:p>
        </p:txBody>
      </p:sp>
      <p:sp>
        <p:nvSpPr>
          <p:cNvPr id="5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ACF55F8-1E17-40AA-96FF-7C76CB8B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60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教學校正率r = 0.10 nm/s。</a:t>
            </a:r>
          </a:p>
        </p:txBody>
      </p:sp>
      <p:sp>
        <p:nvSpPr>
          <p:cNvPr id="6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FAC1DD6-6C5E-454F-B08A-9198605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836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沉積時間t = 300 s。</a:t>
            </a:r>
          </a:p>
        </p:txBody>
      </p:sp>
      <p:sp>
        <p:nvSpPr>
          <p:cNvPr id="7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60BFB59-810B-4A3A-A551-2DFFE04F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411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① 以固定速率近似估算厚度d。</a:t>
            </a:r>
          </a:p>
        </p:txBody>
      </p:sp>
      <p:sp>
        <p:nvSpPr>
          <p:cNvPr id="8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C8AC5B6-CB3C-4BD3-B960-63CA03CF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9878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② 若r相對不確定度為10%，時間誤差忽略，d如何報告？</a:t>
            </a:r>
          </a:p>
        </p:txBody>
      </p:sp>
      <p:sp>
        <p:nvSpPr>
          <p:cNvPr id="9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F959903-2292-43BB-BC88-8B633301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85636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③ 為何一次校正不能保證所有批次？</a:t>
            </a:r>
          </a:p>
        </p:txBody>
      </p:sp>
      <p:sp>
        <p:nvSpPr>
          <p:cNvPr id="10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F30FE3C-9292-421D-89C6-5E4E16CB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E003C4B-59D2-4EF6-AE17-90876C4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2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9EEE48B-658A-41FB-8D06-BDE440D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03-20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127C37-0BA5-4179-B0C8-91E9F24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20582696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A6BFD7-EA05-4C4F-A82D-A9D007A9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解答：厚度估計需要校正證據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ADCFDF8-7C32-4E4A-8180-EAE5669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88CEAEF-A72F-4ABA-B1CF-A2A2CA3D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 = 0.10×300 = 30 nm。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70CADB4-1E99-4C25-8B54-CB2F0F9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固定時間時，厚度相對不確定度等於速率的10%。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643D515-A476-4E52-B0C5-1C362EBE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同一不確定度定義下，可寫30 ± 3 nm。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5FAC7FB-C75D-42F4-99AA-488B5A02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靶材狀態與製程條件變化可能造成速率漂移。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DF84FA9-7E92-4B4F-BB2E-1495C82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厚度估計、監控值與離線實測應分欄。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690D011-08AB-4395-90DB-660427C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E9D6654-757F-42EE-9EFB-61B19F0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96D6676-CCD6-455E-9791-32A900D7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4B88BF-7EE3-4F41-A22B-A961679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6236754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D09C64-EEDA-4AD8-B6D9-08596E56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厚度與平均電場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2BD1221-8A4B-41F2-B244-0EBB68D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central-equation">
            <a:extLst xmlns:a="http://schemas.openxmlformats.org/drawingml/2006/main">
              <a:ext uri="{FF2B5EF4-FFF2-40B4-BE49-F238E27FC236}">
                <a16:creationId xmlns:a16="http://schemas.microsoft.com/office/drawing/2014/main" id="{EB3F5AF0-CBF6-43DA-A11E-E72BEE0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340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defPPr>
            <a:lvl1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1pPr>
            <a:lvl2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2pPr>
            <a:lvl3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3pPr>
            <a:lvl4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4pPr>
            <a:lvl5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5pPr>
            <a:lvl6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6pPr>
            <a:lvl7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7pPr>
            <a:lvl8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8pPr>
            <a:lvl9pPr algn="l"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defRPr>
            </a:pPr>
            <a:r>
              <a:rPr sz="1875" b="0">
                <a:solidFill>
                  <a:srgbClr val="283B47"/>
                </a:solidFill>
                <a:latin typeface="Noto Serif CJK TC"/>
                <a:ea typeface="Noto Serif CJK TC"/>
                <a:cs typeface="Noto Serif CJK TC"/>
              </a:rPr>
              <a:t>E平均 ≈ V層 / d層</a:t>
            </a:r>
          </a:p>
        </p:txBody>
      </p:sp>
      <p:sp>
        <p:nvSpPr>
          <p:cNvPr id="4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DEA1B96-82B7-4943-B9DC-D6113EDB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779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單層、均勻場近似下，E ≈ V/d。</a:t>
            </a:r>
          </a:p>
        </p:txBody>
      </p:sp>
      <p:sp>
        <p:nvSpPr>
          <p:cNvPr id="5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60ACF75-B7FE-4B2D-AC5A-39A2D582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355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教學例：1 V跨10 nm，E ≈ 1 MV/cm。</a:t>
            </a:r>
          </a:p>
        </p:txBody>
      </p:sp>
      <p:sp>
        <p:nvSpPr>
          <p:cNvPr id="6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FA48BE1-F146-4129-AA9A-8A0B5C5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931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若其他假設相同，厚度加倍使平均場減半。</a:t>
            </a:r>
          </a:p>
        </p:txBody>
      </p:sp>
      <p:sp>
        <p:nvSpPr>
          <p:cNvPr id="7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6AD147D-422D-4686-BC91-91A1EBC9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507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多層分壓、空間電荷與局部通道會破壞此近似。</a:t>
            </a:r>
          </a:p>
        </p:txBody>
      </p:sp>
      <p:sp>
        <p:nvSpPr>
          <p:cNvPr id="8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98A9114-6715-4374-AF57-CE2604E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082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單一幾何厚度不能給出所有局部電場。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05628FE-0943-4306-940A-6673385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0FCF30E-06BC-4D68-A270-36F8FFFE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AE4EC5D-E1C7-4874-A6AC-08C63F86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03-22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242642-CCD2-435E-A5D9-FCF7E536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9276543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A23711-3D00-403D-ACEB-47D7433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退火與熱歷史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7B3F55-E02E-49EE-B878-EDA5D0EE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BC29EF2-6D4F-469C-9AB5-A4C24C7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RTA用受控熱歷史改變材料狀態。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2992B4C-55EB-412F-89D6-8BAB2F3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Ramp、dwell、cooling與ambient都需要紀錄。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4AA592B-D255-489D-B1C5-3A507D07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擴散、結晶與界面反應可能同時發生。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FB336FD-F3B4-4B9F-A29A-DCCA1228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較高溫度不保證較好的RRAM特性。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AF54132-BEBE-41EC-9B6E-C15A5B0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熱力學方向與實際速率需要分別判斷。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65B92A0-1AF1-4B18-A6DB-32206B6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ED81102-364F-495E-B56E-AFFD1A7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417FF40-1BD0-4821-8D41-A5A7CFE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BAEDEF-B25A-48E6-8D39-1B4AA365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8808917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BA7495-F519-4488-8882-95AB00E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薄膜表徵的證據範圍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4401C4D-818A-4AA2-B8CD-A0C84B04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73DA404-0A3B-47FB-81AA-ECDF7AAB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厚度：輪廓儀、橢偏、XRR或截面，各有假設。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7CE94AD-07CA-4F5B-B133-9F4D97B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XRD支持結構與相態判讀，薄膜訊號可能很弱。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4E4B7D3-F83A-480E-963F-A6DA2D78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XPS提供近表面元素與化學狀態線索。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89F0572-F6E2-42BD-B5EC-63BB8E2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AFM提供表面形貌，不能直接證明低漏電。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E0C9888-E130-4793-B7A3-75C5379E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多種證據相符，仍需檢查樣品與取樣一致性。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3AD92A7-8901-4B26-A253-C423A1F8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4FF4D84-2920-4091-A30A-B350637A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27735E9-9542-43C5-8DAA-F53411F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948603-471A-4ACF-8D15-97281B4A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9742399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86199-9540-4746-88C8-9E570A30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製程Traveler與資料追溯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E7B6609-8807-4306-820B-6C7C7DB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9D75CCC-FDAB-4CDF-BE54-F6A80E3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每個batch、sample、device與run需要唯一ID。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2B1CA4B-08C4-447E-AAE2-3B6FF0B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材料批號、靶材與recipe版本連回製程事件。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067D635-6EDB-401A-A0A9-5DFBA32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實測、名義值與unknown清楚區分。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C564C5E-E854-4B9B-A69D-6BD1C84E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原始檔保留不覆寫，分析版本另存。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36427DE-6A66-42B8-8503-3927D7E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圖表需要能回到樣品、條件與原始列。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A633DA9-E037-4A29-926E-173D7B83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Batch與材料來源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D2BA862D-D870-4DF8-A800-45B073C9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Sample與製程事件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4D6D3EF-1CD3-4D20-B845-3D5A1A2D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B5FDDB4-171B-48C0-964B-1D25278E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57FD98A-664E-48EF-A334-1B7D79F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FBE21039-E296-4822-9F83-B846240E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Device與量測Run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5A152FA-4A34-4D94-AFDC-BC7045F3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1A3A061-78BC-45D2-828B-4718F66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9985B85-9763-4376-88D2-56F8172F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58AF56A6-A85D-49AC-9F6E-D5390927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Raw檔與分析版本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4915D86-9B0C-4F72-949F-8A601A9C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B431EAA-9A3F-4B78-8D15-335B00F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E1AAE53-AC36-4DE6-8A16-D0A0974F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6014DA14-9BB3-4438-B71F-6D3516F6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可追溯ID鏈，依本地資料權限保存</a:t>
            </a:r>
          </a:p>
        </p:txBody>
      </p:sp>
      <p:sp>
        <p:nvSpPr>
          <p:cNvPr id="2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4833A67B-CF90-47D8-9CEB-D9B7DCC9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BD652556-B96C-4CAA-95F5-16F2865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24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A8B514C-AAB7-4AD4-82DB-9CCAEBA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03-25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1B29DF-3FAF-4F6E-AE0B-071A000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4938582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48F7AE-4ED8-4B84-9167-6B74390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因果比較與混雜因素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67BAF95-2D0F-438D-B123-8E2759B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B80B3E2-C771-4C68-8AF7-60F4D3F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A、B樣品電流不同，只能先報告差異。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A99B758-27AB-4B25-A1D6-65D1E73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若批次、厚度、電極與歷史都不同，原因難以分離。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C796F0B-901A-476B-B79D-C99AF17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小型實驗需指定主要因子與主要指標。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4CCF858-A8A1-4077-9118-357A711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保留失敗、未完成與排除原因。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895CDC0-3174-4AD8-8CDC-6D1F5697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新參數與新材料需重新取得授權。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305DF1A-E8BB-4A33-8B08-DA918097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A78A542-4537-4754-890B-675E15B2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A3C0F6A-8D24-4FCF-9434-525EA199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09F7F9-D2DC-4B18-AEA6-F6A9BEB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20918802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6ABAD9-F750-4D38-8BA3-B531C6E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綜合練習：一份不完整的Run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02095F2-32FD-4F0E-A71D-38236016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84F2255-5042-424A-AF26-4AD79686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紀錄只有「RF、300秒、30nm、I變大」。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6C2B101-41E9-4A66-B477-9AC14DC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① 哪些名詞或數字還不夠明確？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17D119C-77AD-4493-BA8F-6983A86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② 列出三種「I變大」的替代解釋。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08F8618-2CBD-4EAC-8BBE-CC45169C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③ 挑兩種表徵，說明它們能與不能回答什麼。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C7DEC47-C88E-48DB-9BAE-DA78E78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④ 未確認SOP與樣品歷史，下一步如何處理？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BD051B3-CD11-4643-B621-7165C13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F6CD898-8969-49A3-9B81-8A2447B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AF41F47-1963-4D61-BF5C-5404FC8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D58836-9CAC-4B2F-B85A-1C2BA42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2550550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8BE9A3-C43C-4122-A3A1-D644578C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解答與入門關卡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2F2A418-11F2-4D57-8B8D-0D408F6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68812C5-B587-4D64-89EC-192A7F4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補齊工具、靶材、氣體、壓力、熱歷史與厚度來源。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FB181FAA-B876-4C47-9AFA-0C15A95C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I比較還需要相同讀取條件、樣品ID與狀態歷史。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6323950-1D70-4E17-98C7-893A160D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候選原因含成分/缺陷、界面/接觸、幾何差異。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DBE17AD-AB99-4627-9A5A-27B5550A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表徵回答特定問題，不能單獨證明全部機制。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C02BCF4-C8D3-4DEC-A4B7-36A5C04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資料不全先查證，設備操作等訓練者確認。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789BEC6-2BF1-4351-811A-B8F8FB36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4DB61F3-37FA-4AC0-8712-24E65F17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製程入門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469EEC9-3B54-4B83-8E62-176486D8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03-28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F39167-A7E0-4591-AB84-DF42709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847886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2026-10-29T04:45:25.5400000Z</dcterms:created>
  <dcterms:modified xsi:type="dcterms:W3CDTF">2026-10-29T04:45:25.5400000Z</dcterms:modified>
</coreProperties>
</file>