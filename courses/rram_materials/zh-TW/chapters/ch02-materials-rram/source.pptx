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0feccc8df747e0" /><Relationship Type="http://schemas.openxmlformats.org/officeDocument/2006/relationships/extended-properties" Target="/docProps/app.xml" Id="R5aa145f58ec54181" /><Relationship Type="http://schemas.openxmlformats.org/officeDocument/2006/relationships/officeDocument" Target="/ppt/presentation.xml" Id="R63bd8de68f8d44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4b31233642469a"/>
  </p:sldMasterIdLst>
  <p:notesMasterIdLst>
    <p:notesMasterId xmlns:r="http://schemas.openxmlformats.org/officeDocument/2006/relationships" r:id="Rd5e351143b3d4905"/>
  </p:notesMasterIdLst>
  <p:sldIdLst>
    <p:sldId xmlns:r="http://schemas.openxmlformats.org/officeDocument/2006/relationships" id="256" r:id="R90494b474dc148a7"/>
    <p:sldId xmlns:r="http://schemas.openxmlformats.org/officeDocument/2006/relationships" id="257" r:id="R080e2f24178540eb"/>
    <p:sldId xmlns:r="http://schemas.openxmlformats.org/officeDocument/2006/relationships" id="258" r:id="Rcdb9d280ad894ecb"/>
    <p:sldId xmlns:r="http://schemas.openxmlformats.org/officeDocument/2006/relationships" id="259" r:id="Rc2f98087ebdd44fc"/>
    <p:sldId xmlns:r="http://schemas.openxmlformats.org/officeDocument/2006/relationships" id="260" r:id="Rba4a07c50cd4439e"/>
    <p:sldId xmlns:r="http://schemas.openxmlformats.org/officeDocument/2006/relationships" id="261" r:id="R0f425bc0c8564682"/>
    <p:sldId xmlns:r="http://schemas.openxmlformats.org/officeDocument/2006/relationships" id="262" r:id="Rfd9240ba0287472b"/>
    <p:sldId xmlns:r="http://schemas.openxmlformats.org/officeDocument/2006/relationships" id="263" r:id="R01b42a16d8934f55"/>
    <p:sldId xmlns:r="http://schemas.openxmlformats.org/officeDocument/2006/relationships" id="264" r:id="R8f437cc847b54269"/>
    <p:sldId xmlns:r="http://schemas.openxmlformats.org/officeDocument/2006/relationships" id="265" r:id="R66894f8bdb35449a"/>
    <p:sldId xmlns:r="http://schemas.openxmlformats.org/officeDocument/2006/relationships" id="266" r:id="Re0354f75b24f4fdb"/>
    <p:sldId xmlns:r="http://schemas.openxmlformats.org/officeDocument/2006/relationships" id="267" r:id="Rbf7661433d564bbe"/>
    <p:sldId xmlns:r="http://schemas.openxmlformats.org/officeDocument/2006/relationships" id="268" r:id="Rf21388c645bc4745"/>
    <p:sldId xmlns:r="http://schemas.openxmlformats.org/officeDocument/2006/relationships" id="269" r:id="R2202c59ef0aa4241"/>
    <p:sldId xmlns:r="http://schemas.openxmlformats.org/officeDocument/2006/relationships" id="270" r:id="R32f922feb7cd44d1"/>
    <p:sldId xmlns:r="http://schemas.openxmlformats.org/officeDocument/2006/relationships" id="271" r:id="Ra664dfff71a843b6"/>
    <p:sldId xmlns:r="http://schemas.openxmlformats.org/officeDocument/2006/relationships" id="272" r:id="R4cb16734aad7427a"/>
    <p:sldId xmlns:r="http://schemas.openxmlformats.org/officeDocument/2006/relationships" id="273" r:id="R7265ea619e28472a"/>
    <p:sldId xmlns:r="http://schemas.openxmlformats.org/officeDocument/2006/relationships" id="274" r:id="R2160eec9c92847e6"/>
    <p:sldId xmlns:r="http://schemas.openxmlformats.org/officeDocument/2006/relationships" id="275" r:id="R2b12a21f48dd460f"/>
    <p:sldId xmlns:r="http://schemas.openxmlformats.org/officeDocument/2006/relationships" id="276" r:id="R54fdbff0b60c4647"/>
    <p:sldId xmlns:r="http://schemas.openxmlformats.org/officeDocument/2006/relationships" id="277" r:id="R9874c47b89594213"/>
    <p:sldId xmlns:r="http://schemas.openxmlformats.org/officeDocument/2006/relationships" id="278" r:id="Rd03002bba3ad4080"/>
    <p:sldId xmlns:r="http://schemas.openxmlformats.org/officeDocument/2006/relationships" id="279" r:id="R478a8708a11a4b67"/>
    <p:sldId xmlns:r="http://schemas.openxmlformats.org/officeDocument/2006/relationships" id="280" r:id="R56642451c64c4237"/>
    <p:sldId xmlns:r="http://schemas.openxmlformats.org/officeDocument/2006/relationships" id="281" r:id="R46448cabf62944c1"/>
    <p:sldId xmlns:r="http://schemas.openxmlformats.org/officeDocument/2006/relationships" id="282" r:id="Reba5869d5096403a"/>
    <p:sldId xmlns:r="http://schemas.openxmlformats.org/officeDocument/2006/relationships" id="283" r:id="R28c822d2fabd4f13"/>
  </p:sldIdLst>
  <p:sldSz cx="10692384" cy="6019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659602450d4cc7" /><Relationship Type="http://schemas.openxmlformats.org/officeDocument/2006/relationships/slideMaster" Target="/ppt/slideMasters/slideMaster1.xml" Id="R1b4b31233642469a" /><Relationship Type="http://schemas.openxmlformats.org/officeDocument/2006/relationships/notesMaster" Target="/ppt/notesMasters/notesMaster1.xml" Id="Rd5e351143b3d4905" /><Relationship Type="http://schemas.openxmlformats.org/officeDocument/2006/relationships/presProps" Target="/ppt/presProps.xml" Id="R5046e21b5f02403a" /><Relationship Type="http://schemas.openxmlformats.org/officeDocument/2006/relationships/tableStyles" Target="/ppt/tableStyles.xml" Id="Rb8c43c7c9e7940cb" /><Relationship Type="http://schemas.openxmlformats.org/officeDocument/2006/relationships/slide" Target="/ppt/slides/slide1.xml" Id="R90494b474dc148a7" /><Relationship Type="http://schemas.openxmlformats.org/officeDocument/2006/relationships/slide" Target="/ppt/slides/slide2.xml" Id="R080e2f24178540eb" /><Relationship Type="http://schemas.openxmlformats.org/officeDocument/2006/relationships/slide" Target="/ppt/slides/slide3.xml" Id="Rcdb9d280ad894ecb" /><Relationship Type="http://schemas.openxmlformats.org/officeDocument/2006/relationships/slide" Target="/ppt/slides/slide4.xml" Id="Rc2f98087ebdd44fc" /><Relationship Type="http://schemas.openxmlformats.org/officeDocument/2006/relationships/slide" Target="/ppt/slides/slide5.xml" Id="Rba4a07c50cd4439e" /><Relationship Type="http://schemas.openxmlformats.org/officeDocument/2006/relationships/slide" Target="/ppt/slides/slide6.xml" Id="R0f425bc0c8564682" /><Relationship Type="http://schemas.openxmlformats.org/officeDocument/2006/relationships/slide" Target="/ppt/slides/slide7.xml" Id="Rfd9240ba0287472b" /><Relationship Type="http://schemas.openxmlformats.org/officeDocument/2006/relationships/slide" Target="/ppt/slides/slide8.xml" Id="R01b42a16d8934f55" /><Relationship Type="http://schemas.openxmlformats.org/officeDocument/2006/relationships/slide" Target="/ppt/slides/slide9.xml" Id="R8f437cc847b54269" /><Relationship Type="http://schemas.openxmlformats.org/officeDocument/2006/relationships/slide" Target="/ppt/slides/slide10.xml" Id="R66894f8bdb35449a" /><Relationship Type="http://schemas.openxmlformats.org/officeDocument/2006/relationships/slide" Target="/ppt/slides/slide11.xml" Id="Re0354f75b24f4fdb" /><Relationship Type="http://schemas.openxmlformats.org/officeDocument/2006/relationships/slide" Target="/ppt/slides/slide12.xml" Id="Rbf7661433d564bbe" /><Relationship Type="http://schemas.openxmlformats.org/officeDocument/2006/relationships/slide" Target="/ppt/slides/slide13.xml" Id="Rf21388c645bc4745" /><Relationship Type="http://schemas.openxmlformats.org/officeDocument/2006/relationships/slide" Target="/ppt/slides/slide14.xml" Id="R2202c59ef0aa4241" /><Relationship Type="http://schemas.openxmlformats.org/officeDocument/2006/relationships/slide" Target="/ppt/slides/slide15.xml" Id="R32f922feb7cd44d1" /><Relationship Type="http://schemas.openxmlformats.org/officeDocument/2006/relationships/slide" Target="/ppt/slides/slide16.xml" Id="Ra664dfff71a843b6" /><Relationship Type="http://schemas.openxmlformats.org/officeDocument/2006/relationships/slide" Target="/ppt/slides/slide17.xml" Id="R4cb16734aad7427a" /><Relationship Type="http://schemas.openxmlformats.org/officeDocument/2006/relationships/slide" Target="/ppt/slides/slide18.xml" Id="R7265ea619e28472a" /><Relationship Type="http://schemas.openxmlformats.org/officeDocument/2006/relationships/slide" Target="/ppt/slides/slide19.xml" Id="R2160eec9c92847e6" /><Relationship Type="http://schemas.openxmlformats.org/officeDocument/2006/relationships/slide" Target="/ppt/slides/slide20.xml" Id="R2b12a21f48dd460f" /><Relationship Type="http://schemas.openxmlformats.org/officeDocument/2006/relationships/slide" Target="/ppt/slides/slide21.xml" Id="R54fdbff0b60c4647" /><Relationship Type="http://schemas.openxmlformats.org/officeDocument/2006/relationships/slide" Target="/ppt/slides/slide22.xml" Id="R9874c47b89594213" /><Relationship Type="http://schemas.openxmlformats.org/officeDocument/2006/relationships/slide" Target="/ppt/slides/slide23.xml" Id="Rd03002bba3ad4080" /><Relationship Type="http://schemas.openxmlformats.org/officeDocument/2006/relationships/slide" Target="/ppt/slides/slide24.xml" Id="R478a8708a11a4b67" /><Relationship Type="http://schemas.openxmlformats.org/officeDocument/2006/relationships/slide" Target="/ppt/slides/slide25.xml" Id="R56642451c64c4237" /><Relationship Type="http://schemas.openxmlformats.org/officeDocument/2006/relationships/slide" Target="/ppt/slides/slide26.xml" Id="R46448cabf62944c1" /><Relationship Type="http://schemas.openxmlformats.org/officeDocument/2006/relationships/slide" Target="/ppt/slides/slide27.xml" Id="Reba5869d5096403a" /><Relationship Type="http://schemas.openxmlformats.org/officeDocument/2006/relationships/slide" Target="/ppt/slides/slide28.xml" Id="R28c822d2fabd4f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bf6191a51c4b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393a92a3874eb7" /><Relationship Type="http://schemas.openxmlformats.org/officeDocument/2006/relationships/notesMaster" Target="/ppt/notesMasters/notesMaster1.xml" Id="Rcd8903198f804b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0cd4bfd883498e" /><Relationship Type="http://schemas.openxmlformats.org/officeDocument/2006/relationships/notesMaster" Target="/ppt/notesMasters/notesMaster1.xml" Id="R4a0dd767f9d245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a71842b0384217" /><Relationship Type="http://schemas.openxmlformats.org/officeDocument/2006/relationships/notesMaster" Target="/ppt/notesMasters/notesMaster1.xml" Id="R8ba4197bcf174e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d5e0a6eaaa46e0" /><Relationship Type="http://schemas.openxmlformats.org/officeDocument/2006/relationships/notesMaster" Target="/ppt/notesMasters/notesMaster1.xml" Id="Ra67695ae098843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2ffb7201114233" /><Relationship Type="http://schemas.openxmlformats.org/officeDocument/2006/relationships/notesMaster" Target="/ppt/notesMasters/notesMaster1.xml" Id="R0389b0f9b5c846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78cb2f76e04e08" /><Relationship Type="http://schemas.openxmlformats.org/officeDocument/2006/relationships/notesMaster" Target="/ppt/notesMasters/notesMaster1.xml" Id="Ra5e0875826f843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c5c4729f064d68" /><Relationship Type="http://schemas.openxmlformats.org/officeDocument/2006/relationships/notesMaster" Target="/ppt/notesMasters/notesMaster1.xml" Id="R752ef3b3f05041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c7e38154a9434c" /><Relationship Type="http://schemas.openxmlformats.org/officeDocument/2006/relationships/notesMaster" Target="/ppt/notesMasters/notesMaster1.xml" Id="R4968b68b330b46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213d5d9ae04e63" /><Relationship Type="http://schemas.openxmlformats.org/officeDocument/2006/relationships/notesMaster" Target="/ppt/notesMasters/notesMaster1.xml" Id="R54d58731e6be4a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67b951748449ec" /><Relationship Type="http://schemas.openxmlformats.org/officeDocument/2006/relationships/notesMaster" Target="/ppt/notesMasters/notesMaster1.xml" Id="R8c0fb42173704a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7c342a137e40da" /><Relationship Type="http://schemas.openxmlformats.org/officeDocument/2006/relationships/notesMaster" Target="/ppt/notesMasters/notesMaster1.xml" Id="Rb927a4f0f34f45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47db3e0d4044ea" /><Relationship Type="http://schemas.openxmlformats.org/officeDocument/2006/relationships/notesMaster" Target="/ppt/notesMasters/notesMaster1.xml" Id="R98fe376e78f146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ad468f5e764d49" /><Relationship Type="http://schemas.openxmlformats.org/officeDocument/2006/relationships/notesMaster" Target="/ppt/notesMasters/notesMaster1.xml" Id="R1fcbf1cfbaa643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ff518ab884469b" /><Relationship Type="http://schemas.openxmlformats.org/officeDocument/2006/relationships/notesMaster" Target="/ppt/notesMasters/notesMaster1.xml" Id="R4d9ed9a9f6a648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a3f4c5393043ac" /><Relationship Type="http://schemas.openxmlformats.org/officeDocument/2006/relationships/notesMaster" Target="/ppt/notesMasters/notesMaster1.xml" Id="R40957f70b6134b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77afb616aa4eda" /><Relationship Type="http://schemas.openxmlformats.org/officeDocument/2006/relationships/notesMaster" Target="/ppt/notesMasters/notesMaster1.xml" Id="R6a91891d293d44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e8e2e51e9b4fb1" /><Relationship Type="http://schemas.openxmlformats.org/officeDocument/2006/relationships/notesMaster" Target="/ppt/notesMasters/notesMaster1.xml" Id="Rb7bb5b778f934a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3be8455842474f" /><Relationship Type="http://schemas.openxmlformats.org/officeDocument/2006/relationships/notesMaster" Target="/ppt/notesMasters/notesMaster1.xml" Id="R427fea825f9149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de138a3f9e4f0c" /><Relationship Type="http://schemas.openxmlformats.org/officeDocument/2006/relationships/notesMaster" Target="/ppt/notesMasters/notesMaster1.xml" Id="R9d8a85b79ccf44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d8d3b1ead6405c" /><Relationship Type="http://schemas.openxmlformats.org/officeDocument/2006/relationships/notesMaster" Target="/ppt/notesMasters/notesMaster1.xml" Id="Rece2eb80a12f4c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7d0e7baa86402e" /><Relationship Type="http://schemas.openxmlformats.org/officeDocument/2006/relationships/notesMaster" Target="/ppt/notesMasters/notesMaster1.xml" Id="Ra50a70e13c274d8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bf0ea253314f94" /><Relationship Type="http://schemas.openxmlformats.org/officeDocument/2006/relationships/notesMaster" Target="/ppt/notesMasters/notesMaster1.xml" Id="R198486bed304421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daff93b50945d8" /><Relationship Type="http://schemas.openxmlformats.org/officeDocument/2006/relationships/notesMaster" Target="/ppt/notesMasters/notesMaster1.xml" Id="R342da0f59bd642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3e5717f3294834" /><Relationship Type="http://schemas.openxmlformats.org/officeDocument/2006/relationships/notesMaster" Target="/ppt/notesMasters/notesMaster1.xml" Id="R9c41a031a06f4b3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060a0885d1a40bf" /><Relationship Type="http://schemas.openxmlformats.org/officeDocument/2006/relationships/notesMaster" Target="/ppt/notesMasters/notesMaster1.xml" Id="Rf822ac626d0c46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3969509816477a" /><Relationship Type="http://schemas.openxmlformats.org/officeDocument/2006/relationships/notesMaster" Target="/ppt/notesMasters/notesMaster1.xml" Id="Rc864ad7d75cb4e1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b64d14403024664" /><Relationship Type="http://schemas.openxmlformats.org/officeDocument/2006/relationships/notesMaster" Target="/ppt/notesMasters/notesMaster1.xml" Id="Rd3fac8e0881c42e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93ac651c4a04a86" /><Relationship Type="http://schemas.openxmlformats.org/officeDocument/2006/relationships/notesMaster" Target="/ppt/notesMasters/notesMaster1.xml" Id="R19fdd90af4de4b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例：Ag 是銀元素，Ag^(+) 代表比中性銀少一個電子的正離子。晶體中的價態是一種描述電子分配的記帳方法，不宜把每個原子都當成孤立、完全整數電荷的小球。原子圖只是示意，電子不沿著古典行星軌道運動。第 4 天學習 D02-01 至 D02-10，第 5 天 D02-11 至 D02-20，第 6 天 D02-21 至 D02-28。 本課先聚焦離子參與的 RRAM；更廣義電阻切換也可能包含其他機制。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3.091｜Lecture 3：原子模型</a:t>
            </a:r>
          </a:p>
          <a:p xmlns:a="http://schemas.openxmlformats.org/drawingml/2006/main">
            <a:r>
              <a:t>https://ocw.mit.edu/courses/3-091-introduction-to-solid-state-chemistry-fall-2018/resources/lecture-3/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這些分類是簡化模型，真實鍵結並非只有三個互斥盒子。化學式寫 TiO_2 表示理想化學計量比為每個 Ti 對應兩個 O，並不等於每一片實際薄膜都完全無缺陷。由化學式直接推論所有切換機制，是把成分標籤誤當成微觀證據。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3.091｜ChemATLAS I：鍵結與電子結構</a:t>
            </a:r>
          </a:p>
          <a:p xmlns:a="http://schemas.openxmlformats.org/drawingml/2006/main">
            <a:r>
              <a:t>https://ocw.mit.edu/courses/3-091-introduction-to-solid-state-chemistry-fall-2018/1221a5b035863c91885445ca47518e6c_MIT3_091F18_ChemATLAS_1.pdf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位是指一個原子周圍鄰近原子的數目與排列。缺少尖銳繞射峰可支持非晶判讀，但薄膜太薄、晶粒很小或訊號太弱也可能讓峰不明顯，須結合量測能力。單晶以規則的重複排列描述，多晶包含不同取向的晶粒。非晶雖無長程週期，鄰近原子間仍有局部結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3.091｜Lecture 18：晶體學入門</a:t>
            </a:r>
          </a:p>
          <a:p xmlns:a="http://schemas.openxmlformats.org/drawingml/2006/main">
            <a:r>
              <a:t>https://ocw.mit.edu/courses/3-091-introduction-to-solid-state-chemistry-fall-2018/resources/lecture-18/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3.091｜Lecture 25：非晶固體</a:t>
            </a:r>
          </a:p>
          <a:p xmlns:a="http://schemas.openxmlformats.org/drawingml/2006/main">
            <a:r>
              <a:t>https://ocw.mit.edu/courses/3-091-introduction-to-solid-state-chemistry-fall-2018/resources/lecture-25/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缺陷是相對於某個理想參考結構定義。非晶材料沒有完全相同的晶格位點，仍可討論局部缺氧、低配位及陷阱，但應交代所用模型。點缺陷、線缺陷與界面缺陷影響的尺度不同。RRAM 常以特定缺陷與界面改變電阻，這不代表可以忽略裂縫、污染或製程不均勻。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3.091｜Lecture 23：點缺陷與線缺陷</a:t>
            </a:r>
          </a:p>
          <a:p xmlns:a="http://schemas.openxmlformats.org/drawingml/2006/main">
            <a:r>
              <a:t>https://ocw.mit.edu/courses/3-091-introduction-to-solid-state-chemistry-fall-2018/resources/lecture-23/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符號 V_O 的 V 表示 vacancy，不是電壓。氧空缺既可能形成局部缺陷能態，也可能與結構改變共同作用。Foster 等對特定晶相 HfO_2 的計算分析不同電荷態，支持「電荷態需指定條件」，不能直接外推到所有非晶薄膜的精確數值。空缺位置的移動描述原子遷移後留下的缺位，不代表一顆固定電荷的小球在飛行。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Foster 等，PRB 65, 174117（2002）｜HfO_2 缺陷與電荷態</a:t>
            </a:r>
          </a:p>
          <a:p xmlns:a="http://schemas.openxmlformats.org/drawingml/2006/main">
            <a:r>
              <a:t>https://aaltodoc.aalto.fi/bitstreams/f7799961-42b0-4154-b567-fed3163fad5c/download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算例以精確常數乘 0.8，再按題目有效位數取近似。符號 eV 是一個整體單位，不是「電荷 e 乘上一個未知 V」的變數式。能障代表某個指定過程需要跨越的能量差，實驗端點電壓則分配在整個元件中，兩者不宜用數字直接對照。所有能障數字為假設算例。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NIST｜2019 週期表：電子伏特與基本常數</a:t>
            </a:r>
          </a:p>
          <a:p xmlns:a="http://schemas.openxmlformats.org/drawingml/2006/main">
            <a:r>
              <a:t>https://www.nist.gov/system/files/documents/2019/12/10/nist_periodictable_july2019.pdf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只建立名詞，不需要先會量子力學。半導體與絕緣體的實際導電能力還受溫度、缺陷、載子濃度與遷移率影響，不能只訂一個能隙數字便適用所有材料。後續「能量對位置」的接觸圖與「能量對波向量」的能帶結構圖不同，本課採前者，不混用橫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3.091｜Lecture 15：半導體與能帶</a:t>
            </a:r>
          </a:p>
          <a:p xmlns:a="http://schemas.openxmlformats.org/drawingml/2006/main">
            <a:r>
              <a:t>https://ocw.mit.edu/courses/3-091-introduction-to-solid-state-chemistry-fall-2018/resources/lecture-15/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採電子能量對空間位置的定性圖。零偏壓平衡時，接觸系統具有一致的費米能，但左右障壁仍可能不同。電子從電極注入介質時，需考慮界面能量差與可用能態。只有了解實際材料與界面後，才能選定較完整的模型。不能僅由金屬名稱斷言接觸必為歐姆或蕭特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6.772｜Lecture 2：金屬與半導體界面</a:t>
            </a:r>
          </a:p>
          <a:p xmlns:a="http://schemas.openxmlformats.org/drawingml/2006/main">
            <a:r>
              <a:t>https://www.ocw.mit.edu/courses/6-772-compound-semiconductor-devices-spring-2003/pages/lecture-notes/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 35–45 分鐘。先畫一張原子排列圖與一張能帶圖，再用自己的話定義。題 C 是量綱與概念檢查，禁止把教學能障當作真實設備設定。此頁沒有要求背任何特定材料的能隙、功函數或切換電壓。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3.091｜Lecture 23：點缺陷與線缺陷</a:t>
            </a:r>
          </a:p>
          <a:p xmlns:a="http://schemas.openxmlformats.org/drawingml/2006/main">
            <a:r>
              <a:t>https://ocw.mit.edu/courses/3-091-introduction-to-solid-state-chemistry-fall-2018/resources/lecture-23/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3.091｜Lecture 25：非晶固體</a:t>
            </a:r>
          </a:p>
          <a:p xmlns:a="http://schemas.openxmlformats.org/drawingml/2006/main">
            <a:r>
              <a:t>https://ocw.mit.edu/courses/3-091-introduction-to-solid-state-chemistry-fall-2018/resources/lecture-25/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Foster 等，PRB 65, 174117（2002）｜HfO_2 缺陷與電荷態</a:t>
            </a:r>
          </a:p>
          <a:p xmlns:a="http://schemas.openxmlformats.org/drawingml/2006/main">
            <a:r>
              <a:t>https://aaltodoc.aalto.fi/bitstreams/f7799961-42b0-4154-b567-fed3163fad5c/download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NIST｜2019 週期表：電子伏特與基本常數</a:t>
            </a:r>
          </a:p>
          <a:p xmlns:a="http://schemas.openxmlformats.org/drawingml/2006/main">
            <a:r>
              <a:t>https://www.nist.gov/system/files/documents/2019/12/10/nist_periodictable_july2019.pdf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3.091｜Lecture 15：半導體與能帶</a:t>
            </a:r>
          </a:p>
          <a:p xmlns:a="http://schemas.openxmlformats.org/drawingml/2006/main">
            <a:r>
              <a:t>https://ocw.mit.edu/courses/3-091-introduction-to-solid-state-chemistry-fall-2018/resources/lecture-15/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對應練習：D02-09。不要求答案逐字相同，只要求能區分結構、組成、電荷態與量測量。題 E 是提出可能解釋，不能寫成「已證明此片有更多空缺」。如果你只知道 XPS 的平均組成，仍不知道所有缺陷在厚度與面內如何分布。第 7 天可用這四類標籤整理自己讀到的論文證據。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3.091｜Lecture 25：非晶固體</a:t>
            </a:r>
          </a:p>
          <a:p xmlns:a="http://schemas.openxmlformats.org/drawingml/2006/main">
            <a:r>
              <a:t>https://ocw.mit.edu/courses/3-091-introduction-to-solid-state-chemistry-fall-2018/resources/lecture-25/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Foster 等，PRB 65, 174117（2002）｜HfO_2 缺陷與電荷態</a:t>
            </a:r>
          </a:p>
          <a:p xmlns:a="http://schemas.openxmlformats.org/drawingml/2006/main">
            <a:r>
              <a:t>https://aaltodoc.aalto.fi/bitstreams/f7799961-42b0-4154-b567-fed3163fad5c/download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NIST｜2019 週期表：電子伏特與基本常數</a:t>
            </a:r>
          </a:p>
          <a:p xmlns:a="http://schemas.openxmlformats.org/drawingml/2006/main">
            <a:r>
              <a:t>https://www.nist.gov/system/files/documents/2019/12/10/nist_periodictable_july2019.pdf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3.091｜Lecture 15：半導體與能帶</a:t>
            </a:r>
          </a:p>
          <a:p xmlns:a="http://schemas.openxmlformats.org/drawingml/2006/main">
            <a:r>
              <a:t>https://ocw.mit.edu/courses/3-091-introduction-to-solid-state-chemistry-fall-2018/resources/lecture-15/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量測報告應記錄實際堆疊順序、各層厚度來源、電極面積與接線。假設均勻、同電阻率材料在相同厚度下面積加倍，R 會減半；若只剩一條局部路徑，面積縮放可能不同。這是可測試的模型預測，不是憑一個尺寸就判定機制的法則。 以 SI 計算時，ρ 的單位為 Ω·m，d 用 m，A 用 m^(2)，得到 R 的單位為 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Communications 3, 732（2012）</a:t>
            </a:r>
          </a:p>
          <a:p xmlns:a="http://schemas.openxmlformats.org/drawingml/2006/main">
            <a:r>
              <a:t>https://www.nature.com/articles/ncomms1737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8.02｜平行板電容與幾何尺度</a:t>
            </a:r>
          </a:p>
          <a:p xmlns:a="http://schemas.openxmlformats.org/drawingml/2006/main">
            <a:r>
              <a:t>https://web.mit.edu/8.02t/www/mitxmaterials/InClass/IC_Sol_W04D2_10.pdf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 背景可把 w 想成隱藏狀態，但它不是任意軟體變數，而是物理結構與佔據情形的簡化描述。相同外加電壓下，不同 w 可產生不同電流。實際元件也可能有多個中間電導狀態，但要成為可靠記憶還需確認分布、漂移與可分辨度，不能只展示一次漂亮曲線。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術語先以可觀察的電阻變化定義，再討論微觀原因。不同文章有不同極性與電極接法，讀圖時先核對它們如何定義 V。Forming 只在需要它的材料系統中出現，有些元件設計可免除額外 forming。此頁是角色區分，沒有提供可直接執行的掃描、脈衝或上限參數。 Forming 後不預設一定是 HRS 或 LRS，必須先讀取確認。可切換循環中的 SET 與 RESET 才依 HRS、LRS 的相對定義命名。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等，Nature Communications 3, 732（2012）</a:t>
            </a:r>
          </a:p>
          <a:p xmlns:a="http://schemas.openxmlformats.org/drawingml/2006/main">
            <a:r>
              <a:t>https://www.nature.com/articles/ncomms1737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Pang 與 Deng，CPL 31, 107303（2014）｜Forming-free 範例</a:t>
            </a:r>
          </a:p>
          <a:p xmlns:a="http://schemas.openxmlformats.org/drawingml/2006/main">
            <a:r>
              <a:t>https://cpl.iphy.ac.cn/article/doi/10.1088/0256-307X/31/10/107303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Forming 通常帶來較明顯的結構變化，因此不能把原始元件與循環元件當成相同起始條件。Pang 與 Deng 的特定 Pt/Ti/HfO_x/Pt 堆疊展示 forming-free 行為，僅用來否定「所有 RRAM 必須 forming」的全稱命題。其製程與數值不可抄到未知堆疊。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Pang 與 Deng，CPL 31, 107303（2014）｜Forming-free 範例</a:t>
            </a:r>
          </a:p>
          <a:p xmlns:a="http://schemas.openxmlformats.org/drawingml/2006/main">
            <a:r>
              <a:t>https://cpl.iphy.ac.cn/article/doi/10.1088/0256-307X/31/10/107303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Keithley｜4200A-SCS SMU 使用手冊</a:t>
            </a:r>
          </a:p>
          <a:p xmlns:a="http://schemas.openxmlformats.org/drawingml/2006/main">
            <a:r>
              <a:t>https://www.tek.com/-/media/documents/4200a-smu-900-01a_dec_2020.pdf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非揮發不是永久不變，而是對指定使用要求而言可保持資訊。實驗室短時間讀取資料不能自動推成長期可靠性。為了確認保持，讀取不可過度擾動原狀態；為了確認 read disturb，則需要另外設計讀取次數與狀態漂移測試。這兩種測試目的不同。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RSC Advances（2022）｜NbO_x 揮發性 threshold switching</a:t>
            </a:r>
          </a:p>
          <a:p xmlns:a="http://schemas.openxmlformats.org/drawingml/2006/main">
            <a:r>
              <a:t>https://pubs.rsc.org/en/content/articlepdf/2022/ra/d2ra02930h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「雙極性」不是兩種極性都能隨意寫入同一狀態。電極不對稱、離子供應與界面配置都可能影響它的極性。Threshold switching 可用於選擇器，但是否適合作非揮發儲存，須由撤除刺激後的資料判定。不要把非揮發 memory switching 與 threshold switching 在圖例中混用。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等，Nature Communications 3, 732（2012）</a:t>
            </a:r>
          </a:p>
          <a:p xmlns:a="http://schemas.openxmlformats.org/drawingml/2006/main">
            <a:r>
              <a:t>https://www.nature.com/articles/ncomms1737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RSC Advances（2022）｜NbO_x 揮發性 threshold switching</a:t>
            </a:r>
          </a:p>
          <a:p xmlns:a="http://schemas.openxmlformats.org/drawingml/2006/main">
            <a:r>
              <a:t>https://pubs.rsc.org/en/content/articlepdf/2022/ra/d2ra02930h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把一條 I–V 曲線擬合成 Schottky 或 Poole–Frenkel 型式，並不等於已直接觀察某種缺陷遷移。模型可能在有限區間產生相似曲線，擬合參數也必須有合理物理意義。本課暫不推導這些進階公式，先建立「狀態如何改變」與「該狀態如何傳輸」兩個層次。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在局部通路模型中，細小間隙或路徑連接程度可能控制電流。在界面模型中，接觸附近的障壁或缺陷分布可能主導電流。HRS 仍可有漏電，LRS 也不必等同完整金屬短路。兩種模型可以耦合，需依可區分的測試結果判斷。比較面積效應時應使用一組尺寸與足夠樣本，不能只比較兩個偶然樣品。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等，Nature Communications 3, 732（2012）</a:t>
            </a:r>
          </a:p>
          <a:p xmlns:a="http://schemas.openxmlformats.org/drawingml/2006/main">
            <a:r>
              <a:t>https://www.nature.com/articles/ncomms1737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題 B 的數字純為算術練習，未指定真實讀取偏壓，也不代表樣品表現。建議 30–40 分鐘。C 不需要設計可執行的實驗參數，只需列出保持時間、環境與獨立讀取證據。E 的重點是辨認導電模型與狀態改變機制的不同。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RSC Advances（2022）｜NbO_x 揮發性 threshold switching</a:t>
            </a:r>
          </a:p>
          <a:p xmlns:a="http://schemas.openxmlformats.org/drawingml/2006/main">
            <a:r>
              <a:t>https://pubs.rsc.org/en/content/articlepdf/2022/ra/d2ra02930h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對應練習：D02-19。較合適的用語是「此曲線在所分析區間與某傳輸模型相容」，並附上模型限制。B 若改用不同偏壓，非線性可能讓比值改變。比較不同文獻時，也應核對他們使用 R_HRS/R_LRS 還是 I_LRS/I_HRS，不能只看都寫 on/off ratio 就直接合併。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RSC Advances（2022）｜NbO_x 揮發性 threshold switching</a:t>
            </a:r>
          </a:p>
          <a:p xmlns:a="http://schemas.openxmlformats.org/drawingml/2006/main">
            <a:r>
              <a:t>https://pubs.rsc.org/en/content/articlepdf/2022/ra/d2ra02930h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氧化指失去電子，還原指得到電子，不一定要出現氧氣。反應式中的箭頭表示化學反應方向，而非裝置的接線操作。Yang 等 2012 的原位與非原位 TEM 研究觀察銀導電路徑，也顯示不同微結構下可有不同生長方式。這支持 ECM 的材料依賴性，不支持把所有元件畫成固定單一生長方向。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Communications 3, 732（2012）</a:t>
            </a:r>
          </a:p>
          <a:p xmlns:a="http://schemas.openxmlformats.org/drawingml/2006/main">
            <a:r>
              <a:t>https://www.nature.com/articles/ncomms1737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這裡採常見的 VCM 名稱，不把它當成所有氧化物的唯一機制。氧離子移動、缺陷生成消滅、局部熱與電子輸運可以相互影響。若採用帶電空缺漂移模型，須交代電荷態與邊界條件，不能畫一種固定電荷便宣稱適用所有材料。材料剖面與狀態前後比較通常比單一 I–V 擬合更能縮小機制範圍。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Foster 等，PRB 65, 174117（2002）｜HfO_2 缺陷與電荷態</a:t>
            </a:r>
          </a:p>
          <a:p xmlns:a="http://schemas.openxmlformats.org/drawingml/2006/main">
            <a:r>
              <a:t>https://aaltodoc.aalto.fi/bitstreams/f7799961-42b0-4154-b567-fed3163fad5c/download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本頁是文獻證據比較，沒有把文獻圖像或數值冒充本實驗結果。TEM 是 transmission electron microscopy，能提供局部結構影像，成分分析則協助判斷路徑材料。原位觀察可追蹤切換時演化，但樣品幾何、電子束與取樣位置仍可能影響解讀。Park 等的 bulk switching 結論應表述為該研究的材料與證據所支持的模型。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等，Nature Communications 3, 732（2012）</a:t>
            </a:r>
          </a:p>
          <a:p xmlns:a="http://schemas.openxmlformats.org/drawingml/2006/main">
            <a:r>
              <a:t>https://www.nature.com/articles/ncomms1737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XPS 是 X-ray photoelectron spectroscopy，即 X 光光電子能譜。此處只介紹證據能力，不提供儀器操作程序。機制研究可先做低成本可重現的電性驗證，再選擇真正能區分假說的材料分析，不必為了堆疊表徵方法而做沒有判別力的量測。每個假說都應寫出一個可能讓它失敗的觀察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等，Nature Communications 3, 732（2012）</a:t>
            </a:r>
          </a:p>
          <a:p xmlns:a="http://schemas.openxmlformats.org/drawingml/2006/main">
            <a:r>
              <a:t>https://www.nature.com/articles/ncomms1737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例如兩個狀態的平均電阻相差很大，但分布尾端重疊時仍可能讀錯。Endurance 的循環是否每次都有讀取、是否包含寫入驗證、失敗元件是否留在統計中，都會影響可比性。本頁只定義指標，後續量測與分析冊再教如何設計與作圖，避免在入門時背一串沒有測試條件的性能數字。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此案例完全為教學假設，沒有真實樣品或操作數值。B 另外假設厚度、電阻率、接觸與材料狀態都相同。建議 40 分鐘，以「目前支持／尚未支持／下一個可區分測試」三欄作答。不要從銀電極的存在直接斷言一定是 ECM，它只是提供需要檢驗的候選。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Communications 3, 732（2012）</a:t>
            </a:r>
          </a:p>
          <a:p xmlns:a="http://schemas.openxmlformats.org/drawingml/2006/main">
            <a:r>
              <a:t>https://www.nature.com/articles/ncomms1737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8.02｜平行板電容與幾何尺度</a:t>
            </a:r>
          </a:p>
          <a:p xmlns:a="http://schemas.openxmlformats.org/drawingml/2006/main">
            <a:r>
              <a:t>https://web.mit.edu/8.02t/www/mitxmaterials/InClass/IC_Sol_W04D2_10.pdf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對應練習：D02-26。若選擇材料成分分析作為後續證據，也屬合理，但應說清楚想區分哪兩個機制。題 D 的比值在同偏壓、非零電流且符號定義一致時，對應 R_HRS/R_LRS 的大小比。沒有樣本數與分布，不能宣稱讀取錯誤率、良率或長期可靠度。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Communications 3, 732（2012）</a:t>
            </a:r>
          </a:p>
          <a:p xmlns:a="http://schemas.openxmlformats.org/drawingml/2006/main">
            <a:r>
              <a:t>https://www.nature.com/articles/ncomms1737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Park 等，Nature Communications 15, 3492（2024）</a:t>
            </a:r>
          </a:p>
          <a:p xmlns:a="http://schemas.openxmlformats.org/drawingml/2006/main">
            <a:r>
              <a:t>https://www.nature.com/articles/s41467-024-46682-1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建議交出一頁樣品名詞表與一頁「已知／未知／需詢問」表。未知厚度就標未知，不用文獻常見值補空白。第 7 天用第一、二冊答案檢查自己的弱點，第 8 天開始真空與濺鍍概念。完成自學並不授予獨立操作權，實驗室的正式訓練與督導簽核仍是進場條件。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等，Nature Nanotechnology 3, 429–433（2008）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等，Nature Communications 3, 732（2012）</a:t>
            </a:r>
          </a:p>
          <a:p xmlns:a="http://schemas.openxmlformats.org/drawingml/2006/main">
            <a:r>
              <a:t>https://www.nature.com/articles/ncomms1737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Keithley｜4200A-SCS SMU 使用手冊</a:t>
            </a:r>
          </a:p>
          <a:p xmlns:a="http://schemas.openxmlformats.org/drawingml/2006/main">
            <a:r>
              <a:t>https://www.tek.com/-/media/documents/4200a-smu-900-01a_dec_2020.pdf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406396c1042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db61fa5764c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755e8ae5845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f9b5995e84a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d6bb98cf04c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838943b1049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AF5F91-E083-461C-95A6-BE41E5EAD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274147"/>
            <a:ext cx="8553907" cy="86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5CEC50-6A57-4E1F-BDD3-6DEA437B66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58" y="3310890"/>
            <a:ext cx="7484669" cy="668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91BE2B-801B-42E5-B1D0-0C5DA6FD4E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508250"/>
            <a:ext cx="8553907" cy="10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89FD44-78B6-4EA8-853A-7473D088F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320A45-4D74-4279-AE41-1404C5070B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9489491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1E3B16-BED6-46F7-AC4C-9EFF2EBA6F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5F330E-CCDF-4AC6-A8E6-F9700565AF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DD2344-C9B1-4EBC-8382-4C33F43D10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329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F7B277-C8D0-49AC-AD84-0954BE9B0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80536E-4292-4423-99BB-5EE0BF1416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ed0b3f81144df3" /><Relationship Type="http://schemas.openxmlformats.org/officeDocument/2006/relationships/slideLayout" Target="/ppt/slideLayouts/slideLayout1.xml" Id="R08a3a1fd3f0e4dfb" /><Relationship Type="http://schemas.openxmlformats.org/officeDocument/2006/relationships/slideLayout" Target="/ppt/slideLayouts/slideLayout2.xml" Id="Refcd2de754b64514" /><Relationship Type="http://schemas.openxmlformats.org/officeDocument/2006/relationships/slideLayout" Target="/ppt/slideLayouts/slideLayout3.xml" Id="R5b952dbf6d68454f" /><Relationship Type="http://schemas.openxmlformats.org/officeDocument/2006/relationships/slideLayout" Target="/ppt/slideLayouts/slideLayout4.xml" Id="Rccf5f567beb94766" /><Relationship Type="http://schemas.openxmlformats.org/officeDocument/2006/relationships/slideLayout" Target="/ppt/slideLayouts/slideLayout5.xml" Id="R2a7812af27354340" /><Relationship Type="http://schemas.openxmlformats.org/officeDocument/2006/relationships/slideLayout" Target="/ppt/slideLayouts/slideLayout6.xml" Id="R53dc6bf497cc49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a3a1fd3f0e4dfb"/>
    <p:sldLayoutId xmlns:r="http://schemas.openxmlformats.org/officeDocument/2006/relationships" id="2147483650" r:id="Refcd2de754b64514"/>
    <p:sldLayoutId xmlns:r="http://schemas.openxmlformats.org/officeDocument/2006/relationships" id="2147483651" r:id="R5b952dbf6d68454f"/>
    <p:sldLayoutId xmlns:r="http://schemas.openxmlformats.org/officeDocument/2006/relationships" id="2147483652" r:id="Rccf5f567beb94766"/>
    <p:sldLayoutId xmlns:r="http://schemas.openxmlformats.org/officeDocument/2006/relationships" id="2147483653" r:id="R2a7812af27354340"/>
    <p:sldLayoutId xmlns:r="http://schemas.openxmlformats.org/officeDocument/2006/relationships" id="2147483654" r:id="R53dc6bf497cc49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e798ed09444da" /><Relationship Type="http://schemas.openxmlformats.org/officeDocument/2006/relationships/notesSlide" Target="/ppt/notesSlides/notesSlide1.xml" Id="Rd0ff9f630c4247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c50758aaf4892" /><Relationship Type="http://schemas.openxmlformats.org/officeDocument/2006/relationships/notesSlide" Target="/ppt/notesSlides/notesSlide2.xml" Id="R7e47b9cbf92647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68e7bf1c946b0" /><Relationship Type="http://schemas.openxmlformats.org/officeDocument/2006/relationships/notesSlide" Target="/ppt/notesSlides/notesSlide3.xml" Id="R9295b3e1219143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65a505ece4545" /><Relationship Type="http://schemas.openxmlformats.org/officeDocument/2006/relationships/notesSlide" Target="/ppt/notesSlides/notesSlide4.xml" Id="R968c0d75348541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bb07aa05d4013" /><Relationship Type="http://schemas.openxmlformats.org/officeDocument/2006/relationships/notesSlide" Target="/ppt/notesSlides/notesSlide5.xml" Id="R6670b4f3df7647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a1678b0964d75" /><Relationship Type="http://schemas.openxmlformats.org/officeDocument/2006/relationships/notesSlide" Target="/ppt/notesSlides/notesSlide6.xml" Id="Rd23f8899625f4e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71e63eb0b4413" /><Relationship Type="http://schemas.openxmlformats.org/officeDocument/2006/relationships/notesSlide" Target="/ppt/notesSlides/notesSlide7.xml" Id="R0f627db0978e4a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705351c784ee1" /><Relationship Type="http://schemas.openxmlformats.org/officeDocument/2006/relationships/notesSlide" Target="/ppt/notesSlides/notesSlide8.xml" Id="Rff655617f3474b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a9fd4be67d4818" /><Relationship Type="http://schemas.openxmlformats.org/officeDocument/2006/relationships/notesSlide" Target="/ppt/notesSlides/notesSlide9.xml" Id="R992528d834c64a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c81e4458344f4" /><Relationship Type="http://schemas.openxmlformats.org/officeDocument/2006/relationships/notesSlide" Target="/ppt/notesSlides/notesSlide10.xml" Id="R67bccb58279b4b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5e152243e42e8" /><Relationship Type="http://schemas.openxmlformats.org/officeDocument/2006/relationships/notesSlide" Target="/ppt/notesSlides/notesSlide11.xml" Id="R17a51e70387c47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510e4dc864e26" /><Relationship Type="http://schemas.openxmlformats.org/officeDocument/2006/relationships/notesSlide" Target="/ppt/notesSlides/notesSlide12.xml" Id="R11bb780b3fd644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0f74082d84bb5" /><Relationship Type="http://schemas.openxmlformats.org/officeDocument/2006/relationships/notesSlide" Target="/ppt/notesSlides/notesSlide13.xml" Id="Rcf5ecc4683e549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bbfdf1e3f4eed" /><Relationship Type="http://schemas.openxmlformats.org/officeDocument/2006/relationships/notesSlide" Target="/ppt/notesSlides/notesSlide14.xml" Id="Rfec90fb8db4447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ab4f1cee741db" /><Relationship Type="http://schemas.openxmlformats.org/officeDocument/2006/relationships/notesSlide" Target="/ppt/notesSlides/notesSlide15.xml" Id="Re7c5341dd29743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380b96daa4a95" /><Relationship Type="http://schemas.openxmlformats.org/officeDocument/2006/relationships/notesSlide" Target="/ppt/notesSlides/notesSlide16.xml" Id="R6e068781620144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d3c0f39c74eb4" /><Relationship Type="http://schemas.openxmlformats.org/officeDocument/2006/relationships/notesSlide" Target="/ppt/notesSlides/notesSlide17.xml" Id="R047e28ec34f44c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01330832c4fef" /><Relationship Type="http://schemas.openxmlformats.org/officeDocument/2006/relationships/notesSlide" Target="/ppt/notesSlides/notesSlide18.xml" Id="R7ce34c85de044b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217d3ba80a4e98" /><Relationship Type="http://schemas.openxmlformats.org/officeDocument/2006/relationships/notesSlide" Target="/ppt/notesSlides/notesSlide19.xml" Id="R0118812ee05540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deba7bca94c19" /><Relationship Type="http://schemas.openxmlformats.org/officeDocument/2006/relationships/notesSlide" Target="/ppt/notesSlides/notesSlide20.xml" Id="Ra66e2dbd93a3409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6c37a63514e41" /><Relationship Type="http://schemas.openxmlformats.org/officeDocument/2006/relationships/notesSlide" Target="/ppt/notesSlides/notesSlide21.xml" Id="R17e86b195e8b46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b34a13bfe4cf0" /><Relationship Type="http://schemas.openxmlformats.org/officeDocument/2006/relationships/notesSlide" Target="/ppt/notesSlides/notesSlide22.xml" Id="Rc8a1532ed90d4e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c462b04b44205" /><Relationship Type="http://schemas.openxmlformats.org/officeDocument/2006/relationships/notesSlide" Target="/ppt/notesSlides/notesSlide23.xml" Id="Ra70ce312c8294a2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834d89c05d4d63" /><Relationship Type="http://schemas.openxmlformats.org/officeDocument/2006/relationships/notesSlide" Target="/ppt/notesSlides/notesSlide24.xml" Id="Rea6b6770a7ed42c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6016849fa4f94" /><Relationship Type="http://schemas.openxmlformats.org/officeDocument/2006/relationships/notesSlide" Target="/ppt/notesSlides/notesSlide25.xml" Id="Rf1fb910b7cf041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903a3243504451" /><Relationship Type="http://schemas.openxmlformats.org/officeDocument/2006/relationships/notesSlide" Target="/ppt/notesSlides/notesSlide26.xml" Id="Rf4aae3e28f094aa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06e214ac140a3" /><Relationship Type="http://schemas.openxmlformats.org/officeDocument/2006/relationships/notesSlide" Target="/ppt/notesSlides/notesSlide27.xml" Id="R01dbc461495e47f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e25525edd4186" /><Relationship Type="http://schemas.openxmlformats.org/officeDocument/2006/relationships/notesSlide" Target="/ppt/notesSlides/notesSlide28.xml" Id="R5151af7abd3d49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364CC5-AF1E-433C-9CC9-DA615BEC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原子、電子與離子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CEF0AC9-6CBA-4F3A-B46C-CA4934BD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4CBF2C2-3D68-412B-8F1D-0066B4FB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4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BA1BCDA-5F41-480E-9EF2-311A8CD8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原子由帶正電的原子核與帶負電的電子組成。中性原子的正負電量相等。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1ABEB82-764D-4DCC-8552-AEB2C46C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原子序 Z 等於質子數，決定元素種類。改變電子數通常不會改變元素種類。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870A66B-E74C-4325-B50C-0E503780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原子失去電子成為正離子，得到電子成為負離子。離子可以在材料中移動。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73491D4-8B10-4825-BDCB-01E20D90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價電子參與鍵結與許多電性。化學反應常涉及電子轉移與鍵結重排。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8453104-85EF-4727-BB23-FF52C9CC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離子型 RRAM 涉及電子傳輸及較慢的原子／離子變化，兩者需要分開描述。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43B4F16-0F8A-4183-B509-1D90D038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7436CF75-B8A1-400B-BC88-88CD6917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40FBECF-287E-42C8-9D16-40C791DF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D02-01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6F9DA8-7D86-4AFD-B93E-9153FE24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 / 28</a:t>
            </a:r>
          </a:p>
        </p:txBody>
      </p:sp>
    </p:spTree>
    <p:extLst>
      <p:ext uri="{BB962C8B-B14F-4D97-AF65-F5344CB8AC3E}">
        <p14:creationId xmlns:p14="http://schemas.microsoft.com/office/powerpoint/2010/main" val="2120483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317CB9-8933-4CB8-9DFF-C6E8EA74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材料中的鍵結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255FF22-834F-4C3D-B132-7D329AEB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1496B8-41BD-4AC6-9F3D-82FA8F3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4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D728F0A-2303-4658-B278-B59ABDA0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共價鍵：原子共享電子，電子分布與鍵的方向會影響材料結構。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5517315-D46F-431B-A66C-31406B50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離子鍵：相反電荷之間的吸引可穩定結構。金屬氧化物常同時有離子與共價成分。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5F727383-CE1F-4C82-A4F8-AC6C31F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金屬鍵：較離域的電子參與結合，並支持金屬的電子傳輸。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A1FC95E-3381-4D69-811E-BBC27C21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鍵結、組成與原子排列共同影響能帶、缺陷形成與離子遷移。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0C45B33-3197-48F5-BBAF-76E26A8D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「同樣含氧」不保證相同電性。TiO_2、HfO_2 與含缺氧區域的薄膜需要各自驗證。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61CDC74-B610-4F75-BF0A-BE5C6FC1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A959F00F-CC83-4650-A461-AB5E9A56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A0DE695-F743-4CF9-838E-FDAEBD6B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D02-02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F71799-7C2D-423A-AEA9-9BC65BFD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 / 28</a:t>
            </a:r>
          </a:p>
        </p:txBody>
      </p:sp>
    </p:spTree>
    <p:extLst>
      <p:ext uri="{BB962C8B-B14F-4D97-AF65-F5344CB8AC3E}">
        <p14:creationId xmlns:p14="http://schemas.microsoft.com/office/powerpoint/2010/main" val="71432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832D36-1B17-4249-B2B0-AFF81196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晶體、多晶與非晶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0C84290-3E48-4DFE-ACD3-8C49EE0C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CD61D2-DC70-40B5-8C04-4453D513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4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34B184A-7FB0-4A88-8DE1-48542114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單晶具有長程週期排列。晶胞是用來描述週期重複的基本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結構單位。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DCAFEBC-D834-4F29-8610-53B24EE1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多晶由多個晶粒組成，晶粒的取向不同，交界稱為晶界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grain boundary。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990D9CC-1A0F-4124-BAA6-2A6AE6C7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非晶 amorphous 缺少長程週期，但仍可能具有短程局部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有序。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C0F140BF-2847-4B50-8B0F-88F5F870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89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相同化學組成可以有不同結構，薄膜製程與後續處理可能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改變結構。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F2C08214-7719-4B0F-9A2B-7E548A63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47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晶界、局部配位與密度差異可能影響電流或離子通道，不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能只用元素比例描述。</a:t>
            </a:r>
          </a:p>
        </p:txBody>
      </p:sp>
      <p:sp>
        <p:nvSpPr>
          <p:cNvPr id="9" name="figure-label-0">
            <a:extLst xmlns:a="http://schemas.openxmlformats.org/drawingml/2006/main">
              <a:ext uri="{FF2B5EF4-FFF2-40B4-BE49-F238E27FC236}">
                <a16:creationId xmlns:a16="http://schemas.microsoft.com/office/drawing/2014/main" id="{85D5F518-AD78-411F-906C-2E79556C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1" y="1076325"/>
            <a:ext cx="1320165" cy="263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單晶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A2EE78D-4F3F-48C9-9F63-00FDB054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882" y="18864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AD3D444-EDEA-455C-AC9F-6B0D143E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915" y="18864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3DAE016B-8673-47AC-8507-35CB02B2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948" y="18864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4DDD449-9FC3-49A7-8031-B28FDBA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981" y="18864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87FC3E8-BA8E-473D-BD4B-554B9C76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882" y="231505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A72B990-0B72-44E3-B437-93CBC388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915" y="231505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973EA58-FCA5-4411-A6D4-401BC7ED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948" y="231505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3FD3EACB-62A3-4D12-9E05-8CE224F2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981" y="231505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0F820EC-94F5-406A-B639-67584777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882" y="274367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D411C7D-16DC-4F41-9C76-2E2FFA36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915" y="274367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8C4CC45-71F9-4465-92E8-9F969E49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948" y="274367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609DBDF-EDB8-4C63-8F19-3E1BFDFE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981" y="274367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A06CA7A-1A61-41D3-9607-B2272E59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882" y="317230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44561717-1B00-4699-9606-AC551258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915" y="317230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96C774C-6D6C-4414-AE3C-4D10EC22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948" y="317230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5DC1CCD-5FD0-45B5-9D8C-DDA72074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981" y="317230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E3C4058E-F525-41BC-868B-89C18ABE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882" y="36009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E4744D9F-A728-4523-8723-79393A69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915" y="36009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3A7900C-7065-4001-A167-A4190B52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948" y="36009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406122A-14E1-460A-A0FF-3076295A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981" y="36009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30" name="figure-label-21">
            <a:extLst xmlns:a="http://schemas.openxmlformats.org/drawingml/2006/main">
              <a:ext uri="{FF2B5EF4-FFF2-40B4-BE49-F238E27FC236}">
                <a16:creationId xmlns:a16="http://schemas.microsoft.com/office/drawing/2014/main" id="{FD500ED9-075E-4DE9-9990-65B16155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448" y="1076325"/>
            <a:ext cx="1320165" cy="263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多晶</a:t>
            </a:r>
          </a:p>
        </p:txBody>
      </p:sp>
      <p:sp>
        <p:nvSpPr>
          <p:cNvPr id="3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CB6FBD9-76D1-43AA-ADEC-BA59C77B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069" y="18864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3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2C317D6-45D6-4505-90FA-D205C32F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102" y="18864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3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4D36827E-B119-41A5-80A8-0F41A0BC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135" y="18864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3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2E969E7-551A-4B6B-8632-936BDBE1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68" y="188642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3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4FBDF8A-E758-4B91-A14A-6528CB7C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069" y="231505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3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8CBAFCF-514C-4737-9D09-D789A071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102" y="231505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3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980E9AD-48C2-4811-B4F4-EB047E8D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135" y="231505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3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6894C5E-A737-4475-BF08-FEF5634E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68" y="231505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3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29997F2-B49F-4274-B2A1-75F4A35E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489" y="262366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4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CCF5BDC-8B31-4684-8FA8-AFADB4E7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119" y="2700814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4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D7CA03E4-3694-43F5-B782-57BDA2AA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749" y="277796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4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79BB353-731A-46D6-887D-DDB98B32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378" y="2855119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4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1FFDDAB-07B4-4088-BBB6-033ED90C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674" y="2970848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4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F81058E0-A899-43FF-B5B3-B289D1CC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04" y="3048000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4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E1AD850B-2D73-4497-8A00-B1A379D3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934" y="3125153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4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C8B7BAD-FD18-4967-B609-CFA9E465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63" y="3202305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4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30DC586-35DC-4033-BB89-F7C16174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860" y="3318034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4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D7C1F325-7FEA-4C75-BCE3-565461D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489" y="339518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4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4D1EDEC6-9B2A-4713-B50A-3B4CCF68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119" y="3472339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5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A8A29DB-F1D6-4238-AAEE-9A65EBCF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749" y="354949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51" name="figure-label-42">
            <a:extLst xmlns:a="http://schemas.openxmlformats.org/drawingml/2006/main">
              <a:ext uri="{FF2B5EF4-FFF2-40B4-BE49-F238E27FC236}">
                <a16:creationId xmlns:a16="http://schemas.microsoft.com/office/drawing/2014/main" id="{FF25C2D5-F5CD-43BC-A112-D59D8052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635" y="1076325"/>
            <a:ext cx="1320165" cy="263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非晶</a:t>
            </a:r>
          </a:p>
        </p:txBody>
      </p:sp>
      <p:sp>
        <p:nvSpPr>
          <p:cNvPr id="5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3CBFD55-7C33-43E7-B9BE-31E5B7F0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2256" y="2010728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5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586C625-C8CD-494C-B041-3F7FB96F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785" y="192168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5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D7955E0-855E-46BF-9F37-3C13EC8A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584" y="1782129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5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111C367-F3BA-47D3-B5CC-90CD8242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036" y="1791996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5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C991381-0B8B-4D18-BF43-AFFC0C43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658" y="2434402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5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EF1ED2B-CA88-4123-8BB0-E8B21465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078" y="231560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5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6309729-C2CA-44CB-A57E-2F6F192F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313" y="2196013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5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F6989E4-93D6-4C59-B687-FF69BDBD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960" y="2246968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6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32764DF-8DE2-4852-BD6C-AC322596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392" y="2848568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6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14479AA-818C-49A3-93B9-71AFB841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107" y="2709473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6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4E8922E1-719C-4E28-9E11-4858CA3E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427" y="2619380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6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65FC5DCA-47F6-4513-9DB8-B193F18B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187" y="2707363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6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D9FA9FC-6669-49E9-B2C6-F3F6AB47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948" y="3254379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6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4513B7B-C7E4-4F66-98D5-0EB0A379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459" y="3106069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6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38644F8-2B30-4760-86BB-79C9607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503" y="3052648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6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6F66FB59-CECD-47C6-A833-D34671CE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559" y="3170651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6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1C27F82-98C7-4E87-8FB5-9891EDDD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117" y="3653652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6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CF20BFD-ADF9-4A20-B752-5AB2B9C4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641" y="3507942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7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D3E2FC4-CC58-46A1-AC21-08E7443D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321" y="3495448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7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4B5623CA-7C26-433B-8BEF-34592294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221" y="3634070"/>
            <a:ext cx="96812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86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72" name="figure-label-63">
            <a:extLst xmlns:a="http://schemas.openxmlformats.org/drawingml/2006/main">
              <a:ext uri="{FF2B5EF4-FFF2-40B4-BE49-F238E27FC236}">
                <a16:creationId xmlns:a16="http://schemas.microsoft.com/office/drawing/2014/main" id="{881AFA01-6CF7-48BB-925B-56838D74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62463"/>
            <a:ext cx="44005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原創結構示意，非顯微影像；非晶仍有局部有序</a:t>
            </a:r>
          </a:p>
        </p:txBody>
      </p:sp>
      <p:sp>
        <p:nvSpPr>
          <p:cNvPr id="73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DF9B572-780F-4E11-ACC3-4F5804A3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74" name="footer">
            <a:extLst xmlns:a="http://schemas.openxmlformats.org/drawingml/2006/main">
              <a:ext uri="{FF2B5EF4-FFF2-40B4-BE49-F238E27FC236}">
                <a16:creationId xmlns:a16="http://schemas.microsoft.com/office/drawing/2014/main" id="{432CF1E2-5EB1-4AA7-A181-0753D55D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75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01DD8E7-582C-4CFD-89A3-F861C602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D02-03</a:t>
            </a:r>
          </a:p>
        </p:txBody>
      </p:sp>
      <p:sp>
        <p:nvSpPr>
          <p:cNvPr id="7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607EF7-A86A-4BFB-AFB3-4CBC439F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 / 28</a:t>
            </a:r>
          </a:p>
        </p:txBody>
      </p:sp>
    </p:spTree>
    <p:extLst>
      <p:ext uri="{BB962C8B-B14F-4D97-AF65-F5344CB8AC3E}">
        <p14:creationId xmlns:p14="http://schemas.microsoft.com/office/powerpoint/2010/main" val="908807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257087-C88C-47D2-9BC3-798DA5FB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缺陷的種類與角色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A5ADF30-6AFB-409B-9396-012B5029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22E2C3-2FFF-48B3-B6FD-CA654522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4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07E5AE7-F41E-47DE-ACB2-122BD91B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空缺 vacancy：原本應有原子的位點缺少原子。間隙 interstitial：原子位於額外位置。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1080718-87CD-49C5-85B4-A9B12985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置換 substitution：另一種原子佔據原本位點。晶界是不同晶粒間的界面缺陷。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462428B-29CC-464E-8C43-BFF18761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缺陷可改變電子能態、局部應力或遷移路徑，其效果取決於種類與環境。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6E5E792-CA11-4856-BA9E-00E9EB4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缺陷工程可以有目的地調整電性，缺陷數越少並非所有元件的共同最佳答案。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EA25150-54CA-48D9-B224-C152C44C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單一電阻變化無法量出缺陷的種類、數量與空間分布。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40DA68F1-C6E9-4111-A0CF-6EB45148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E854437A-B3B7-40D2-A9CF-90BF9415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1A074AB-B47F-4CEC-BC81-4CC2DF12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D02-04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4232D0-04B7-4163-9AFE-BAE0F181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4 / 28</a:t>
            </a:r>
          </a:p>
        </p:txBody>
      </p:sp>
    </p:spTree>
    <p:extLst>
      <p:ext uri="{BB962C8B-B14F-4D97-AF65-F5344CB8AC3E}">
        <p14:creationId xmlns:p14="http://schemas.microsoft.com/office/powerpoint/2010/main" val="1934431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FF0FD9-80CA-4BB8-90C6-E31AF99C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氧空缺的精確說法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3C5A6D8-DE5F-4BAB-92A6-8B7ACF39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90DC14-1E36-40BA-91B2-1BCA4150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4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B638BA3-E39C-4545-BD4F-D00C12E0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氧空缺 V_O 描述氧位點缺氧的缺陷，與氧氣分子 O_2、自由電子皆不同。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B00A442-01F1-44A3-AEE2-52D893C3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氧空缺可以有不同電荷態。其有效電荷取決於電子佔據、材料與局部環境。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8D319AD-FDE8-406C-910E-84D51F65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某些模型用帶正電的氧空缺描述遷移，但不能宣稱所有 V_O 永遠帶 +2 電荷。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64E810C-5C4A-4411-A83C-8042077C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氧離子移動到鄰近空缺後，空缺位置看似往反方向移動，這是缺陷記帳方式。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E0804DA2-35B4-4865-A5C2-9A4CB91D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缺氧可能改變導電路徑或界面，但「更多空缺必然更好」沒有普遍保證。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6041380-7FE2-468C-9842-1FB6703C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4A3B7C1-94E5-451C-BE2C-E004BF26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E494CFB-A7D5-438D-83C8-CF4B8B26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D02-05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4B2A81-A564-4113-85A6-282CC432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 / 28</a:t>
            </a:r>
          </a:p>
        </p:txBody>
      </p:sp>
    </p:spTree>
    <p:extLst>
      <p:ext uri="{BB962C8B-B14F-4D97-AF65-F5344CB8AC3E}">
        <p14:creationId xmlns:p14="http://schemas.microsoft.com/office/powerpoint/2010/main" val="372524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54BC7C-81FE-4163-AB41-5E8F3446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電子伏特 eV 是能量單位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F056604-120A-4613-9150-13BB9DFA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9BDA65C-064F-4C19-8852-FFB6A48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4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0DBA427-DF05-47B1-B827-E18D9B6F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1 eV = 1.602176634 × 10^(-19) J，是能量單位，與伏特 V 不同。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DFB8905-60DA-4301-93CE-1AEE9C4E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一個基本電荷通過 1 V 電位差，對應 1 eV 的能量變化大小。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A83CF69-DF54-4A83-B7B1-F35B2724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假設某能障為 0.8 eV，其能量為 1.28×10^(-19) J。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FF284B9-A6F6-464F-A22B-33D99B90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若電荷量為 2e、電位差為 0.3 V，能量變化大小為 0.6 eV。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1D84A5C-CFCC-4CBC-A7B1-0E5CF23F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能障高度不等於樣品的切換電壓，實際轉換還涉及電場分布、時間與溫度。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C90D971-EF35-4AF6-B675-162C5996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3500191-E089-4FA3-AAEA-ED2FDA3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BC034A0-4527-4855-8F67-46EB29A0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D02-06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FDB96D-4040-4775-81AF-6DDCB882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6 / 28</a:t>
            </a:r>
          </a:p>
        </p:txBody>
      </p:sp>
    </p:spTree>
    <p:extLst>
      <p:ext uri="{BB962C8B-B14F-4D97-AF65-F5344CB8AC3E}">
        <p14:creationId xmlns:p14="http://schemas.microsoft.com/office/powerpoint/2010/main" val="1315064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DA3D6A-D6C3-4230-AC46-2E53CD1C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最簡單的能帶圖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67B04E8-CEF2-4DF6-83D0-132A41F2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6521D61-B1BA-4039-B7DC-DDDEC95D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4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741C404-E4B8-4C33-93F6-20711A12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大量原子組成固體後，可用能帶描述許多允許的電子能量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狀態。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D70EF75-0F38-4211-B2E4-4E3B0C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價帶上緣 E_V 與導帶下緣 E_C 之差稱能隙 E_g = E_C -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E_V。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508F728-27EA-4082-AAD9-7478C433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費米能 E_F 是描述電子佔據的參考。金屬在 E_F 附近有可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用電子態。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9E7940B-13EA-40E3-A201-25A53D63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89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理想半導體與能帶絕緣體在能隙內沒有延展態。缺陷可引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入局部能態。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B142B9E-8AF3-455B-8778-DCCC200F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47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能帶圖的縱軸是電子能量，不能把它當作原子高度或電壓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掃描時間。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66A4625-5E53-4569-9228-ADED20DD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06300" y="1247775"/>
            <a:ext cx="95" cy="30432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57889"/>
            </a:solidFill>
            <a:prstDash val="solid"/>
          </a:ln>
        </p:spPr>
      </p:sp>
      <p:sp>
        <p:nvSpPr>
          <p:cNvPr id="10" name="figure-label-1">
            <a:extLst xmlns:a="http://schemas.openxmlformats.org/drawingml/2006/main">
              <a:ext uri="{FF2B5EF4-FFF2-40B4-BE49-F238E27FC236}">
                <a16:creationId xmlns:a16="http://schemas.microsoft.com/office/drawing/2014/main" id="{5CF6E3FE-339C-4505-9147-444A685A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311" y="1012031"/>
            <a:ext cx="352044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電子能量</a:t>
            </a:r>
          </a:p>
        </p:txBody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083CD42-33C8-4F30-B4A1-0D3942AD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1933575"/>
            <a:ext cx="33004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20A7406-3983-412E-8647-A3C0614B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3733800"/>
            <a:ext cx="33004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5B1014C-AA2D-4C4D-87B9-8CCA1129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2919413"/>
            <a:ext cx="33004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36A32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1281B14-3A87-4835-87FC-7EBBA78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6465" y="3305175"/>
            <a:ext cx="660082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5D94"/>
            </a:solidFill>
            <a:prstDash val="solid"/>
          </a:ln>
        </p:spPr>
      </p:sp>
      <p:sp>
        <p:nvSpPr>
          <p:cNvPr id="15" name="figure-label-6">
            <a:extLst xmlns:a="http://schemas.openxmlformats.org/drawingml/2006/main">
              <a:ext uri="{FF2B5EF4-FFF2-40B4-BE49-F238E27FC236}">
                <a16:creationId xmlns:a16="http://schemas.microsoft.com/office/drawing/2014/main" id="{6A268974-F884-46D7-B49A-11C23FBF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349" y="1569244"/>
            <a:ext cx="352044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E_C：導帶下緣</a:t>
            </a:r>
          </a:p>
        </p:txBody>
      </p:sp>
      <p:sp>
        <p:nvSpPr>
          <p:cNvPr id="16" name="figure-label-7">
            <a:extLst xmlns:a="http://schemas.openxmlformats.org/drawingml/2006/main">
              <a:ext uri="{FF2B5EF4-FFF2-40B4-BE49-F238E27FC236}">
                <a16:creationId xmlns:a16="http://schemas.microsoft.com/office/drawing/2014/main" id="{C25095CD-37BF-474A-8828-ADF60220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349" y="3819525"/>
            <a:ext cx="352044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E_V：價帶上緣</a:t>
            </a:r>
          </a:p>
        </p:txBody>
      </p:sp>
      <p:sp>
        <p:nvSpPr>
          <p:cNvPr id="17" name="figure-label-8">
            <a:extLst xmlns:a="http://schemas.openxmlformats.org/drawingml/2006/main">
              <a:ext uri="{FF2B5EF4-FFF2-40B4-BE49-F238E27FC236}">
                <a16:creationId xmlns:a16="http://schemas.microsoft.com/office/drawing/2014/main" id="{C9450DB2-A41A-4A49-AEC7-6AC1224D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640806"/>
            <a:ext cx="1100138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E_F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F431723-C2C0-4498-BC65-7EB483B7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30415" y="1933575"/>
            <a:ext cx="95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57889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BEB8CB2-58E5-4981-89D0-5392D15C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2404" y="1933575"/>
            <a:ext cx="176022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57889"/>
            </a:solidFill>
            <a:prstDash val="solid"/>
          </a:ln>
        </p:spPr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2F938B7-47A3-4D32-84B3-53DA8E9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2404" y="3733800"/>
            <a:ext cx="176022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57889"/>
            </a:solidFill>
            <a:prstDash val="solid"/>
          </a:ln>
        </p:spPr>
      </p:sp>
      <p:sp>
        <p:nvSpPr>
          <p:cNvPr id="21" name="figure-label-12">
            <a:extLst xmlns:a="http://schemas.openxmlformats.org/drawingml/2006/main">
              <a:ext uri="{FF2B5EF4-FFF2-40B4-BE49-F238E27FC236}">
                <a16:creationId xmlns:a16="http://schemas.microsoft.com/office/drawing/2014/main" id="{DDA879B1-9FF9-4187-ACE7-A421DC48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335" y="2533650"/>
            <a:ext cx="616077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E_g</a:t>
            </a:r>
          </a:p>
        </p:txBody>
      </p:sp>
      <p:sp>
        <p:nvSpPr>
          <p:cNvPr id="22" name="figure-label-13">
            <a:extLst xmlns:a="http://schemas.openxmlformats.org/drawingml/2006/main">
              <a:ext uri="{FF2B5EF4-FFF2-40B4-BE49-F238E27FC236}">
                <a16:creationId xmlns:a16="http://schemas.microsoft.com/office/drawing/2014/main" id="{CE60AFF2-0356-4054-9640-68784346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443" y="3369469"/>
            <a:ext cx="2640330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可能的局部缺陷態</a:t>
            </a:r>
          </a:p>
        </p:txBody>
      </p:sp>
      <p:sp>
        <p:nvSpPr>
          <p:cNvPr id="2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BA9CAFB-EC5F-4054-8EC8-0FAE14C3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06300" y="4291013"/>
            <a:ext cx="374046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57889"/>
            </a:solidFill>
            <a:prstDash val="solid"/>
          </a:ln>
        </p:spPr>
      </p:sp>
      <p:sp>
        <p:nvSpPr>
          <p:cNvPr id="24" name="figure-label-15">
            <a:extLst xmlns:a="http://schemas.openxmlformats.org/drawingml/2006/main">
              <a:ext uri="{FF2B5EF4-FFF2-40B4-BE49-F238E27FC236}">
                <a16:creationId xmlns:a16="http://schemas.microsoft.com/office/drawing/2014/main" id="{8EC88AD8-6DAF-4F01-8DDE-3312FA14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635" y="4333875"/>
            <a:ext cx="1276160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位置 x</a:t>
            </a:r>
          </a:p>
        </p:txBody>
      </p:sp>
      <p:sp>
        <p:nvSpPr>
          <p:cNvPr id="25" name="figure-label-16">
            <a:extLst xmlns:a="http://schemas.openxmlformats.org/drawingml/2006/main">
              <a:ext uri="{FF2B5EF4-FFF2-40B4-BE49-F238E27FC236}">
                <a16:creationId xmlns:a16="http://schemas.microsoft.com/office/drawing/2014/main" id="{E2BA850A-429E-4234-84B8-91894826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258" y="4719638"/>
            <a:ext cx="4268534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定性示意，無特定材料數值</a:t>
            </a:r>
          </a:p>
        </p:txBody>
      </p:sp>
      <p:sp>
        <p:nvSpPr>
          <p:cNvPr id="26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4B88EF6-00B1-4836-AF9B-12751C6C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3ACFA974-C6E8-4A72-8757-E055A699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8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351E831-E77D-4B72-AB77-7BECDF7F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D02-07</a:t>
            </a:r>
          </a:p>
        </p:txBody>
      </p:sp>
      <p:sp>
        <p:nvSpPr>
          <p:cNvPr id="2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EC7F29-A784-4FB3-8C62-7E32FDC2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7 / 28</a:t>
            </a:r>
          </a:p>
        </p:txBody>
      </p:sp>
    </p:spTree>
    <p:extLst>
      <p:ext uri="{BB962C8B-B14F-4D97-AF65-F5344CB8AC3E}">
        <p14:creationId xmlns:p14="http://schemas.microsoft.com/office/powerpoint/2010/main" val="1177505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3EE950-B231-421F-90E8-729500B9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電極接觸與界面障壁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A715721-3C28-4602-8AEA-D913D990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06BF02-1527-4308-B0C2-8D8525EF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4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43F5A7F-6721-47A4-8D34-9BF10E56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金屬接觸另一材料時，電子重新分布，界面可能形成阻擋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注入的能量障壁。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BBA34FA-9286-411F-885C-92248F85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功函數描述電子由金屬費米能移到真空所需的能量，常用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eV 表示。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54FD16F-5511-4490-BAA2-2AEB6C26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材料能帶排列、界面反應及缺陷共同決定實際障壁，不能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只看金屬名稱。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A45E7308-FB22-4C7C-BB90-7C3ED07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89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電子可透過熱激發越障或穿隧等方式傳輸。這些是導電機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制的候選。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765359F-773E-40A1-97B6-2DFF4F15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47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若界面障壁隨狀態改變，總電流可顯著改變，即使整層膜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沒有形成均勻金屬。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50F16B1-F087-487A-9CA1-070D0EE5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06300" y="1247775"/>
            <a:ext cx="95" cy="30432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57889"/>
            </a:solidFill>
            <a:prstDash val="solid"/>
          </a:ln>
        </p:spPr>
      </p:sp>
      <p:sp>
        <p:nvSpPr>
          <p:cNvPr id="10" name="figure-label-1">
            <a:extLst xmlns:a="http://schemas.openxmlformats.org/drawingml/2006/main">
              <a:ext uri="{FF2B5EF4-FFF2-40B4-BE49-F238E27FC236}">
                <a16:creationId xmlns:a16="http://schemas.microsoft.com/office/drawing/2014/main" id="{B666F806-54BD-4A8C-9FE4-E2AB4C74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311" y="1012031"/>
            <a:ext cx="352044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電子能量</a:t>
            </a:r>
          </a:p>
        </p:txBody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F340E5A-5BFD-46B7-AA5D-327FDC67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443" y="1676400"/>
            <a:ext cx="1452182" cy="2443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B9D9D7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44FA620-290F-402D-8336-1059A23B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8316" y="3519488"/>
            <a:ext cx="3608451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36A32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29EB22C-1842-41AE-9D0B-1E56A396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50443" y="1890713"/>
            <a:ext cx="1452182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E326B91-5324-4485-8FA5-49795006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50443" y="1890713"/>
            <a:ext cx="95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F677C59-1288-443C-B0C1-5173A5E3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02624" y="1890713"/>
            <a:ext cx="95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6" name="figure-label-7">
            <a:extLst xmlns:a="http://schemas.openxmlformats.org/drawingml/2006/main">
              <a:ext uri="{FF2B5EF4-FFF2-40B4-BE49-F238E27FC236}">
                <a16:creationId xmlns:a16="http://schemas.microsoft.com/office/drawing/2014/main" id="{74F0E394-489D-489C-972B-F354F4A6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321" y="3990975"/>
            <a:ext cx="1012127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金屬</a:t>
            </a:r>
          </a:p>
        </p:txBody>
      </p:sp>
      <p:sp>
        <p:nvSpPr>
          <p:cNvPr id="17" name="figure-label-8">
            <a:extLst xmlns:a="http://schemas.openxmlformats.org/drawingml/2006/main">
              <a:ext uri="{FF2B5EF4-FFF2-40B4-BE49-F238E27FC236}">
                <a16:creationId xmlns:a16="http://schemas.microsoft.com/office/drawing/2014/main" id="{CF868BE1-9551-447D-8D4E-09DD7E07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459" y="3990975"/>
            <a:ext cx="132016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介電層</a:t>
            </a:r>
          </a:p>
        </p:txBody>
      </p:sp>
      <p:sp>
        <p:nvSpPr>
          <p:cNvPr id="18" name="figure-label-9">
            <a:extLst xmlns:a="http://schemas.openxmlformats.org/drawingml/2006/main">
              <a:ext uri="{FF2B5EF4-FFF2-40B4-BE49-F238E27FC236}">
                <a16:creationId xmlns:a16="http://schemas.microsoft.com/office/drawing/2014/main" id="{36A2E539-F92E-4A2B-802E-18EC8DC0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652" y="3990975"/>
            <a:ext cx="1100138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金屬</a:t>
            </a:r>
          </a:p>
        </p:txBody>
      </p:sp>
      <p:sp>
        <p:nvSpPr>
          <p:cNvPr id="19" name="figure-label-10">
            <a:extLst xmlns:a="http://schemas.openxmlformats.org/drawingml/2006/main">
              <a:ext uri="{FF2B5EF4-FFF2-40B4-BE49-F238E27FC236}">
                <a16:creationId xmlns:a16="http://schemas.microsoft.com/office/drawing/2014/main" id="{A08CFF77-C2E7-4504-9946-F411C5CE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454" y="2190750"/>
            <a:ext cx="1320165" cy="48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注入障壁（示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意）</a:t>
            </a:r>
          </a:p>
        </p:txBody>
      </p:sp>
      <p:sp>
        <p:nvSpPr>
          <p:cNvPr id="20" name="figure-label-11">
            <a:extLst xmlns:a="http://schemas.openxmlformats.org/drawingml/2006/main">
              <a:ext uri="{FF2B5EF4-FFF2-40B4-BE49-F238E27FC236}">
                <a16:creationId xmlns:a16="http://schemas.microsoft.com/office/drawing/2014/main" id="{53425B22-F3F5-40BC-B239-1F09FD9C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30" y="3626644"/>
            <a:ext cx="3300413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平衡 E_F</a:t>
            </a:r>
          </a:p>
        </p:txBody>
      </p:sp>
      <p:sp>
        <p:nvSpPr>
          <p:cNvPr id="2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D01C8D9-BBEF-4C45-BF38-B75D55E0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06300" y="4291013"/>
            <a:ext cx="374046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57889"/>
            </a:solidFill>
            <a:prstDash val="solid"/>
          </a:ln>
        </p:spPr>
      </p:sp>
      <p:sp>
        <p:nvSpPr>
          <p:cNvPr id="22" name="figure-label-13">
            <a:extLst xmlns:a="http://schemas.openxmlformats.org/drawingml/2006/main">
              <a:ext uri="{FF2B5EF4-FFF2-40B4-BE49-F238E27FC236}">
                <a16:creationId xmlns:a16="http://schemas.microsoft.com/office/drawing/2014/main" id="{88C7A938-CFB1-48AD-93BA-D41B5E60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635" y="4333875"/>
            <a:ext cx="1276160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位置 x</a:t>
            </a:r>
          </a:p>
        </p:txBody>
      </p:sp>
      <p:sp>
        <p:nvSpPr>
          <p:cNvPr id="23" name="figure-label-14">
            <a:extLst xmlns:a="http://schemas.openxmlformats.org/drawingml/2006/main">
              <a:ext uri="{FF2B5EF4-FFF2-40B4-BE49-F238E27FC236}">
                <a16:creationId xmlns:a16="http://schemas.microsoft.com/office/drawing/2014/main" id="{9954256C-EAF4-4A63-998C-AB49AADA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258" y="4719638"/>
            <a:ext cx="4268534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零偏壓示意；界面反應可能改變障壁</a:t>
            </a:r>
          </a:p>
        </p:txBody>
      </p:sp>
      <p:sp>
        <p:nvSpPr>
          <p:cNvPr id="2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DF0013C-4C14-4820-AF27-650318BA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4B086E89-BCC2-48D7-BF3A-1BC5EF81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6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663B8F1-CDC8-45E6-93AD-D74E7099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D02-08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FDA0B3-DD19-464A-BD0F-AEE75700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8 / 28</a:t>
            </a:r>
          </a:p>
        </p:txBody>
      </p:sp>
    </p:spTree>
    <p:extLst>
      <p:ext uri="{BB962C8B-B14F-4D97-AF65-F5344CB8AC3E}">
        <p14:creationId xmlns:p14="http://schemas.microsoft.com/office/powerpoint/2010/main" val="1393507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FA59F2-26E9-4732-9F40-B0D810E8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4 天練習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21AFAC0-2252-4319-8F3C-F9C260E9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F4E503-4F91-41CE-9625-EF8B474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4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3EB9472-45CB-4D41-B0EE-705D2C4E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A｜用一句話分別定義離子、晶界、非晶、氧空缺。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29ACA04-B971-4F9A-B6A0-5DDF3402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B｜判斷：「非晶完全沒有局部結構」「所有氧空缺固定帶 +2 電荷」。各寫理由。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82C9B5E-4B07-4D8F-B192-5976126F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C｜假想能障 1.5 eV 等於多少 J？可以因此直接設定 1.5 V 嗎？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DFAA850-137A-475A-8721-365F2960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D｜在圖上標出 E_C、E_V、E_g、E_F，說明縱軸量的是什麼。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86C88F9-C82B-431E-8A51-4DD69EB6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E｜兩片元素比例相同的氧化物薄膜，為何仍可能呈現不同電性？列出兩個可能因素。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7FC04EE-5203-4981-8096-6AFEBABE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B139A15F-E66D-4504-9CCD-7E3DB0C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87CE81FA-F0EF-4E41-840E-E1857B01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D02-09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8C35DB-9149-49C6-825D-13A32937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9 / 28</a:t>
            </a:r>
          </a:p>
        </p:txBody>
      </p:sp>
    </p:spTree>
    <p:extLst>
      <p:ext uri="{BB962C8B-B14F-4D97-AF65-F5344CB8AC3E}">
        <p14:creationId xmlns:p14="http://schemas.microsoft.com/office/powerpoint/2010/main" val="2008067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5E227A-AFBB-4D03-9E74-320FA818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4 天解答與誤解修正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8E13B05-6E83-4787-9036-3F4ACB74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CC40C99-B501-4B04-8FA5-06229963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4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EF6E2AA-4255-4F12-9E20-967EE682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A｜離子有淨電荷；晶界連接不同取向晶粒；非晶缺少長程週期；氧空缺指氧位點缺氧。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CCAFEEC-7A30-4E0D-B6AD-5119C657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B｜兩句都不成立：非晶可有短程有序，氧空缺電荷態隨材料與電子佔據改變。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6E40FE3-1DD5-4DD7-A32A-2719C064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C｜1.5 × 1.602×10^(-19) ≈ 2.4×10^(-19) J，不能直接推成端點切換電壓。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359B218-D821-42F0-BF65-06E018BB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D｜縱軸是電子能量，E_g 是 E_C 與 E_V 的差，E_F 用於描述電子佔據。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F823D5B8-D6AB-48A4-9B53-35AB4508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E｜可能因素包括晶相／非晶結構、缺陷分布、厚度與電極界面，仍須量測辨識。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3589241-9459-4DEF-ABBF-C7F07280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297AEFB-4147-4331-9A05-F7A8668D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343AE37-952B-494A-B04B-F5663B51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D02-10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5BAF5E-7CDA-40F7-872A-AB8D0D42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1092909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AA19B4-60F7-4CCB-B0A5-FAA0A314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金屬—絕緣層—金屬元件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00BC21F-DCB0-4E26-A409-B5FA5C85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33B6A1C-EF02-4055-A8A0-783F3723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5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3B81180-51DE-4C8F-B35E-10291E29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MIM 指 metal–insulator–metal：兩個電極夾住功能薄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膜，是常見 RRAM 單元幾何。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7290253-72A7-438B-A475-6FD6FD4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上電極 TE 與下電極 BE 是位置名稱，不能僅憑名稱決定正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負偏壓。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23C48DC-F697-4209-A416-CF31D623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本課定義 V = V_TE - V_BE，正電流由 TE 流入元件。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AD4E1893-B05D-449A-9094-7291CCD0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926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均勻歐姆模型 R = ρd/A，ρ 是電阻率，d 是厚度，A 是面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積。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80876E7-CAB1-495A-992D-46AA1A55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4719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局部導電絲或界面主導時，R 未必遵循這個均勻體材料公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式。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2E74E4F-D2A6-4375-BCA1-0357EF60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33475"/>
            <a:ext cx="3714750" cy="533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上電極 TE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364A75D1-7743-42C6-8F11-1D0CD723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67203"/>
            <a:ext cx="3714750" cy="13137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功能薄膜，厚度 d</a:t>
            </a:r>
          </a:p>
        </p:txBody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ABBB123-89F8-402F-8DF3-4494BD8D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80997"/>
            <a:ext cx="3714750" cy="533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下電極 BE</a:t>
            </a:r>
          </a:p>
        </p:txBody>
      </p:sp>
      <p:sp>
        <p:nvSpPr>
          <p:cNvPr id="12" name="stack-scientific-labels">
            <a:extLst xmlns:a="http://schemas.openxmlformats.org/drawingml/2006/main">
              <a:ext uri="{FF2B5EF4-FFF2-40B4-BE49-F238E27FC236}">
                <a16:creationId xmlns:a16="http://schemas.microsoft.com/office/drawing/2014/main" id="{6F30305C-EAE1-42AB-A250-379BE60D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57600"/>
            <a:ext cx="411480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重疊面積 A。V_TE - V_BE。I 由 TE 流入</a:t>
            </a:r>
          </a:p>
        </p:txBody>
      </p:sp>
      <p:sp>
        <p:nvSpPr>
          <p:cNvPr id="13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03FFE9C6-2C1C-4724-BA39-7859AB0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截面示意，不按比例</a:t>
            </a:r>
          </a:p>
        </p:txBody>
      </p:sp>
      <p:sp>
        <p:nvSpPr>
          <p:cNvPr id="1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5C6907D-B69F-44F2-A2AE-22479DEA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52B7AAF4-6BFA-42C8-B4E6-3F9888DA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6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2D89992-640E-4C61-B613-0A68CE8F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D02-11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4BD326-65A7-4DF2-88F9-68C36EF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21357753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B040F6-BBF9-4786-AC40-74A0A8A4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電阻式記憶的狀態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72D61A6-87D9-400A-8EE6-E3F9587C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10B0C3-7E61-46A1-B394-4E23AB39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5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4BAD051-B819-4F6E-9B10-D3576753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RRAM 以可寫入的電阻／電導狀態承載資訊，通常以讀取電流區分狀態。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7ADD0F3-21E7-4A77-8867-1B2856B5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HRS 是較高電阻狀態，LRS 是較低電阻狀態，必須在相同讀取條件比較。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F5A1E03-0DEA-4717-86B9-2F99A325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內部狀態 w 可抽象表示缺陷分布、導電絲間隙或界面狀態，I = f(V,w)。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DF3FAA2-5EC7-46A3-9DD8-7D80EF6C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寫入會改變 w；讀取則希望辨識 w，同時讓狀態變化小到可接受。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3D1FCC0-0458-4F7D-B53C-991754E7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「0」與「1」對應 HRS 或 LRS 是編碼選擇，材料本身沒有固定的位元名稱。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115C18C-07E3-4E67-A77E-9B8EAC96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AFDDE96-F8CE-465F-9C45-808BA522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375AE1F-0907-4ABE-B3D2-7D0F93B1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D02-12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E31611-85FD-4DBD-BB84-6BBA187D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17759471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6DF8EC-8B7E-4360-994E-21948A7F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Forming、SET、RESET 與 READ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444A46D-399D-4E82-804E-2E4E2AD9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1E340C-E1CC-45D2-8051-A8F91C73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5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9381D16F-4F20-48CD-8D08-49EBAD0D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Forming：某些元件首次建立可切換結構的初始化過程，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可能不可逆地改變原始薄膜。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ADEEC86-7DAA-4AE3-82F1-73CBAE35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SET：由 HRS 轉到 LRS。RESET：由 LRS 轉到 HRS。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7921900-B1E6-4DF3-BD63-45DFF943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3134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READ：在已核准且經驗證的讀取條件下辨識狀態，需控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制讀取擾動。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BE4FAF7-ACC4-44A2-86E8-7C9A435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926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SET 不等於「加正電壓」，RESET 也不等於「加負電壓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」，方向取決於堆疊與定義。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8EC2A21-3F17-4B48-9878-52657C3F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4719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原始態 pristine、經 forming 的 HRS 與循環後 HRS 可能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不同，應分開記錄。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16820D6-4FF8-4722-8342-2A0D1809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904875"/>
            <a:ext cx="352044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原始態 pristine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41B68200-2126-4AEB-A84A-6B1DAE15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1569244"/>
            <a:ext cx="352044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若需 forming：初始化</a:t>
            </a:r>
          </a:p>
        </p:txBody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4AB17DD-13B2-4760-B91B-615FDE5A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397794"/>
            <a:ext cx="9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DE41D79-A8C5-4ECD-9A9B-A4996853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474946"/>
            <a:ext cx="52807" cy="942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FF2447A-74C7-4B79-97C3-C2A05771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7718" y="1474946"/>
            <a:ext cx="52807" cy="942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6E4F251-DFD2-4045-BD50-574D070A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2233613"/>
            <a:ext cx="352044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READ 確認實際狀態</a:t>
            </a:r>
          </a:p>
        </p:txBody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60FE1C0-545E-4C6B-9F1E-B41E79BE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062163"/>
            <a:ext cx="9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5EB0404-00EF-458C-B98F-541C421D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139315"/>
            <a:ext cx="52807" cy="942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ACA72CC-D082-4D23-8343-AA11EFA1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7718" y="2139315"/>
            <a:ext cx="52807" cy="942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730CCD1-CB4A-4AE0-80BC-C7535164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294" y="3562350"/>
            <a:ext cx="1232154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HRS</a:t>
            </a:r>
          </a:p>
        </p:txBody>
      </p:sp>
      <p:sp>
        <p:nvSpPr>
          <p:cNvPr id="1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DA32156C-05AE-44AB-B370-11BA494D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602" y="3562350"/>
            <a:ext cx="1232154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LRS</a:t>
            </a:r>
          </a:p>
        </p:txBody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D91D865-86AC-4499-9B2D-3DD62333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94448" y="3690938"/>
            <a:ext cx="123215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2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AD0358D-48CD-4B0D-B011-3EE7F5DD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529790" y="3639503"/>
            <a:ext cx="96812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2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8E27D56-0BE4-49C3-935B-6BD8FC5C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529790" y="3690938"/>
            <a:ext cx="96812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2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5973D86-5C46-4E21-9DCE-4741B973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94448" y="4033838"/>
            <a:ext cx="123215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2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0CA8335-F029-4B28-91BE-55FE612A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94448" y="4033838"/>
            <a:ext cx="96812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2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C63FCAE-7694-42BF-BC16-173F80F2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94448" y="3982403"/>
            <a:ext cx="96812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26" name="figure-label-17">
            <a:extLst xmlns:a="http://schemas.openxmlformats.org/drawingml/2006/main">
              <a:ext uri="{FF2B5EF4-FFF2-40B4-BE49-F238E27FC236}">
                <a16:creationId xmlns:a16="http://schemas.microsoft.com/office/drawing/2014/main" id="{669F1CF8-DE0A-482E-AD80-DC35EDCB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465" y="3369469"/>
            <a:ext cx="1100138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SET</a:t>
            </a:r>
          </a:p>
        </p:txBody>
      </p:sp>
      <p:sp>
        <p:nvSpPr>
          <p:cNvPr id="27" name="figure-label-18">
            <a:extLst xmlns:a="http://schemas.openxmlformats.org/drawingml/2006/main">
              <a:ext uri="{FF2B5EF4-FFF2-40B4-BE49-F238E27FC236}">
                <a16:creationId xmlns:a16="http://schemas.microsoft.com/office/drawing/2014/main" id="{F6E533BB-5801-445E-8568-324CFE2C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459" y="4205288"/>
            <a:ext cx="1540193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RESET</a:t>
            </a:r>
          </a:p>
        </p:txBody>
      </p:sp>
      <p:sp>
        <p:nvSpPr>
          <p:cNvPr id="28" name="figure-label-19">
            <a:extLst xmlns:a="http://schemas.openxmlformats.org/drawingml/2006/main">
              <a:ext uri="{FF2B5EF4-FFF2-40B4-BE49-F238E27FC236}">
                <a16:creationId xmlns:a16="http://schemas.microsoft.com/office/drawing/2014/main" id="{9ABF371D-989D-4437-9E64-A22005CD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55344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初始化後狀態依元件而異。HRS 與 LRS 均用獨立 READ 確認。</a:t>
            </a:r>
          </a:p>
        </p:txBody>
      </p:sp>
      <p:sp>
        <p:nvSpPr>
          <p:cNvPr id="2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CE4BCB6-4B7E-4408-B64F-C7D08872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6C25D62A-7696-480D-874E-044965CD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3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7445337-B412-47D6-9D89-62B37CEF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D02-13</a:t>
            </a:r>
          </a:p>
        </p:txBody>
      </p:sp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8FE4AA-836C-40F6-AA05-1139C78E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15254631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80A935-2415-4307-9AAE-3739E907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Forming 與永久損壞的區別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6BB8DA5-F4D5-4340-82F0-B9DBC6A0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B59B86-FE11-44A5-AC4C-EB2E1536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5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C9F26BC2-28A0-45D7-931E-FFE39217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需要 forming 的元件，會利用受控刺激改變初始導電結構，之後才檢查可逆切換。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C42074E-EA2E-45FF-87FC-86920406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若形成永久短路、無法 RESET 或讀值不穩，不能僅憑電流上升宣稱 forming 成功。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721317B-DAE1-4B1A-948F-F5DCCAFD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Forming-free 元件的發表實例顯示，初始化方式可以隨材料與製程改變。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B96BEED-7276-4B92-96C3-D04FA35B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電流上限與寄生電容會影響能量注入，安全界限必須依實際樣品與儀器確定。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07F1B52-80EB-4086-ABB2-D83890F0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遇到異常由督導判斷，不以擅自提高電壓或上限來「救回」未切換元件。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A7983DF-78A8-49FD-892C-3D8DFC55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A0C54869-9F0B-445C-A530-09C93B0F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77CA087-852D-4C57-BB18-362A2C26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D02-14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6184C4-CAC7-4C24-91AA-C966E945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8172620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A68F2F-A21C-40BC-969E-2F37BF9A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讀取與非揮發性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B7E5FD2-779B-496E-A84E-6309464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0F74220-B7EF-4341-9B96-8F9DB5E7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5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6D1BC4F-6B84-4613-9824-C7BF01EF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非揮發性指撤除寫入刺激後，狀態在指定時間與環境下仍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可辨識。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8D68046-76C9-4509-ABD9-7593D71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概念測試：寫入狀態、撤除刺激、等待，再用一致的讀取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條件確認。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3BD81E2-75C7-4532-98AB-28440C4A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讀取本身也施加電場與能量，重複讀取可能造成 read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disturb。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77F4682-B5C3-4BB8-80F7-EFB9393F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89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看到一圈 I–V 遲滯，只知道路徑相依，不能直接宣稱十年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保持或可靠記憶。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802D91A-B355-47B6-B040-CF30019D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47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報告保持性時要附時間、溫度、讀取方式與狀態分布，並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分開實測和外推。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2C9F3D7-E7CF-49A6-8492-C27F8538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寫入目標狀態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25AE560-09C5-4912-97D4-22B900AB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撤除寫入刺激</a:t>
            </a:r>
          </a:p>
        </p:txBody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F4F8B4F-8C4A-4E37-8D96-B1A0E03D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6BA5293-3BB6-41EB-9185-B3318726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D1A33ED-6F4A-4CD0-A185-9A20BE1B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1C92023-2008-4FE6-A263-1EC648FC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依方案等待</a:t>
            </a:r>
          </a:p>
        </p:txBody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29EFCEC-8A5F-4057-A6BB-9553F3CA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3BCC0FA-50AE-4F62-8B4E-374DB5E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8FCE375-49B2-47F4-A97A-404A934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EE971C4-3AA6-4CD8-9BFC-08B63503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一致條件讀取</a:t>
            </a:r>
          </a:p>
        </p:txBody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91ADA19-FF86-44C0-986E-B72702D2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286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4BD630B-5D17-4408-8743-4CF89BA0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498954A-0459-4040-A4F1-1A43AA04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2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82D08B8A-C7AA-4A03-8507-E8BB8906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每一步均保存時間與條件；不含實際設定數值</a:t>
            </a:r>
          </a:p>
        </p:txBody>
      </p:sp>
      <p:sp>
        <p:nvSpPr>
          <p:cNvPr id="23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85D5887-3403-4229-BC84-893FD54B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146C46A9-3873-470E-B3AF-C1D6CD44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5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A877779-BD70-4EE3-8F40-3C691100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D02-15</a:t>
            </a:r>
          </a:p>
        </p:txBody>
      </p:sp>
      <p:sp>
        <p:nvSpPr>
          <p:cNvPr id="2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E3DF10-2FFD-4806-B54D-D58B64BC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6122059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80EF77-EEA0-4E5E-95B3-5CE89094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雙極性、單極性與揮發性切換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DE3818F-9D59-48EF-B048-E1ED647D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C70FBC-5EA8-4703-B8FC-ABB1CE88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5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A6AFAF81-BBC2-4D12-8197-4BA0F616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雙極性 bipolar：SET 與 RESET 使用相反電壓極性，極性需相對同一端點定義。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44E2A1E-D3F0-4116-BE46-CA3B6277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單極性 unipolar：SET 與 RESET 可使用同一極性，靠刺激幅度或能量等條件區分。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DA81F7B8-96EF-4417-B04F-63FC9091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揮發性 threshold switching：導通態可能在撤除刺激後自行回復。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88EA262-3D01-435D-B5BA-37B26C52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極性分類描述可觀察行為，不能單獨證明氧空缺、金屬絲或熱效應。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C5DE900-3D2B-4352-B56D-D06E7731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比較文獻曲線時，也要看橫軸方向、電流符號、掃描順序與限流條件。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73AB564-5E2F-4D46-AD0E-2485701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E54286B-A63D-4EC7-800E-94ADB59F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26D29F6-774D-4F3A-A5C5-74F66514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D02-16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FA4547-2F5F-4AF3-91BE-160181FD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2187448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2640F8-E902-4DE0-9882-D8EDFE2A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切換機制與導電機制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95CEEA0-CD65-4B39-9C58-439CCEA2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CA2355-31BC-436A-9D13-DDF5AE0D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5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A3584B60-F1B4-47B2-A69B-3152299F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切換機制回答：為什麼內部狀態改變？例如離子重新分布、氧化還原或結構變化。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5AAD041-D8A4-4F20-9CAC-1B52B054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導電機制回答：固定狀態下，電荷如何通過元件？例如越障、穿隧、跳躍或近歐姆傳輸。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DBA6608-ADEA-4C42-9226-25EFC760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同一元件在 HRS、LRS 或不同偏壓區間，可能由不同傳輸過程主導。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0BF726D-2829-4740-8622-E9160DB3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曲線在某種座標下近似直線，只表示與模型相容，不能唯一確認微觀機制。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A3ABB8F-CA6B-4255-8A4E-67E71343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合理證據還需溫度、厚度、面積、電極或材料分析等獨立測試相互支持。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4AEDDB3C-F564-475F-8859-7CFE3055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1D2ED277-BB9F-48AD-B6ED-1FDC1D5C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EB9A096-7FEF-478C-97EB-85456064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D02-17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51876A-3934-4566-B729-D84AFC7A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1165256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1C89D0-F902-407E-8D32-D9A2276D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導電絲與界面主導的假說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6EF3B25-8600-484E-9F50-BDC31CF6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8C0CBE6-B482-4078-865D-52A73E26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5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D84BFAA-7B46-4824-8541-389F43CE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導電絲 filament 假說：電流集中於局部路徑，連接或間隙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變化可改變總電阻。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852F2CA-0D0E-435B-A112-B66EF474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界面主導假說：接觸附近的障壁或缺陷分布改變，使注入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電流改變。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3CE3C55-4B00-412D-8E98-82F4772B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兩者可以耦合，例如局部通道同時改變界面障壁，不能強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迫所有元件二選一。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83DA8A2-C616-4E11-A444-E03C86DE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89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均勻模型預測 R 隨面積 A 增大而減少；局部路徑可能呈不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同面積依賴。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424345BC-8AFA-444D-95D3-A8FD322B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47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面積依賴是線索，仍會受邊緣漏電、多條通道與製程差異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干擾。</a:t>
            </a:r>
          </a:p>
        </p:txBody>
      </p:sp>
      <p:sp>
        <p:nvSpPr>
          <p:cNvPr id="9" name="figure-label-0">
            <a:extLst xmlns:a="http://schemas.openxmlformats.org/drawingml/2006/main">
              <a:ext uri="{FF2B5EF4-FFF2-40B4-BE49-F238E27FC236}">
                <a16:creationId xmlns:a16="http://schemas.microsoft.com/office/drawing/2014/main" id="{EAC786EE-F5C2-4E89-9CC3-22C1682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33463"/>
            <a:ext cx="2112264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局部通路模型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F6B31291-AFFF-434C-BF2F-AEC5BBC7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1" y="1504950"/>
            <a:ext cx="1980248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TE</a:t>
            </a:r>
          </a:p>
        </p:txBody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0E46A64-63F7-4917-AA75-A4531F31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1" y="2147888"/>
            <a:ext cx="1980248" cy="115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1042349-270C-4FBB-8193-B5E8E392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1" y="3305175"/>
            <a:ext cx="1980248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BE</a:t>
            </a:r>
          </a:p>
        </p:txBody>
      </p:sp>
      <p:sp>
        <p:nvSpPr>
          <p:cNvPr id="13" name="figure-label-4">
            <a:extLst xmlns:a="http://schemas.openxmlformats.org/drawingml/2006/main">
              <a:ext uri="{FF2B5EF4-FFF2-40B4-BE49-F238E27FC236}">
                <a16:creationId xmlns:a16="http://schemas.microsoft.com/office/drawing/2014/main" id="{BF1484AA-6820-42D8-96D1-08C4EEEF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272" y="2405063"/>
            <a:ext cx="968121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功能膜</a:t>
            </a:r>
          </a:p>
        </p:txBody>
      </p:sp>
      <p:sp>
        <p:nvSpPr>
          <p:cNvPr id="14" name="diagram-path">
            <a:extLst xmlns:a="http://schemas.openxmlformats.org/drawingml/2006/main">
              <a:ext uri="{FF2B5EF4-FFF2-40B4-BE49-F238E27FC236}">
                <a16:creationId xmlns:a16="http://schemas.microsoft.com/office/drawing/2014/main" id="{8CF995F6-1DC6-4190-9EED-B405F994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415" y="2169319"/>
            <a:ext cx="95" cy="407194"/>
          </a:xfrm>
          <a:custGeom xmlns:a="http://schemas.openxmlformats.org/drawingml/2006/main">
            <a:pathLst>
              <a:path w="95" h="407194">
                <a:moveTo>
                  <a:pt x="0" y="0"/>
                </a:moveTo>
                <a:lnTo>
                  <a:pt x="0" y="407194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36A32"/>
            </a:solidFill>
            <a:prstDash val="solid"/>
          </a:ln>
        </p:spPr>
      </p:sp>
      <p:sp>
        <p:nvSpPr>
          <p:cNvPr id="15" name="diagram-path">
            <a:extLst xmlns:a="http://schemas.openxmlformats.org/drawingml/2006/main">
              <a:ext uri="{FF2B5EF4-FFF2-40B4-BE49-F238E27FC236}">
                <a16:creationId xmlns:a16="http://schemas.microsoft.com/office/drawing/2014/main" id="{776CD450-C878-4A2A-B247-43040951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415" y="2747963"/>
            <a:ext cx="95" cy="535781"/>
          </a:xfrm>
          <a:custGeom xmlns:a="http://schemas.openxmlformats.org/drawingml/2006/main">
            <a:pathLst>
              <a:path w="95" h="535781">
                <a:moveTo>
                  <a:pt x="0" y="0"/>
                </a:moveTo>
                <a:lnTo>
                  <a:pt x="0" y="535781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36A32"/>
            </a:solidFill>
            <a:prstDash val="solid"/>
          </a:ln>
        </p:spPr>
      </p:sp>
      <p:sp>
        <p:nvSpPr>
          <p:cNvPr id="16" name="figure-label-7">
            <a:extLst xmlns:a="http://schemas.openxmlformats.org/drawingml/2006/main">
              <a:ext uri="{FF2B5EF4-FFF2-40B4-BE49-F238E27FC236}">
                <a16:creationId xmlns:a16="http://schemas.microsoft.com/office/drawing/2014/main" id="{CD334E05-EEA1-4977-BF9D-B418AA09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432" y="2555081"/>
            <a:ext cx="74809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間隙</a:t>
            </a:r>
          </a:p>
        </p:txBody>
      </p:sp>
      <p:sp>
        <p:nvSpPr>
          <p:cNvPr id="17" name="figure-label-8">
            <a:extLst xmlns:a="http://schemas.openxmlformats.org/drawingml/2006/main">
              <a:ext uri="{FF2B5EF4-FFF2-40B4-BE49-F238E27FC236}">
                <a16:creationId xmlns:a16="http://schemas.microsoft.com/office/drawing/2014/main" id="{74B0EF1D-5054-4D9E-8ABC-D19DACE4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531" y="1033463"/>
            <a:ext cx="2112264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界面模型</a:t>
            </a:r>
          </a:p>
        </p:txBody>
      </p:sp>
      <p:sp>
        <p:nvSpPr>
          <p:cNvPr id="1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894BD3E-6806-4B24-8F0B-6CB9D91A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542" y="1504950"/>
            <a:ext cx="1980248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TE</a:t>
            </a:r>
          </a:p>
        </p:txBody>
      </p:sp>
      <p:sp>
        <p:nvSpPr>
          <p:cNvPr id="1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E35228D-C412-45B8-B1C6-B704322A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542" y="1933575"/>
            <a:ext cx="1980248" cy="3643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DC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界面障壁變化區</a:t>
            </a:r>
          </a:p>
        </p:txBody>
      </p:sp>
      <p:sp>
        <p:nvSpPr>
          <p:cNvPr id="2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D03D9304-9AB2-4827-A90B-45E08CA9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542" y="2297906"/>
            <a:ext cx="1980248" cy="12215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功能膜</a:t>
            </a:r>
          </a:p>
        </p:txBody>
      </p:sp>
      <p:sp>
        <p:nvSpPr>
          <p:cNvPr id="2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09D24C1-9C37-41DD-B72C-36F821A3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542" y="3519488"/>
            <a:ext cx="1980248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BE</a:t>
            </a:r>
          </a:p>
        </p:txBody>
      </p:sp>
      <p:sp>
        <p:nvSpPr>
          <p:cNvPr id="22" name="figure-label-13">
            <a:extLst xmlns:a="http://schemas.openxmlformats.org/drawingml/2006/main">
              <a:ext uri="{FF2B5EF4-FFF2-40B4-BE49-F238E27FC236}">
                <a16:creationId xmlns:a16="http://schemas.microsoft.com/office/drawing/2014/main" id="{39894D6C-5B83-44F0-BB3A-E654DA02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62463"/>
            <a:ext cx="44005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兩種候選模型，可同時作用；非直接觀測</a:t>
            </a:r>
          </a:p>
        </p:txBody>
      </p:sp>
      <p:sp>
        <p:nvSpPr>
          <p:cNvPr id="23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44760D5-B872-4539-9DB4-22D95D01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E6F7A8B5-CED0-4299-9E65-99D332FE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5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C36FD7C-4B61-49B8-9BA3-22157F3C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D02-18</a:t>
            </a:r>
          </a:p>
        </p:txBody>
      </p:sp>
      <p:sp>
        <p:nvSpPr>
          <p:cNvPr id="2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0FBFEC-8FA5-4D42-9850-85E78DB1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9784423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1649FB-B2DE-4243-947D-46C5CCBE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5 天練習：狀態與行為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5353B52-6B07-4DA5-BFDA-90C19B4C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4CFAF9E-2E39-4BF2-945B-23BEE877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5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B68A29E-FF76-4084-9701-1A650613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A｜將 forming、SET、RESET、READ 各寫成一句功能定義，不使用固定電壓正負號。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75BA298-F8AB-4BA9-A48E-8FC2452F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B｜假想共同讀取偏壓下，R_HRS = 2 MΩ、R_LRS = 20 kΩ，求 HRS/LRS 比。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6F71B21-40D5-4D5D-BB73-55421D94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C｜某教學案例只有一圈遲滯圖，作者聲稱「已證明永久非揮發」。缺少什麼證據？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D345187-946F-4656-A493-EEE3BB06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D｜若狀態撤除刺激後自行恢復，與一般非揮發儲存要求有何差別？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A94E463-CFE0-4090-B368-3A849060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E｜「HRS 曲線能擬合穿隧模型，所以已證明氧空缺在移動」哪一步推論過度？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9845DC2-7B2D-48F6-A325-7E2E57EB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3F95A95-8211-4DD2-A28D-D04A37FC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F17F356-2589-47E5-9507-FD703314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D02-19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7073CC-DBB4-41DC-BF3A-3E585FB2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8607178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87C172-AB46-4E66-86B1-7732053D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5 天解答與結論用語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9551E72-FF91-4698-83C9-7D80B6C3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3F4172-6DD1-480D-B39D-E73FFA56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5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65252B6-E650-42EE-AB4F-09D8A27D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A｜Forming 初始化部分元件；SET 進入 LRS；RESET 進入 HRS；READ 辨識當前狀態。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716BF57-9177-47BC-8601-9F8543B1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B｜(2×10^(6)) / (2×10^(4)) = 100。此比值無單位，只適用指定的共同讀取條件。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131AD547-666D-43DD-94F2-7EE6A27D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C｜需撤除寫入刺激後的時間序列、環境條件、可分辨狀態與讀取擾動評估。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F43FDFA-36C3-4F72-9E9B-11437EDF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D｜自行回復呈現揮發性，不能僅用刺激存在時的導通態宣稱長期儲存。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C873D1DE-86CC-47D7-8B9F-80F3037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E｜穿隧描述固定狀態下的傳輸，沒有直接告訴我們是哪一種原子／缺陷造成狀態改變。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FC3250E-04B7-4D26-9EEF-918839A1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BB4C93FA-BCAC-4001-B280-48EFEF5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7935E22-21A3-4E6F-BF44-73816A7D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D02-20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3AB030-ACE8-4E37-B73E-C2ECD05A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13237372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8A7371-A987-4407-B0DB-87E57968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ECM：金屬陽離子與氧化還原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34BB1D9-A30F-440B-932E-166EE214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EBC02A-8A5F-4933-B35E-9A937B86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6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03A710D-5AAA-4CAD-8B84-7FDBCD78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ECM 是 electrochemical metallization，常以可溶解的活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性金屬作為離子來源。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F329D07-2B33-401B-8C48-05A747A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以銀為例，氧化可寫成 Ag → Ag^(+) + e^(-)；還原則為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Ag^(+) + e^(-) → Ag。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3CF6FFC-BB55-4A18-B34B-156BCDC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離子在介質中傳輸後，金屬沉積可建立或調整局部導電路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徑。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0160470-0048-40DA-A205-AA8001A8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89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反向過程可使路徑局部溶解。真正生長方向與形態依材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料、介質和條件而變。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F53B074-3BE2-42F9-8200-1EA26488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47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含氧化物介質的元件也可能呈 ECM，不能看到「oxide」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就自動歸類為氧空缺機制。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AD012F2-9C62-4472-BAEC-FE92BC57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33475"/>
            <a:ext cx="3714750" cy="533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活性金屬電極（例 Ag）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4AF54BE2-7D72-4B19-9E25-A6F32C5C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67203"/>
            <a:ext cx="3714750" cy="13137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介質中的金屬離子與局部沉積</a:t>
            </a:r>
          </a:p>
        </p:txBody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8B383E3-7255-41F8-996B-2A9AC5E8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80997"/>
            <a:ext cx="3714750" cy="533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對電極</a:t>
            </a:r>
          </a:p>
        </p:txBody>
      </p:sp>
      <p:sp>
        <p:nvSpPr>
          <p:cNvPr id="12" name="stack-scientific-labels">
            <a:extLst xmlns:a="http://schemas.openxmlformats.org/drawingml/2006/main">
              <a:ext uri="{FF2B5EF4-FFF2-40B4-BE49-F238E27FC236}">
                <a16:creationId xmlns:a16="http://schemas.microsoft.com/office/drawing/2014/main" id="{1CC6C55C-B6B3-452B-8D77-33198BF5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57600"/>
            <a:ext cx="411480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氧化：Ag 失去電子。還原：Ag^(+) 得到電子</a:t>
            </a:r>
          </a:p>
        </p:txBody>
      </p:sp>
      <p:sp>
        <p:nvSpPr>
          <p:cNvPr id="13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FF31FDDC-AA66-4DC1-AFEA-ED4771E3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機制示意；無固定生長方向或實際設定值</a:t>
            </a:r>
          </a:p>
        </p:txBody>
      </p:sp>
      <p:sp>
        <p:nvSpPr>
          <p:cNvPr id="1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2BA458F-D233-46F6-B05F-C5AD6CD6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78394335-C57D-48AB-9E50-272DDE1C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6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15E02FB-115D-4F60-A07C-0EAA7799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D02-21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DEE03D-97C9-48B0-957B-03BE8533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4559208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E97843-E664-4E2D-9E55-7A2B0BBF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VCM：氧相關重分布與價態變化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7E1B256-F5E3-401D-AD02-FADACD23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4BD40E7-5719-4473-AF0F-48B3CFDD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6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C815EAF-74D7-4689-8C3F-CF8245C0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VCM 是 valence change mechanism，描述氧相關離子／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缺陷變化與金屬價態改變耦合的切換。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21AEE67-700D-4E86-81EE-E51455A9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在適用的氧化物系統中，氧的重分布可改變局部組成、電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子能態與導電性。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B48CF65-0FA9-4B40-BC28-31E3472C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電極可能供應或吸收氧，界面也可能限制反應，不能只分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析薄膜中央。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221A67B-2C17-497D-B7AA-02E796E4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89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導電路徑可能是缺氧區域或結構改變區，不能把「氧空缺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絲」直接等同純金屬絲。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6241E1C-4A52-4786-B96A-688C1D93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47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ECM 與 VCM 是機制分類。個別元件是否混合、由何者主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導，需要實驗證據。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708E121-5840-46B9-AECC-16C1F7C6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33475"/>
            <a:ext cx="3714750" cy="533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可交換氧的電極／界面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E98EF74-504D-4045-9039-95F34318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67203"/>
            <a:ext cx="3714750" cy="13137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氧化物：局部氧分布改變</a:t>
            </a:r>
          </a:p>
        </p:txBody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3B5292D2-0BB7-442B-9423-A884DD8B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80997"/>
            <a:ext cx="3714750" cy="533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另一電極</a:t>
            </a:r>
          </a:p>
        </p:txBody>
      </p:sp>
      <p:sp>
        <p:nvSpPr>
          <p:cNvPr id="12" name="stack-scientific-labels">
            <a:extLst xmlns:a="http://schemas.openxmlformats.org/drawingml/2006/main">
              <a:ext uri="{FF2B5EF4-FFF2-40B4-BE49-F238E27FC236}">
                <a16:creationId xmlns:a16="http://schemas.microsoft.com/office/drawing/2014/main" id="{0C99362B-E40D-42FA-AD0B-893B51FF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57600"/>
            <a:ext cx="411480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局部組成與價態可改變。電子導電與離子變化耦合</a:t>
            </a:r>
          </a:p>
        </p:txBody>
      </p:sp>
      <p:sp>
        <p:nvSpPr>
          <p:cNvPr id="13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202E4D60-225C-4CE7-86BA-E3B5D2EF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候選機制示意，電荷態與方向須由材料條件決定</a:t>
            </a:r>
          </a:p>
        </p:txBody>
      </p:sp>
      <p:sp>
        <p:nvSpPr>
          <p:cNvPr id="1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833524D-EFF2-4485-A5D2-90D2746E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64CD5850-005D-45BA-AE98-F128CBE8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6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A048142-2385-42B0-A9CC-D77B4234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D02-22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7CEF9C-B65E-4DC5-A477-4EECE3F6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5135712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4F65F1-ECFD-427C-9BDF-8594C57A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原始研究如何支持機制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F984C41-E2ED-4AA6-BEA7-C8078D77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0795F79-23A3-4F82-9F07-85EB1F82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6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3945FDF-AF1A-406C-AA84-F8307346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Yang 等（2008）研究特定 Pt/TiO_2 接面，提出氧空缺分布與界面障壁改變的實驗證據。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7F0DC21-3EB2-4779-804A-BF4CC303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Yang 等（2012）結合 TEM 與成分分析，在所研究的含銀系統觀察金屬導電路徑。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89D796A-B1CA-46FF-91B1-4B59CBD8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Park 等（2024）報告工程化三層氧化物的 bulk switching，提醒我們保留非細絲候選。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378C2A38-FBC2-4E3F-B217-0FE3712A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每篇結論都綁定材料、堆疊與測試條件，不能直接替未知樣品指定相同機制。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4DBFD925-D737-4982-8480-950DDCD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讀論文時分開列出「直接觀測」「模型推論」「仍未排除的替代解釋」。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6B7DE7D-6DFA-4C13-ACE3-8AD9271D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E5B6B11-1AB7-42D5-B731-8FBDFFC3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0B8D02F-35A1-4A8B-AEDA-6491B6E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D02-23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1FC3BD-4C27-4404-9AF2-1525EA2A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546629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D64902-AA9C-4DE2-8F38-DE9C36BA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機制判斷的證據階梯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CC67DFE-0849-4253-80D4-079D2FD9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D8C08A-9C85-4E1A-A359-EDC8E160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6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57379E4-95BB-4039-9D7C-5366CE53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I–V 與循環資料先建立可重現行為，並排除限流、暫態與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接觸漂移。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C5CF44C-411A-4767-844C-D8A6B7C4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改變面積、厚度、溫度或電極，可檢查不同模型的可區分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預測。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8F2AEC2-4CD3-44CA-B637-07760CEB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結構、成分與價態分析可提供更直接線索，但仍受空間解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析度與取樣限制。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42C9506-F95F-4381-A065-6771951D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89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XPS 平均化學態變化不能單獨提供一條奈米導電絲的完整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形狀。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194E4B7-2A6A-411F-BC08-7351C3B4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47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最好的結論清楚列出支持證據及未排除機制，而非因曲線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相似就宣稱唯一答案。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5F86C98-49DD-4BDE-A8D0-3CED5C91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確認可重現電性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6AD80B1D-9AFF-48D4-9BD5-CDA524AF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3829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提出可區分預測</a:t>
            </a:r>
          </a:p>
        </p:txBody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7739F06-E4DF-4BB3-B257-C2005325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4954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7B46120-3A4F-4E53-AB73-24607916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6478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63F044E-9905-4431-9898-FD38A9C3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6478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FC7220CB-5123-44E5-83DC-5C84981D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3829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設計對照</a:t>
            </a:r>
          </a:p>
        </p:txBody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98BA903-4962-468B-8DE1-D20B4819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2764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7102E22-824D-4F77-8410-D8B6D91B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4288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36E8E05-FC35-4C6C-A987-F86EE5E4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4288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3E75780-E77A-468D-A8BD-EAB66F15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3829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結合局部材料證據</a:t>
            </a:r>
          </a:p>
        </p:txBody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AFE3A93-4D86-40CE-B345-B1E298CB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0575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62688F7-805F-43E6-96E6-460C3A9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2099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67AE76E-D0FE-47D0-A5B4-BCA78185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2099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D8F8496-3E4F-4540-979D-FD8DAAFB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3829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保留限制與替代解釋</a:t>
            </a:r>
          </a:p>
        </p:txBody>
      </p:sp>
      <p:sp>
        <p:nvSpPr>
          <p:cNvPr id="2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CDA12AB-70DE-454B-8ACC-B8E6C2F5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8385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9C28A61-DE13-42C9-96DA-E5A728F2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9909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F33F7D6-08E0-4428-9D0E-3FEA6AF3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9909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6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1617374F-2E01-431E-BB4A-4A9C507B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證據強度取決於能排除哪些替代解釋</a:t>
            </a:r>
          </a:p>
        </p:txBody>
      </p:sp>
      <p:sp>
        <p:nvSpPr>
          <p:cNvPr id="2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DE656A0-A5D9-458E-9544-BF9EA55D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F94E968E-2424-4EDA-B5EE-99D6F8A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36B2832-DC09-4649-A92A-5699C1A4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D02-24</a:t>
            </a:r>
          </a:p>
        </p:txBody>
      </p:sp>
      <p:sp>
        <p:nvSpPr>
          <p:cNvPr id="3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172373-8D60-4FB0-95A2-5AF1CC38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4932812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CCC079-B2C6-4E85-8973-78C16ECF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記憶指標的基本定義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3C4EACC-B0AE-455A-AE20-61A99867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8AE010-9223-425E-A5AB-909AEAAD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6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C75128C-D7DB-42A8-AF81-18FB8762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Resistance window：在相同讀取條件下，HRS 與 LRS 分布是否可可靠區分。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0A8759E-54D7-4E55-A19B-70A75544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Endurance：反覆寫入與讀取後，能滿足預先定義規格的循環次數。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7884B79-AFF2-4AB3-A57D-323157AD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Retention：撤除寫入刺激後，在指定時間與環境中維持可辨識狀態的能力。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2FAA894-31E4-4322-BB4B-5703D3C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Variability：同元件跨循環與不同元件之間的差異，兩者要分開統計。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F041C4B-488E-42A8-A168-AAA46C85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單次最大比值不代表整批可靠性。報告需附樣本數、失敗定義與測試條件。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DFE9128-4B3C-4DD0-88F4-01975174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7F3DF7C-BB2C-4AA2-A7E5-DE1B860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6CD7E92-C70F-45F1-AF95-56191A8D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D02-25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20CA52-41DA-4A1B-BCFF-3A7930BD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15249414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558825-94DB-4E73-A661-5FD1BC77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6 天練習：未知堆疊判讀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CEEA560-FD8C-4788-B204-1F54251C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71C4EEF-4EEB-45E2-958E-D694C4E9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6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E8EE76B-6AFC-409C-A8DB-8FA37D22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假想案例：Ag／氧化物／Pt 元件出現雙極性遲滯，尚無保持性與材料分析資料。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AB28803-B8AD-42D5-A309-EC780808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A｜能否立刻宣稱「氧空缺 VCM 已證明」？列出另一個合理候選機制。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81E85D9-A0A7-421B-BDB1-764ECF1D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B｜若均勻模型下 1 μm^(2) 元件為 80 kΩ，面積改成 4 μm^(2)，預期電阻多少？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EE39FAB-7557-4843-B0B8-9FB84741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C｜實際電阻未隨面積變化是否已證明單一細絲？列出一項仍需排除的因素。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A5D4B7E-776D-44EC-823E-4EEA2432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D｜共同讀取條件下，假想 I_LRS = 10 μA、I_HRS = 0.2 μA，求比值並寫出兩項必備後續證據。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B328B6D-F883-41EE-9C59-D3D3D8F2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3D422307-CDAC-4D0E-B4CF-92A7DCAE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D245779-D661-4B66-BCC0-4784E965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D02-26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FF05B9-FD70-43BB-AFA1-233A677D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15324744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8DE100-EB4E-4A38-B976-C58F6740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6 天解答與證據邊界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1C183FF-D0DE-4220-813B-07F79B9F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BAB877-5D51-42E4-845C-EBE0C189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6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591DFF9-19AD-47AA-A9B3-90B1E368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A｜不能。Ag 可能供應金屬離子，因此 ECM 是合理候選，仍需證據確認。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962EC1E-6E6B-4FE7-94A9-EF51EE74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B｜R ∝ 1/A，因此預期 80/4 = 20 kΩ，僅限題設的均勻模型。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184F295D-15EF-4788-8138-01BC2DC0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C｜不能。接觸主導、尺寸製程差異、有限樣本或多路徑都可能干擾面積縮放。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07DF496-EDC1-4E21-920B-135E9D92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D｜I_LRS/I_HRS = 50。後續需獨立保持性與循環／元件分布，並評估讀取擾動。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CB74D6B9-2E13-426C-AF0F-EF0A040D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結論範例：已見到雙極性路徑相依行為，尚未確認非揮發性或唯一微觀機制。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017E1C9-CEA6-4CE6-83D1-8CBD5050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3BE47C6-C0AC-43CF-BA81-581A2E6B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1F94A34-4869-41DB-A5BF-59FBBCEB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D02-27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491E7D-EC1A-4F5F-94B6-B1C10371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185149462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BF0709-0BBA-4B45-B6EF-DBCF92C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6 天的樣品說明與交接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7F500FC-B6A2-425D-A9BA-CCE5BBCE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2662BF-731F-404A-9D7E-9ADDA38F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6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C8B9BEA-524A-4232-80F2-5EB95DCF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能畫出實際樣品堆疊，標出電極、薄膜、厚度／面積來源與量測極性。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ACF7A71B-C379-406F-94AA-C26B68C1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能用操作角色區分 forming、SET、RESET、READ，且不預設固定正負極性。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F1DC56F-567B-466F-B456-86E11806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能區分晶體／非晶、缺陷／電荷態，以及切換機制／導電機制。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57AFC76-0A66-4774-B901-7760BF91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能提出 ECM、VCM、界面或其他候選，並說明哪項證據可支持或排除它們。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2FF5E6C-2C45-43F3-AD6A-3E65882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 3 週上機前，由督導確認 SOP、原始態紀錄、核准範圍、停止條件與資料保存方式。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A114051-7CEB-49E8-A9EA-66FFFEBC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47B5CDF-EDEF-4722-8202-3D564FB6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D8270E88-FD4F-4629-A2D2-EE6732C8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D02-28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92E0FA-FD65-4F12-812E-7EA17B44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4087156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2026-10-29T04:45:10.4120000Z</dcterms:created>
  <dcterms:modified xsi:type="dcterms:W3CDTF">2026-10-29T04:45:10.4120000Z</dcterms:modified>
</coreProperties>
</file>