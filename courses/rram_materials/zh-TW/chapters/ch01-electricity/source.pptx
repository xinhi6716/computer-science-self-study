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120d8988354b18" /><Relationship Type="http://schemas.openxmlformats.org/officeDocument/2006/relationships/extended-properties" Target="/docProps/app.xml" Id="R67b77e129cae48e1" /><Relationship Type="http://schemas.openxmlformats.org/officeDocument/2006/relationships/officeDocument" Target="/ppt/presentation.xml" Id="Rfb193fa6707949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07d9f5d5814881"/>
  </p:sldMasterIdLst>
  <p:notesMasterIdLst>
    <p:notesMasterId xmlns:r="http://schemas.openxmlformats.org/officeDocument/2006/relationships" r:id="R6ef74d3217b84d11"/>
  </p:notesMasterIdLst>
  <p:sldIdLst>
    <p:sldId xmlns:r="http://schemas.openxmlformats.org/officeDocument/2006/relationships" id="256" r:id="Rc7ae465f975a4caa"/>
    <p:sldId xmlns:r="http://schemas.openxmlformats.org/officeDocument/2006/relationships" id="257" r:id="R812e9c926df548cf"/>
    <p:sldId xmlns:r="http://schemas.openxmlformats.org/officeDocument/2006/relationships" id="258" r:id="R2916cfcab29c44e7"/>
    <p:sldId xmlns:r="http://schemas.openxmlformats.org/officeDocument/2006/relationships" id="259" r:id="R6ef22a5d55514c92"/>
    <p:sldId xmlns:r="http://schemas.openxmlformats.org/officeDocument/2006/relationships" id="260" r:id="Rf193d3bcec404e87"/>
    <p:sldId xmlns:r="http://schemas.openxmlformats.org/officeDocument/2006/relationships" id="261" r:id="R40fe75a0c1b84840"/>
    <p:sldId xmlns:r="http://schemas.openxmlformats.org/officeDocument/2006/relationships" id="262" r:id="Re4c3d584b6834f74"/>
    <p:sldId xmlns:r="http://schemas.openxmlformats.org/officeDocument/2006/relationships" id="263" r:id="R6ff1b549f3e94d32"/>
    <p:sldId xmlns:r="http://schemas.openxmlformats.org/officeDocument/2006/relationships" id="264" r:id="R94a255ad2c0f4937"/>
    <p:sldId xmlns:r="http://schemas.openxmlformats.org/officeDocument/2006/relationships" id="265" r:id="R7643dceeda6e4f15"/>
    <p:sldId xmlns:r="http://schemas.openxmlformats.org/officeDocument/2006/relationships" id="266" r:id="Rb3c3242ae2a0446a"/>
    <p:sldId xmlns:r="http://schemas.openxmlformats.org/officeDocument/2006/relationships" id="267" r:id="R2a839c75f6964b96"/>
    <p:sldId xmlns:r="http://schemas.openxmlformats.org/officeDocument/2006/relationships" id="268" r:id="R85e85dc016274143"/>
    <p:sldId xmlns:r="http://schemas.openxmlformats.org/officeDocument/2006/relationships" id="269" r:id="R154467258bd54eb2"/>
    <p:sldId xmlns:r="http://schemas.openxmlformats.org/officeDocument/2006/relationships" id="270" r:id="R8d6de7100e194433"/>
    <p:sldId xmlns:r="http://schemas.openxmlformats.org/officeDocument/2006/relationships" id="271" r:id="Ra74a70017d5a42d1"/>
    <p:sldId xmlns:r="http://schemas.openxmlformats.org/officeDocument/2006/relationships" id="272" r:id="Rf3af280349034045"/>
    <p:sldId xmlns:r="http://schemas.openxmlformats.org/officeDocument/2006/relationships" id="273" r:id="Ra3b7bb7bf8ae4a69"/>
    <p:sldId xmlns:r="http://schemas.openxmlformats.org/officeDocument/2006/relationships" id="274" r:id="R4847c6143ae346be"/>
    <p:sldId xmlns:r="http://schemas.openxmlformats.org/officeDocument/2006/relationships" id="275" r:id="R9979b54e014a427b"/>
    <p:sldId xmlns:r="http://schemas.openxmlformats.org/officeDocument/2006/relationships" id="276" r:id="R82554d342d9c4f68"/>
    <p:sldId xmlns:r="http://schemas.openxmlformats.org/officeDocument/2006/relationships" id="277" r:id="R7884655c36354360"/>
    <p:sldId xmlns:r="http://schemas.openxmlformats.org/officeDocument/2006/relationships" id="278" r:id="Rc1fbea9e687844ae"/>
    <p:sldId xmlns:r="http://schemas.openxmlformats.org/officeDocument/2006/relationships" id="279" r:id="R6cf4ed8a13294723"/>
    <p:sldId xmlns:r="http://schemas.openxmlformats.org/officeDocument/2006/relationships" id="280" r:id="Re19e330f4f764215"/>
    <p:sldId xmlns:r="http://schemas.openxmlformats.org/officeDocument/2006/relationships" id="281" r:id="R4f680607361b41b5"/>
    <p:sldId xmlns:r="http://schemas.openxmlformats.org/officeDocument/2006/relationships" id="282" r:id="Rb895ffc2cd2041f5"/>
    <p:sldId xmlns:r="http://schemas.openxmlformats.org/officeDocument/2006/relationships" id="283" r:id="Reac4052fc33b484e"/>
  </p:sldIdLst>
  <p:sldSz cx="10692384" cy="6019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07f6d79a1143de" /><Relationship Type="http://schemas.openxmlformats.org/officeDocument/2006/relationships/slideMaster" Target="/ppt/slideMasters/slideMaster1.xml" Id="Rc507d9f5d5814881" /><Relationship Type="http://schemas.openxmlformats.org/officeDocument/2006/relationships/notesMaster" Target="/ppt/notesMasters/notesMaster1.xml" Id="R6ef74d3217b84d11" /><Relationship Type="http://schemas.openxmlformats.org/officeDocument/2006/relationships/presProps" Target="/ppt/presProps.xml" Id="Rec697d6157214ede" /><Relationship Type="http://schemas.openxmlformats.org/officeDocument/2006/relationships/tableStyles" Target="/ppt/tableStyles.xml" Id="R4318280d878645b5" /><Relationship Type="http://schemas.openxmlformats.org/officeDocument/2006/relationships/slide" Target="/ppt/slides/slide1.xml" Id="Rc7ae465f975a4caa" /><Relationship Type="http://schemas.openxmlformats.org/officeDocument/2006/relationships/slide" Target="/ppt/slides/slide2.xml" Id="R812e9c926df548cf" /><Relationship Type="http://schemas.openxmlformats.org/officeDocument/2006/relationships/slide" Target="/ppt/slides/slide3.xml" Id="R2916cfcab29c44e7" /><Relationship Type="http://schemas.openxmlformats.org/officeDocument/2006/relationships/slide" Target="/ppt/slides/slide4.xml" Id="R6ef22a5d55514c92" /><Relationship Type="http://schemas.openxmlformats.org/officeDocument/2006/relationships/slide" Target="/ppt/slides/slide5.xml" Id="Rf193d3bcec404e87" /><Relationship Type="http://schemas.openxmlformats.org/officeDocument/2006/relationships/slide" Target="/ppt/slides/slide6.xml" Id="R40fe75a0c1b84840" /><Relationship Type="http://schemas.openxmlformats.org/officeDocument/2006/relationships/slide" Target="/ppt/slides/slide7.xml" Id="Re4c3d584b6834f74" /><Relationship Type="http://schemas.openxmlformats.org/officeDocument/2006/relationships/slide" Target="/ppt/slides/slide8.xml" Id="R6ff1b549f3e94d32" /><Relationship Type="http://schemas.openxmlformats.org/officeDocument/2006/relationships/slide" Target="/ppt/slides/slide9.xml" Id="R94a255ad2c0f4937" /><Relationship Type="http://schemas.openxmlformats.org/officeDocument/2006/relationships/slide" Target="/ppt/slides/slide10.xml" Id="R7643dceeda6e4f15" /><Relationship Type="http://schemas.openxmlformats.org/officeDocument/2006/relationships/slide" Target="/ppt/slides/slide11.xml" Id="Rb3c3242ae2a0446a" /><Relationship Type="http://schemas.openxmlformats.org/officeDocument/2006/relationships/slide" Target="/ppt/slides/slide12.xml" Id="R2a839c75f6964b96" /><Relationship Type="http://schemas.openxmlformats.org/officeDocument/2006/relationships/slide" Target="/ppt/slides/slide13.xml" Id="R85e85dc016274143" /><Relationship Type="http://schemas.openxmlformats.org/officeDocument/2006/relationships/slide" Target="/ppt/slides/slide14.xml" Id="R154467258bd54eb2" /><Relationship Type="http://schemas.openxmlformats.org/officeDocument/2006/relationships/slide" Target="/ppt/slides/slide15.xml" Id="R8d6de7100e194433" /><Relationship Type="http://schemas.openxmlformats.org/officeDocument/2006/relationships/slide" Target="/ppt/slides/slide16.xml" Id="Ra74a70017d5a42d1" /><Relationship Type="http://schemas.openxmlformats.org/officeDocument/2006/relationships/slide" Target="/ppt/slides/slide17.xml" Id="Rf3af280349034045" /><Relationship Type="http://schemas.openxmlformats.org/officeDocument/2006/relationships/slide" Target="/ppt/slides/slide18.xml" Id="Ra3b7bb7bf8ae4a69" /><Relationship Type="http://schemas.openxmlformats.org/officeDocument/2006/relationships/slide" Target="/ppt/slides/slide19.xml" Id="R4847c6143ae346be" /><Relationship Type="http://schemas.openxmlformats.org/officeDocument/2006/relationships/slide" Target="/ppt/slides/slide20.xml" Id="R9979b54e014a427b" /><Relationship Type="http://schemas.openxmlformats.org/officeDocument/2006/relationships/slide" Target="/ppt/slides/slide21.xml" Id="R82554d342d9c4f68" /><Relationship Type="http://schemas.openxmlformats.org/officeDocument/2006/relationships/slide" Target="/ppt/slides/slide22.xml" Id="R7884655c36354360" /><Relationship Type="http://schemas.openxmlformats.org/officeDocument/2006/relationships/slide" Target="/ppt/slides/slide23.xml" Id="Rc1fbea9e687844ae" /><Relationship Type="http://schemas.openxmlformats.org/officeDocument/2006/relationships/slide" Target="/ppt/slides/slide24.xml" Id="R6cf4ed8a13294723" /><Relationship Type="http://schemas.openxmlformats.org/officeDocument/2006/relationships/slide" Target="/ppt/slides/slide25.xml" Id="Re19e330f4f764215" /><Relationship Type="http://schemas.openxmlformats.org/officeDocument/2006/relationships/slide" Target="/ppt/slides/slide26.xml" Id="R4f680607361b41b5" /><Relationship Type="http://schemas.openxmlformats.org/officeDocument/2006/relationships/slide" Target="/ppt/slides/slide27.xml" Id="Rb895ffc2cd2041f5" /><Relationship Type="http://schemas.openxmlformats.org/officeDocument/2006/relationships/slide" Target="/ppt/slides/slide28.xml" Id="Reac4052fc33b48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44a1f3b17448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f6bfd0098742e3" /><Relationship Type="http://schemas.openxmlformats.org/officeDocument/2006/relationships/notesMaster" Target="/ppt/notesMasters/notesMaster1.xml" Id="R6bb06b2ff4694e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aac8fddbe745f2" /><Relationship Type="http://schemas.openxmlformats.org/officeDocument/2006/relationships/notesMaster" Target="/ppt/notesMasters/notesMaster1.xml" Id="R95419b0f35c749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d94fabfad44cf6" /><Relationship Type="http://schemas.openxmlformats.org/officeDocument/2006/relationships/notesMaster" Target="/ppt/notesMasters/notesMaster1.xml" Id="R0bdd10dedbee42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6a52a5682c4c91" /><Relationship Type="http://schemas.openxmlformats.org/officeDocument/2006/relationships/notesMaster" Target="/ppt/notesMasters/notesMaster1.xml" Id="Rdf2f5bda44894d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fa97d1f93440f7" /><Relationship Type="http://schemas.openxmlformats.org/officeDocument/2006/relationships/notesMaster" Target="/ppt/notesMasters/notesMaster1.xml" Id="Rb32c8fb9f7ab48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677476c24e4a75" /><Relationship Type="http://schemas.openxmlformats.org/officeDocument/2006/relationships/notesMaster" Target="/ppt/notesMasters/notesMaster1.xml" Id="Rde56436e3f6c4a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01943797b24fc7" /><Relationship Type="http://schemas.openxmlformats.org/officeDocument/2006/relationships/notesMaster" Target="/ppt/notesMasters/notesMaster1.xml" Id="R53df3d64e1e64e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034985b01d49b8" /><Relationship Type="http://schemas.openxmlformats.org/officeDocument/2006/relationships/notesMaster" Target="/ppt/notesMasters/notesMaster1.xml" Id="R5f8b5f22c0534b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648e777dbf4784" /><Relationship Type="http://schemas.openxmlformats.org/officeDocument/2006/relationships/notesMaster" Target="/ppt/notesMasters/notesMaster1.xml" Id="R85fb45a54cbd4f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b99ef0eb97490f" /><Relationship Type="http://schemas.openxmlformats.org/officeDocument/2006/relationships/notesMaster" Target="/ppt/notesMasters/notesMaster1.xml" Id="Rf26232cb4a6a42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77c7b9aabb4b58" /><Relationship Type="http://schemas.openxmlformats.org/officeDocument/2006/relationships/notesMaster" Target="/ppt/notesMasters/notesMaster1.xml" Id="R352f1a43b12049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42d6c068d74e68" /><Relationship Type="http://schemas.openxmlformats.org/officeDocument/2006/relationships/notesMaster" Target="/ppt/notesMasters/notesMaster1.xml" Id="R3ffc9c104b7a47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9a283468344438" /><Relationship Type="http://schemas.openxmlformats.org/officeDocument/2006/relationships/notesMaster" Target="/ppt/notesMasters/notesMaster1.xml" Id="Rb5e1639ddfb6400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e820a5d8cb24524" /><Relationship Type="http://schemas.openxmlformats.org/officeDocument/2006/relationships/notesMaster" Target="/ppt/notesMasters/notesMaster1.xml" Id="R57dbe14f67854cd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fbaca110fb24667" /><Relationship Type="http://schemas.openxmlformats.org/officeDocument/2006/relationships/notesMaster" Target="/ppt/notesMasters/notesMaster1.xml" Id="R517c28b12df74ee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0070cf135d84ecb" /><Relationship Type="http://schemas.openxmlformats.org/officeDocument/2006/relationships/notesMaster" Target="/ppt/notesMasters/notesMaster1.xml" Id="R003d6ff3474a4d9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70e8e2056fb4bf7" /><Relationship Type="http://schemas.openxmlformats.org/officeDocument/2006/relationships/notesMaster" Target="/ppt/notesMasters/notesMaster1.xml" Id="R00c322af36be402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286b9aaa49b46b8" /><Relationship Type="http://schemas.openxmlformats.org/officeDocument/2006/relationships/notesMaster" Target="/ppt/notesMasters/notesMaster1.xml" Id="R106f67a388ad48c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f606dbd40e24836" /><Relationship Type="http://schemas.openxmlformats.org/officeDocument/2006/relationships/notesMaster" Target="/ppt/notesMasters/notesMaster1.xml" Id="R57e03a7e4d634c5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249cda71fa2421f" /><Relationship Type="http://schemas.openxmlformats.org/officeDocument/2006/relationships/notesMaster" Target="/ppt/notesMasters/notesMaster1.xml" Id="Re4097b16249142a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60b2d6a75664482" /><Relationship Type="http://schemas.openxmlformats.org/officeDocument/2006/relationships/notesMaster" Target="/ppt/notesMasters/notesMaster1.xml" Id="R0cd5065cf859484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7c3028cc21b4874" /><Relationship Type="http://schemas.openxmlformats.org/officeDocument/2006/relationships/notesMaster" Target="/ppt/notesMasters/notesMaster1.xml" Id="Rf21fcf1a1e6a442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007e7b235ef4dc8" /><Relationship Type="http://schemas.openxmlformats.org/officeDocument/2006/relationships/notesMaster" Target="/ppt/notesMasters/notesMaster1.xml" Id="R7cf88f2f96a246b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b129b9b577b40c9" /><Relationship Type="http://schemas.openxmlformats.org/officeDocument/2006/relationships/notesMaster" Target="/ppt/notesMasters/notesMaster1.xml" Id="R1a40040e9c6e45b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92d13cc7ff44e57" /><Relationship Type="http://schemas.openxmlformats.org/officeDocument/2006/relationships/notesMaster" Target="/ppt/notesMasters/notesMaster1.xml" Id="R4ddb3db1762448d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2c3ed382a7344ca" /><Relationship Type="http://schemas.openxmlformats.org/officeDocument/2006/relationships/notesMaster" Target="/ppt/notesMasters/notesMaster1.xml" Id="R9f82b10a443a4e0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0ee6ebdbad24444" /><Relationship Type="http://schemas.openxmlformats.org/officeDocument/2006/relationships/notesMaster" Target="/ppt/notesMasters/notesMaster1.xml" Id="Rc0f295b7ab1b484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282eadea4894702" /><Relationship Type="http://schemas.openxmlformats.org/officeDocument/2006/relationships/notesMaster" Target="/ppt/notesMasters/notesMaster1.xml" Id="R20dabd4d659c4c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本章只假設你會代數與指數。字母 V 可能代表電壓變數，也可能代表伏特單位，須由位置判斷。小寫 m 與大寫 M 相差十億倍。計算時先把單位寫在數字後面，再做代數，能及早發現把 μA 當成 A 的錯誤。第 1 天學習 D01-01 至 D01-08，第 2 天 D01-09 至 D01-19，第 3 天 D01-20 至 D01-28。所有數值練習皆為假設算例，不構成設備或樣品操作設定。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NIST｜SI 電流、伏特與歐姆</a:t>
            </a:r>
          </a:p>
          <a:p xmlns:a="http://schemas.openxmlformats.org/drawingml/2006/main">
            <a:r>
              <a:t>https://www.nist.gov/pml/owm/si-units-electric-current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NIST｜SI 單位與字首</a:t>
            </a:r>
          </a:p>
          <a:p xmlns:a="http://schemas.openxmlformats.org/drawingml/2006/main">
            <a:r>
              <a:t>https://www.nist.gov/pml/special-publication-811/nist-guide-si-chapter-4-two-classes-si-units-and-si-prefixes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 表示前後差量，ΔQ/Δt 就是這段時間的平均變化率。可把電流想成每秒通過收費站的車輛數，但電荷並不在電阻中消失。穩定串聯迴路中，每個截面的電流相同。只有電子導電且只問數量大小時，電子數 N = |Q|/e。此類比不適合推論電場建立速度。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NIST｜基本電荷常數</a:t>
            </a:r>
          </a:p>
          <a:p xmlns:a="http://schemas.openxmlformats.org/drawingml/2006/main">
            <a:r>
              <a:t>https://www.nist.gov/si-redefinition/meet-constants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NIST｜SI 電流、伏特與歐姆</a:t>
            </a:r>
          </a:p>
          <a:p xmlns:a="http://schemas.openxmlformats.org/drawingml/2006/main">
            <a:r>
              <a:t>https://www.nist.gov/pml/owm/si-units-electric-current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地不是會吸走所有電荷的地方。電位整體同時加上同一個常數，不會改變端點之間的電壓。電壓表量到紅端相對黑端的電壓，交換端點通常會改變符號。實驗中的機殼地、保護接地、訊號 LO 是否相接，必須依實際儀器手冊與實驗室接線圖確認。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NIST｜SI 電流、伏特與歐姆</a:t>
            </a:r>
          </a:p>
          <a:p xmlns:a="http://schemas.openxmlformats.org/drawingml/2006/main">
            <a:r>
              <a:t>https://www.nist.gov/pml/owm/si-units-electric-current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6.002｜Lecture 1：集中元件模型</a:t>
            </a:r>
          </a:p>
          <a:p xmlns:a="http://schemas.openxmlformats.org/drawingml/2006/main">
            <a:r>
              <a:t>https://ocw.mit.edu/courses/6-002-circuits-and-electronics-spring-2007/resources/6002_l1/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算例逐步：0.5×20×10^(-6) = 10×10^(-6) W；再乘 2×10^(-3) s，得到 20×10^(-9) J。這是假想端點的電能，不含控制電路、線材或儀器耗能。瞬時峰值功率、單次脈衝能量與平均功率回答不同問題。即使總能量相同，不同脈衝形狀也可能造成不同的局部溫升。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6.002｜Lecture 22：能量與功率</a:t>
            </a:r>
          </a:p>
          <a:p xmlns:a="http://schemas.openxmlformats.org/drawingml/2006/main">
            <a:r>
              <a:t>https://ocw.mit.edu/courses/6-002-circuits-and-electronics-spring-2007/resources/6002_l22/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歐姆定律是特定元件的模型，並非所有材料在所有條件下都遵守的自然通則。對固定的歐姆電阻，電壓增加兩倍，電流也增加兩倍。RRAM 的內部狀態可能改變，不能在切換前後都套用同一個 R。V=0、I=0 的點不能以 0/0 求電阻，可改用附近小訊號斜率。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6.002｜Lecture 1：集中元件模型</a:t>
            </a:r>
          </a:p>
          <a:p xmlns:a="http://schemas.openxmlformats.org/drawingml/2006/main">
            <a:r>
              <a:t>https://ocw.mit.edu/courses/6-002-circuits-and-electronics-spring-2007/resources/6002_l1/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6.002｜Lecture 6：非線性分析</a:t>
            </a:r>
          </a:p>
          <a:p xmlns:a="http://schemas.openxmlformats.org/drawingml/2006/main">
            <a:r>
              <a:t>https://ocw.mit.edu/courses/6-002-circuits-and-electronics-spring-2007/resources/6002_l6/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以上數字是純算術練習，不是待測 RRAM 的安全條件。先算 I，再算 P，再算 U，能避免把能量單位寫成瓦特。當 R 固定時，V 加倍會讓 P 變四倍，因為電流也加倍；只有在電流固定時，P 才與 V 成正比。不同邊界條件不能混在一起。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6.002｜Lecture 22：能量與功率</a:t>
            </a:r>
          </a:p>
          <a:p xmlns:a="http://schemas.openxmlformats.org/drawingml/2006/main">
            <a:r>
              <a:t>https://ocw.mit.edu/courses/6-002-circuits-and-electronics-spring-2007/resources/6002_l22/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先闔上答案作答，建議 20–30 分鐘。A、B、C 為原創假設算例，不使用任何真實樣品資料。D 只交換「量測定義」而非帶電時改接儀器。若你把 μ 看成 m，先回 D01-01再重算。練習的目的在於能留下別人可以重現的算式，而非只記最後的數字。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NIST｜SI 單位與字首</a:t>
            </a:r>
          </a:p>
          <a:p xmlns:a="http://schemas.openxmlformats.org/drawingml/2006/main">
            <a:r>
              <a:t>https://www.nist.gov/pml/special-publication-811/nist-guide-si-chapter-4-two-classes-si-units-and-si-prefixes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6.002｜Lecture 22：能量與功率</a:t>
            </a:r>
          </a:p>
          <a:p xmlns:a="http://schemas.openxmlformats.org/drawingml/2006/main">
            <a:r>
              <a:t>https://ocw.mit.edu/courses/6-002-circuits-and-electronics-spring-2007/resources/6002_l22/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對應練習：D01-07。C 的能量：10×10^(-6) W × 10×10^(-3) s = 100×10^(-9) J。電流回答每秒有多少電荷通過，電壓回答每單位電荷的電位能差。若單位不對，即使數字碰巧相同也不算完成。一般電學算式不能替代實驗室的風險評估與核准 SOP。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NIST｜SI 電流、伏特與歐姆</a:t>
            </a:r>
          </a:p>
          <a:p xmlns:a="http://schemas.openxmlformats.org/drawingml/2006/main">
            <a:r>
              <a:t>https://www.nist.gov/pml/owm/si-units-electric-current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6.002｜Lecture 22：能量與功率</a:t>
            </a:r>
          </a:p>
          <a:p xmlns:a="http://schemas.openxmlformats.org/drawingml/2006/main">
            <a:r>
              <a:t>https://ocw.mit.edu/courses/6-002-circuits-and-electronics-spring-2007/resources/6002_l22/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顏色把同一節點圈起來，再判斷串並聯。兩個電阻畫在旁邊不代表並聯，必須兩端都接在同樣兩個節點。交叉線若未畫連接點，通常不相接，但須遵循該圖的符號習慣。集中元件模型把複雜空間中的電磁行為近似成少數端點變數，極快暫態時須檢查近似是否仍合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6.002｜Lecture 1：集中元件模型</a:t>
            </a:r>
          </a:p>
          <a:p xmlns:a="http://schemas.openxmlformats.org/drawingml/2006/main">
            <a:r>
              <a:t>https://ocw.mit.edu/courses/6-002-circuits-and-electronics-spring-2007/resources/6002_l1/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6.002｜Lecture 2：電路分析</a:t>
            </a:r>
          </a:p>
          <a:p xmlns:a="http://schemas.openxmlformats.org/drawingml/2006/main">
            <a:r>
              <a:t>https://ocw.mit.edu/courses/6-002-circuits-and-electronics-spring-2007/resources/6002_l2/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電荷守恆的完整形式為流入減流出等於節點電荷累積率。基礎電路分析把儲能以電容元件表示，節點本身通常不另存電荷。KCL 因此仍可用於含電容的電路，只需把電容支路電流算進去。箭頭先猜錯沒有關係，保持符號一致即可。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6.002｜Lecture 2：電路分析</a:t>
            </a:r>
          </a:p>
          <a:p xmlns:a="http://schemas.openxmlformats.org/drawingml/2006/main">
            <a:r>
              <a:t>https://ocw.mit.edu/courses/6-002-circuits-and-electronics-spring-2007/resources/6002_l2/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KVL 使用同一套端點電位定義。不要一段用電位上升、一段又把所有電阻都無條件寫正。快速變化的磁通可能引入感應電動勢，屆時需把它納入模型，而不是把基本電路方程當成在任何尺度都可直接套用。這裡的練習只用理想低頻元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6.002｜Lecture 2：電路分析</a:t>
            </a:r>
          </a:p>
          <a:p xmlns:a="http://schemas.openxmlformats.org/drawingml/2006/main">
            <a:r>
              <a:t>https://ocw.mit.edu/courses/6-002-circuits-and-electronics-spring-2007/resources/6002_l2/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分壓公式來自同一電流流過兩個電阻，並非獨立定律。V_out 指 R_2 上端相對下端的電壓。若探針、導線、保護電阻也在電流路徑中，電源顯示的電壓可能分配在多處，樣品端的電壓未必等於設定值。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6.002｜Lecture 2：電路分析</a:t>
            </a:r>
          </a:p>
          <a:p xmlns:a="http://schemas.openxmlformats.org/drawingml/2006/main">
            <a:r>
              <a:t>https://ocw.mit.edu/courses/6-002-circuits-and-electronics-spring-2007/resources/6002_l2/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新增一條正電阻的並聯路徑會增加電導，因而降低總電阻。這就是為什麼治具漏電、潮濕表面或儀器輸入阻抗會改變高電阻樣品的讀值。以電導相加 G_eq=G_1+G_2 通常比反覆處理倒數更容易。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6.002｜Lecture 2：電路分析</a:t>
            </a:r>
          </a:p>
          <a:p xmlns:a="http://schemas.openxmlformats.org/drawingml/2006/main">
            <a:r>
              <a:t>https://ocw.mit.edu/courses/6-002-circuits-and-electronics-spring-2007/resources/6002_l2/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個假想輸入電阻刻意選得很小，以放大量測負載效應，並非任何特定電壓表的規格。真正的儀器應查手冊及所用模式，不能直接沿用這個數字。理想電壓表輸入電阻無限大，理想電流表串聯電阻為零；真實儀器只能接近理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6.002｜Lecture 3：等效電路</a:t>
            </a:r>
          </a:p>
          <a:p xmlns:a="http://schemas.openxmlformats.org/drawingml/2006/main">
            <a:r>
              <a:t>https://ocw.mit.edu/courses/6-002-circuits-and-electronics-spring-2007/resources/6002_l3/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NI｜SMU 量測考量：範圍、精度與暫態</a:t>
            </a:r>
          </a:p>
          <a:p xmlns:a="http://schemas.openxmlformats.org/drawingml/2006/main">
            <a:r>
              <a:t>https://www.ni.com/en/shop/electronic-test-instrumentation/source-measure-units/what-are-source-measure-units/top-measurement-considerations-for-modular-source-measure-units-.html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dV/dt 是電壓曲線的斜率。1 V/ms 等於 1000 V/s，因此 100×10^(-12) F ×1000 V/s = 10^(-7) A。電容電壓要瞬間改變，理想模型需要無限大的瞬間電流，真實電路則會受阻抗與儀器頻寬限制。漏電是非理想效應，不應與理想電容的位移電流混淆。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6.002｜Lecture 12：電容與一階系統</a:t>
            </a:r>
          </a:p>
          <a:p xmlns:a="http://schemas.openxmlformats.org/drawingml/2006/main">
            <a:r>
              <a:t>https://ocw.mit.edu/courses/6-002-circuits-and-electronics-spring-2007/resources/6002_l12/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exp(x) 是自然指數函數 e^(x)。t=0 時括號為零，t 很大時指數項趨近零，符合初始與最終條件。先估 RC 能理解為何需要 source-delay-measure，但不可以把 5τ 當成所有真實系統的合格等待時間。必須用時間序列確認讀值收斂，並檢查規定的精度需求。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6.002｜Lecture 12：電容與一階系統</a:t>
            </a:r>
          </a:p>
          <a:p xmlns:a="http://schemas.openxmlformats.org/drawingml/2006/main">
            <a:r>
              <a:t>https://ocw.mit.edu/courses/6-002-circuits-and-electronics-spring-2007/resources/6002_l12/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Keithley｜2600B 參考手冊：電容負載與暫態</a:t>
            </a:r>
          </a:p>
          <a:p xmlns:a="http://schemas.openxmlformats.org/drawingml/2006/main">
            <a:r>
              <a:t>https://www.tek.com/ko/keithley-source-measure-units/smu-2600b-series-sourcemeter-manual-8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V/m = 0.01 V/cm，因為 1 m =100 cm。先算 0.5/(10×10^(-9))=5×10^(7) V/m，再除以 100 得 5×10^(5) V/cm。此頁為假想算術，不代表任何氧化物可承受這個電場。方向上，靜電場由高電位指向低電位；電子的受力方向則與電場相反。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8.02｜平行板電容與電場</a:t>
            </a:r>
          </a:p>
          <a:p xmlns:a="http://schemas.openxmlformats.org/drawingml/2006/main">
            <a:r>
              <a:t>https://web.mit.edu/8.02t/www/mitxmaterials/InClass/IC_Sol_W04D2_10.pdf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 30–40 分鐘，畫出 A、B 的連接方式後再算。C 的 5τ 只是一個解析模型結果，不應直接填入真實設備。E 不需要任何材料參數，僅需先寫電源電壓等於各區域壓降之和。所有數字為原創假設練習。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6.002｜Lecture 2：電路分析</a:t>
            </a:r>
          </a:p>
          <a:p xmlns:a="http://schemas.openxmlformats.org/drawingml/2006/main">
            <a:r>
              <a:t>https://ocw.mit.edu/courses/6-002-circuits-and-electronics-spring-2007/resources/6002_l2/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6.002｜Lecture 12：電容與一階系統</a:t>
            </a:r>
          </a:p>
          <a:p xmlns:a="http://schemas.openxmlformats.org/drawingml/2006/main">
            <a:r>
              <a:t>https://ocw.mit.edu/courses/6-002-circuits-and-electronics-spring-2007/resources/6002_l12/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8.02｜平行板電容與電場</a:t>
            </a:r>
          </a:p>
          <a:p xmlns:a="http://schemas.openxmlformats.org/drawingml/2006/main">
            <a:r>
              <a:t>https://web.mit.edu/8.02t/www/mitxmaterials/InClass/IC_Sol_W04D2_10.pdf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對應練習：D01-18。A 用 KVL 檢查 0.3+0.6=0.9 V。B 用 KCL 檢查 300+150=450 μA，再用 V/I 檢查等效電阻。D 最常見錯誤是忘記 nm 的 10^(-9)，或把 V/m 換成 V/cm 時乘錯方向。E 若有更多串聯區域，就把其壓降繼續列入。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6.002｜Lecture 2：電路分析</a:t>
            </a:r>
          </a:p>
          <a:p xmlns:a="http://schemas.openxmlformats.org/drawingml/2006/main">
            <a:r>
              <a:t>https://ocw.mit.edu/courses/6-002-circuits-and-electronics-spring-2007/resources/6002_l2/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6.002｜Lecture 12：電容與一階系統</a:t>
            </a:r>
          </a:p>
          <a:p xmlns:a="http://schemas.openxmlformats.org/drawingml/2006/main">
            <a:r>
              <a:t>https://ocw.mit.edu/courses/6-002-circuits-and-electronics-spring-2007/resources/6002_l12/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8.02｜平行板電容與電場</a:t>
            </a:r>
          </a:p>
          <a:p xmlns:a="http://schemas.openxmlformats.org/drawingml/2006/main">
            <a:r>
              <a:t>https://web.mit.edu/8.02t/www/mitxmaterials/InClass/IC_Sol_W04D2_10.pdf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DUT 是 device under test，即待測元件。SMU 可把控制與量測整合，但不代表知道元件能承受什麼。輸出開關、接地、線材、治具與量測範圍都屬於實驗配置。本文只教概念，真實接線與數值必須由現場督導依核准 SOP 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Keithley｜SMU 基本功能</a:t>
            </a:r>
          </a:p>
          <a:p xmlns:a="http://schemas.openxmlformats.org/drawingml/2006/main">
            <a:r>
              <a:t>https://www.tek.com/en/products/keithley/source-measure-units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Keithley｜4200A-SCS SMU 使用手冊，第 5 節</a:t>
            </a:r>
          </a:p>
          <a:p xmlns:a="http://schemas.openxmlformats.org/drawingml/2006/main">
            <a:r>
              <a:t>https://www.tek.com/-/media/documents/4200a-smu-900-01a_dec_2020.pdf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此例是理想限制器加假想電阻的算術，並非任何儀器在真實負載下的瞬態規格。提供電流時則反過來用 voltage compliance。電流平台可能只是儀器限流，不能直接稱作材料飽和或記憶狀態。出現 compliance 時必須保留標記，不可只留看起來漂亮的曲線。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Keithley｜Compliance 的定義</a:t>
            </a:r>
          </a:p>
          <a:p xmlns:a="http://schemas.openxmlformats.org/drawingml/2006/main">
            <a:r>
              <a:t>https://www.tek.com/en/support/faqs/compliance-what-compliance-voltage-source-measure-units-and-sourcemeter-instruments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NI｜SMU 四象限與限制模式</a:t>
            </a:r>
          </a:p>
          <a:p xmlns:a="http://schemas.openxmlformats.org/drawingml/2006/main">
            <a:r>
              <a:t>https://knowledge.ni.com/KnowledgeArticleDetails?id=kA03q000001DugwCAC&amp;l=en-US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Keithley｜2600B 參考手冊：電容負載與暫態</a:t>
            </a:r>
          </a:p>
          <a:p xmlns:a="http://schemas.openxmlformats.org/drawingml/2006/main">
            <a:r>
              <a:t>https://www.tek.com/ko/keithley-source-measure-units/smu-2600b-series-sourcemeter-manual-8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在本課定義下，第一與第三象限對被動電阻皆有 VI&gt;0。若讀到 V&gt;0、I&lt;0，可能代表 DUT 提供能量，也可能是符號定義、暫態或接線問題，要先查清楚。機台的正電流定義不一定等於你畫的 DUT 箭頭，報告中務必附圖。此處沒有要求帶電換線。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NI｜SMU 四象限與限制模式</a:t>
            </a:r>
          </a:p>
          <a:p xmlns:a="http://schemas.openxmlformats.org/drawingml/2006/main">
            <a:r>
              <a:t>https://knowledge.ni.com/KnowledgeArticleDetails?id=kA03q000001DugwCAC&amp;l=en-US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6.002｜Lecture 22：能量與功率</a:t>
            </a:r>
          </a:p>
          <a:p xmlns:a="http://schemas.openxmlformats.org/drawingml/2006/main">
            <a:r>
              <a:t>https://ocw.mit.edu/courses/6-002-circuits-and-electronics-spring-2007/resources/6002_l22/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把資料按電壓大小重新排序會破壞時間順序，並可能畫出不曾真正走過的曲線。原始資料應留 sweep_id、segment_id、point_index 與時間欄。掃描圖中的連線只代表點的採集順序，不是額外實測資料。非揮發性會在第二冊用可分離的寫入、等待與讀取流程定義。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6.002｜Lecture 12：電容與一階系統</a:t>
            </a:r>
          </a:p>
          <a:p xmlns:a="http://schemas.openxmlformats.org/drawingml/2006/main">
            <a:r>
              <a:t>https://ocw.mit.edu/courses/6-002-circuits-and-electronics-spring-2007/resources/6002_l12/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NI｜SMU 量測考量：範圍、精度與暫態</a:t>
            </a:r>
          </a:p>
          <a:p xmlns:a="http://schemas.openxmlformats.org/drawingml/2006/main">
            <a:r>
              <a:t>https://www.ni.com/en/shop/electronic-test-instrumentation/source-measure-units/what-are-source-measure-units/top-measurement-considerations-for-modular-source-measure-units-.html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微分電阻 r=dV/dI，在曲線可微且局部斜率非零時才可取 g 的倒數。這裡的近鄰數字只是示範非線性曲線的割線近似，並非實測。若電流接近儀器的噪聲或偏移量，V/I 會劇烈變動，應報告量測限制而不是一個過度精確的大電阻。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6.002｜Lecture 6：非線性分析</a:t>
            </a:r>
          </a:p>
          <a:p xmlns:a="http://schemas.openxmlformats.org/drawingml/2006/main">
            <a:r>
              <a:t>https://ocw.mit.edu/courses/6-002-circuits-and-electronics-spring-2007/resources/6002_l6/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NI｜SMU 量測考量：範圍、精度與暫態</a:t>
            </a:r>
          </a:p>
          <a:p xmlns:a="http://schemas.openxmlformats.org/drawingml/2006/main">
            <a:r>
              <a:t>https://www.ni.com/en/shop/electronic-test-instrumentation/source-measure-units/what-are-source-measure-units/top-measurement-considerations-for-modular-source-measure-units-.html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110 Ω 的算例假設導線皆為純串聯電阻且無其他誤差。四線法改善的程度取決於 sense 接在哪裡。remote sense 的接法與斷線保護須遵循儀器手冊，輸出啟用時不可依本頁自行改線。高阻量測還要考慮漏電、屏蔽與 guarding，後續量測冊會展開。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Keithley｜4200A-SCS SMU 使用手冊，第 5 節</a:t>
            </a:r>
          </a:p>
          <a:p xmlns:a="http://schemas.openxmlformats.org/drawingml/2006/main">
            <a:r>
              <a:t>https://www.tek.com/-/media/documents/4200a-smu-900-01a_dec_2020.pdf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NI｜SMU 量測考量：範圍、精度與暫態</a:t>
            </a:r>
          </a:p>
          <a:p xmlns:a="http://schemas.openxmlformats.org/drawingml/2006/main">
            <a:r>
              <a:t>https://www.ni.com/en/shop/electronic-test-instrumentation/source-measure-units/what-are-source-measure-units/top-measurement-considerations-for-modular-source-measure-units-.html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以上是為檢查公式與資料欄位而人工構造的數值，沒有實驗、樣品或機台來源。建議 30 分鐘，先把每筆資料的單位正規化，再列出是否可用於比較電阻。A 與 B 不是同一元件前後狀態，因此不能據此計算 switching ratio。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Keithley｜4200A-SCS SMU 使用手冊，第 5 節</a:t>
            </a:r>
          </a:p>
          <a:p xmlns:a="http://schemas.openxmlformats.org/drawingml/2006/main">
            <a:r>
              <a:t>https://www.tek.com/-/media/documents/4200a-smu-900-01a_dec_2020.pdf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6.002｜Lecture 12：電容與一階系統</a:t>
            </a:r>
          </a:p>
          <a:p xmlns:a="http://schemas.openxmlformats.org/drawingml/2006/main">
            <a:r>
              <a:t>https://ocw.mit.edu/courses/6-002-circuits-and-electronics-spring-2007/resources/6002_l12/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對應練習：D01-26。若同一個真實樣品出現 B 這種限制狀態，先依 SOP 停止、記錄並通知督導，不能為追上設定電壓擅自調高上限。把異常資料刪掉會失去重要的診斷資訊。對材料機制的結論應在量測邊界已確認之後提出。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Keithley｜4200A-SCS SMU 使用手冊，第 5 節</a:t>
            </a:r>
          </a:p>
          <a:p xmlns:a="http://schemas.openxmlformats.org/drawingml/2006/main">
            <a:r>
              <a:t>https://www.tek.com/-/media/documents/4200a-smu-900-01a_dec_2020.pdf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6.002｜Lecture 12：電容與一階系統</a:t>
            </a:r>
          </a:p>
          <a:p xmlns:a="http://schemas.openxmlformats.org/drawingml/2006/main">
            <a:r>
              <a:t>https://ocw.mit.edu/courses/6-002-circuits-and-electronics-spring-2007/resources/6002_l12/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Keithley｜2600B 參考手冊：電容負載與暫態</a:t>
            </a:r>
          </a:p>
          <a:p xmlns:a="http://schemas.openxmlformats.org/drawingml/2006/main">
            <a:r>
              <a:t>https://www.tek.com/ko/keithley-source-measure-units/smu-2600b-series-sourcemeter-manual-8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這是本課的學習檢核，不是操作資格認證。建議交出三天的手算頁及一份空白資料欄位表。第 3 週的實驗應在現場督導與核准 SOP 下進行，基礎電學通過仍不足以取代設備、電氣、化學或真空安全訓練。若任一觀念說不清楚，標記問題並在第 7 天複習，不需要以試錯方式操作真實元件。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6.002｜Lecture 2：電路分析</a:t>
            </a:r>
          </a:p>
          <a:p xmlns:a="http://schemas.openxmlformats.org/drawingml/2006/main">
            <a:r>
              <a:t>https://ocw.mit.edu/courses/6-002-circuits-and-electronics-spring-2007/resources/6002_l2/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Keithley｜4200A-SCS SMU 使用手冊，第 5 節</a:t>
            </a:r>
          </a:p>
          <a:p xmlns:a="http://schemas.openxmlformats.org/drawingml/2006/main">
            <a:r>
              <a:t>https://www.tek.com/-/media/documents/4200a-smu-900-01a_dec_2020.pdf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c2438c5ad448a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025b9754fd48e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3a97fe9f9d4b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b230538c724e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f600e64bf549e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a219ef35cc4d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E984CA-DD0F-4BB9-AE30-CB37A66E5A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38" y="2274147"/>
            <a:ext cx="8553907" cy="869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B417B58-7532-4882-B957-DA9F20D89B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3858" y="3310890"/>
            <a:ext cx="7484669" cy="668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C706F49-B5E2-4BE1-B558-6EE4254445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38" y="2508250"/>
            <a:ext cx="8553907" cy="10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B395C7-5F6F-427D-9C66-E4882F726E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8207"/>
            <a:ext cx="9489491" cy="73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129262D-C3CE-44E1-ABE9-9FF3DF65CB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72167"/>
            <a:ext cx="9489491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F55446-5796-46E3-B448-9EF5FCA145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8207"/>
            <a:ext cx="9489491" cy="73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E327A1-4870-41B6-AAEA-F957708C38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72167"/>
            <a:ext cx="4410608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D63E6DF-B867-4F38-990B-FA1C501CEEA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80329" y="1672167"/>
            <a:ext cx="4410608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0A2829-29CF-4846-A520-C1B0F5656A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8207"/>
            <a:ext cx="9489491" cy="73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0827F2-59C9-4259-983B-DB1BEF135A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72167"/>
            <a:ext cx="4410608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892eb0ddf7424e" /><Relationship Type="http://schemas.openxmlformats.org/officeDocument/2006/relationships/slideLayout" Target="/ppt/slideLayouts/slideLayout1.xml" Id="Rbddd8eac24e54de7" /><Relationship Type="http://schemas.openxmlformats.org/officeDocument/2006/relationships/slideLayout" Target="/ppt/slideLayouts/slideLayout2.xml" Id="R803f8883ef97413b" /><Relationship Type="http://schemas.openxmlformats.org/officeDocument/2006/relationships/slideLayout" Target="/ppt/slideLayouts/slideLayout3.xml" Id="R6618d00611ae406a" /><Relationship Type="http://schemas.openxmlformats.org/officeDocument/2006/relationships/slideLayout" Target="/ppt/slideLayouts/slideLayout4.xml" Id="R7745dcc63610499b" /><Relationship Type="http://schemas.openxmlformats.org/officeDocument/2006/relationships/slideLayout" Target="/ppt/slideLayouts/slideLayout5.xml" Id="Rd3ee851e70f4467a" /><Relationship Type="http://schemas.openxmlformats.org/officeDocument/2006/relationships/slideLayout" Target="/ppt/slideLayouts/slideLayout6.xml" Id="R3edd085718314d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dd8eac24e54de7"/>
    <p:sldLayoutId xmlns:r="http://schemas.openxmlformats.org/officeDocument/2006/relationships" id="2147483650" r:id="R803f8883ef97413b"/>
    <p:sldLayoutId xmlns:r="http://schemas.openxmlformats.org/officeDocument/2006/relationships" id="2147483651" r:id="R6618d00611ae406a"/>
    <p:sldLayoutId xmlns:r="http://schemas.openxmlformats.org/officeDocument/2006/relationships" id="2147483652" r:id="R7745dcc63610499b"/>
    <p:sldLayoutId xmlns:r="http://schemas.openxmlformats.org/officeDocument/2006/relationships" id="2147483653" r:id="Rd3ee851e70f4467a"/>
    <p:sldLayoutId xmlns:r="http://schemas.openxmlformats.org/officeDocument/2006/relationships" id="2147483654" r:id="R3edd085718314d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90a7a2ccc24423" /><Relationship Type="http://schemas.openxmlformats.org/officeDocument/2006/relationships/notesSlide" Target="/ppt/notesSlides/notesSlide1.xml" Id="Reed320ddf7d040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05d49120194b3e" /><Relationship Type="http://schemas.openxmlformats.org/officeDocument/2006/relationships/notesSlide" Target="/ppt/notesSlides/notesSlide2.xml" Id="R1e58c3a8162541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bff1ba1b564f06" /><Relationship Type="http://schemas.openxmlformats.org/officeDocument/2006/relationships/notesSlide" Target="/ppt/notesSlides/notesSlide3.xml" Id="R609d1406dceb42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0db1f7678546f8" /><Relationship Type="http://schemas.openxmlformats.org/officeDocument/2006/relationships/notesSlide" Target="/ppt/notesSlides/notesSlide4.xml" Id="R948096f9bce74c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8660ce717c48f4" /><Relationship Type="http://schemas.openxmlformats.org/officeDocument/2006/relationships/notesSlide" Target="/ppt/notesSlides/notesSlide5.xml" Id="R0fc8ab8c515841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60f09d6ee2499d" /><Relationship Type="http://schemas.openxmlformats.org/officeDocument/2006/relationships/notesSlide" Target="/ppt/notesSlides/notesSlide6.xml" Id="R24aebaace54b47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69859de25d495d" /><Relationship Type="http://schemas.openxmlformats.org/officeDocument/2006/relationships/notesSlide" Target="/ppt/notesSlides/notesSlide7.xml" Id="R44c4509d873140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45fa0eefd446ec" /><Relationship Type="http://schemas.openxmlformats.org/officeDocument/2006/relationships/notesSlide" Target="/ppt/notesSlides/notesSlide8.xml" Id="R6821ad69a6c24a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96a64e730840e1" /><Relationship Type="http://schemas.openxmlformats.org/officeDocument/2006/relationships/notesSlide" Target="/ppt/notesSlides/notesSlide9.xml" Id="R28e41a0e564447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dc550845d04c61" /><Relationship Type="http://schemas.openxmlformats.org/officeDocument/2006/relationships/notesSlide" Target="/ppt/notesSlides/notesSlide10.xml" Id="Rf967a32ea94f4f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be4ae9df89460b" /><Relationship Type="http://schemas.openxmlformats.org/officeDocument/2006/relationships/notesSlide" Target="/ppt/notesSlides/notesSlide11.xml" Id="R3fce6b0ad6c245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60ca7d956e433b" /><Relationship Type="http://schemas.openxmlformats.org/officeDocument/2006/relationships/notesSlide" Target="/ppt/notesSlides/notesSlide12.xml" Id="R453da66d13d04c9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4be9190a574555" /><Relationship Type="http://schemas.openxmlformats.org/officeDocument/2006/relationships/notesSlide" Target="/ppt/notesSlides/notesSlide13.xml" Id="Rf84e1fa43b314e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86fae055af4bd6" /><Relationship Type="http://schemas.openxmlformats.org/officeDocument/2006/relationships/notesSlide" Target="/ppt/notesSlides/notesSlide14.xml" Id="R394ea59ea62943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ac85ccd5794109" /><Relationship Type="http://schemas.openxmlformats.org/officeDocument/2006/relationships/notesSlide" Target="/ppt/notesSlides/notesSlide15.xml" Id="R8aff12436239472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3b512668084f82" /><Relationship Type="http://schemas.openxmlformats.org/officeDocument/2006/relationships/notesSlide" Target="/ppt/notesSlides/notesSlide16.xml" Id="R6bf008daa5164ad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0ee57340224cc5" /><Relationship Type="http://schemas.openxmlformats.org/officeDocument/2006/relationships/notesSlide" Target="/ppt/notesSlides/notesSlide17.xml" Id="R817c08b49f2b4b1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457f60e0184401" /><Relationship Type="http://schemas.openxmlformats.org/officeDocument/2006/relationships/notesSlide" Target="/ppt/notesSlides/notesSlide18.xml" Id="Raf927192a77248a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86a694a53b4140" /><Relationship Type="http://schemas.openxmlformats.org/officeDocument/2006/relationships/notesSlide" Target="/ppt/notesSlides/notesSlide19.xml" Id="R0fb66aaf4b0949d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16434e9c9d46a0" /><Relationship Type="http://schemas.openxmlformats.org/officeDocument/2006/relationships/notesSlide" Target="/ppt/notesSlides/notesSlide20.xml" Id="R8522d728304242c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21cd5e139d4eb7" /><Relationship Type="http://schemas.openxmlformats.org/officeDocument/2006/relationships/notesSlide" Target="/ppt/notesSlides/notesSlide21.xml" Id="R035dfd42d79142e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bfe982f67242de" /><Relationship Type="http://schemas.openxmlformats.org/officeDocument/2006/relationships/notesSlide" Target="/ppt/notesSlides/notesSlide22.xml" Id="R9987d2cdc800473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31b2a14b084ce0" /><Relationship Type="http://schemas.openxmlformats.org/officeDocument/2006/relationships/notesSlide" Target="/ppt/notesSlides/notesSlide23.xml" Id="Ra554070abc85489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d5784e708b43ae" /><Relationship Type="http://schemas.openxmlformats.org/officeDocument/2006/relationships/notesSlide" Target="/ppt/notesSlides/notesSlide24.xml" Id="R26649c20afe94ef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34dd6020ad4b99" /><Relationship Type="http://schemas.openxmlformats.org/officeDocument/2006/relationships/notesSlide" Target="/ppt/notesSlides/notesSlide25.xml" Id="R8aa05fc5c4d6459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47370ddcc940e4" /><Relationship Type="http://schemas.openxmlformats.org/officeDocument/2006/relationships/notesSlide" Target="/ppt/notesSlides/notesSlide26.xml" Id="R300d9fec107c43a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13055a4adc4058" /><Relationship Type="http://schemas.openxmlformats.org/officeDocument/2006/relationships/notesSlide" Target="/ppt/notesSlides/notesSlide27.xml" Id="Rbc29686494a74ff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32368f74724a4e" /><Relationship Type="http://schemas.openxmlformats.org/officeDocument/2006/relationships/notesSlide" Target="/ppt/notesSlides/notesSlide28.xml" Id="R648b446a37e94d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52014F-5C41-455A-BAA0-DC54D746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電學量與單位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0D02297-A308-4A31-8CC3-21C6B34C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3B9EBA3-108D-4A52-B720-D9234E3F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1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0CA5A677-A2A5-4AFE-B086-ED711D56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電荷 Q：多少電量，單位庫侖 C。電流 I：每秒通過多少電荷，單位安培 A。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9BA68530-A438-4351-A1C5-75230B04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電壓 V：兩點的電位差，單位伏特 V。電阻 R：電壓與電流的比值，單位歐姆 Ω。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27A4C7BE-84A3-4765-88CC-FC16B3E9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能量 U：累積轉移的能量，單位焦耳 J。功率 P：能量轉移速率，單位瓦特 W。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19896FA1-B656-4D9C-898B-70AA79B2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字首：m = 10^(-3)，μ = 10^(-6)，n = 10^(-9)，k = 10^(3)，M = 10^(6)。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2EE89738-C1E1-49B6-9B69-472630E7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換算例：250 μA = 2.50 × 10^(-4) A；5 nm = 5 × 10^(-9) m。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1F4526CF-0CC5-448A-9D0E-E9C5A6B6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0EE0A114-8E19-48DF-8A16-E628B7B4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BF701C6D-4F6B-4160-81A7-36C1F7B5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D01-01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E289417-0070-43EB-B931-E2CF510B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 / 28</a:t>
            </a:r>
          </a:p>
        </p:txBody>
      </p:sp>
    </p:spTree>
    <p:extLst>
      <p:ext uri="{BB962C8B-B14F-4D97-AF65-F5344CB8AC3E}">
        <p14:creationId xmlns:p14="http://schemas.microsoft.com/office/powerpoint/2010/main" val="2020291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9B9E85-FDB2-4D0E-BF36-98ACDBF0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電荷與電流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B13EC058-DED8-42C1-A950-00AF8858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08FB22E-7CE5-4EBC-84A0-416C1AAB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1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BAD2CA4B-ECE3-4B07-95FB-E3F86763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電子帶負電，q_e = -e；基本電荷 e = 1.602176634 × 10^(-19) C。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AE5E9AD9-6192-4FE8-A6F4-485F8A9C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平均電流 I = ΔQ / Δt；1 A = 1 C/s。瞬時電流描述某一時刻的變化率。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759371F6-4B3B-4B69-AFC3-9621D036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傳統電流方向依正電荷移動定義。在金屬中，電子的漂移方向與電流相反。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5AD19F4C-17E8-4565-86A5-7A91CE82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假設：2 μC 電荷於 4 ms 內通過截面，I = (2×10^(-6)) / (4×10^(-3)) = 0.5 mA。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3B07389F-3ACF-493A-9E9A-992CA7E5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檢查：電流數值描述通過的速率，不能直接當作「元件內有多少電子」。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D988B67A-85AC-4A63-9FC8-4DB19304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7F117FD9-E146-4D49-A842-6F0F9070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99D54C3A-775A-491F-AF33-173FCB5A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D01-02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5F14A6A-3D06-4304-B39D-9F336748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 / 28</a:t>
            </a:r>
          </a:p>
        </p:txBody>
      </p:sp>
    </p:spTree>
    <p:extLst>
      <p:ext uri="{BB962C8B-B14F-4D97-AF65-F5344CB8AC3E}">
        <p14:creationId xmlns:p14="http://schemas.microsoft.com/office/powerpoint/2010/main" val="20351117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3321CF-E22F-4892-A610-C4698085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電壓與參考點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71E7BC4-AD91-456F-9E60-8C24F814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2CBF33C-F15D-46C4-BE33-4063F5D4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1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BEEFC26C-7E07-4CDE-BB8C-39CADA15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電位差 V_AB = V_A - V_B；正負號取決於比較的順序。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4A510D8C-E1FE-42ED-8599-E558699F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對電荷 q，電位能變化 ΔU = qΔV；1 V = 1 J/C。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83912FE7-FD2B-4D96-AB6B-62374CD4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接地符號通常表示本電路選定的 0 V 參考，未必等於保護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接地。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D22DE5C1-B2D9-4DD2-8417-ACC6EF45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68893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假設：V_A = 0.6 V、V_B = 0.2 V，則 V_AB = +0.4 V，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V_BA = -0.4 V。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DB598AA5-E60F-47E1-8272-02D17E0F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9468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量電壓必須指明兩個端點。只說「這個點是 1 V」省略了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參考點。</a:t>
            </a:r>
          </a:p>
        </p:txBody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04A310D2-6EBE-4927-88C7-2D888186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90498" y="1676400"/>
            <a:ext cx="95" cy="6643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97DB4A38-9390-43AC-8A32-6ADFCFCC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90498" y="2983706"/>
            <a:ext cx="95" cy="6643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1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9E441D0C-BD67-4037-9CF3-AF27D240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094" y="1650683"/>
            <a:ext cx="52807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B47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12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1DDFD62F-0C50-4CBB-A811-F8DD17AF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094" y="3622358"/>
            <a:ext cx="52807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B47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13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924DFE90-5A84-4D00-B5F4-9B2F91F2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456" y="2340769"/>
            <a:ext cx="660083" cy="6429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V</a:t>
            </a:r>
          </a:p>
        </p:txBody>
      </p:sp>
      <p:sp>
        <p:nvSpPr>
          <p:cNvPr id="14" name="figure-label-5">
            <a:extLst xmlns:a="http://schemas.openxmlformats.org/drawingml/2006/main">
              <a:ext uri="{FF2B5EF4-FFF2-40B4-BE49-F238E27FC236}">
                <a16:creationId xmlns:a16="http://schemas.microsoft.com/office/drawing/2014/main" id="{67D65C18-87E4-4802-95D9-77259FAF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8536" y="1462088"/>
            <a:ext cx="176022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A：0.6 V</a:t>
            </a:r>
          </a:p>
        </p:txBody>
      </p:sp>
      <p:sp>
        <p:nvSpPr>
          <p:cNvPr id="15" name="figure-label-6">
            <a:extLst xmlns:a="http://schemas.openxmlformats.org/drawingml/2006/main">
              <a:ext uri="{FF2B5EF4-FFF2-40B4-BE49-F238E27FC236}">
                <a16:creationId xmlns:a16="http://schemas.microsoft.com/office/drawing/2014/main" id="{E9C59835-9205-42EF-8BB5-A5AE310B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8536" y="3519488"/>
            <a:ext cx="176022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B：0.2 V</a:t>
            </a:r>
          </a:p>
        </p:txBody>
      </p:sp>
      <p:sp>
        <p:nvSpPr>
          <p:cNvPr id="16" name="figure-label-7">
            <a:extLst xmlns:a="http://schemas.openxmlformats.org/drawingml/2006/main">
              <a:ext uri="{FF2B5EF4-FFF2-40B4-BE49-F238E27FC236}">
                <a16:creationId xmlns:a16="http://schemas.microsoft.com/office/drawing/2014/main" id="{75FFFFD3-257A-4CAA-9FFC-391826F6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297" y="3948113"/>
            <a:ext cx="3740468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V_AB = +0.4 V</a:t>
            </a:r>
          </a:p>
        </p:txBody>
      </p:sp>
      <p:sp>
        <p:nvSpPr>
          <p:cNvPr id="17" name="figure-label-8">
            <a:extLst xmlns:a="http://schemas.openxmlformats.org/drawingml/2006/main">
              <a:ext uri="{FF2B5EF4-FFF2-40B4-BE49-F238E27FC236}">
                <a16:creationId xmlns:a16="http://schemas.microsoft.com/office/drawing/2014/main" id="{C5A2B93F-6C0D-4391-9137-2F5B4586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297" y="4376738"/>
            <a:ext cx="3740468" cy="237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共同參考 0 V</a:t>
            </a:r>
          </a:p>
        </p:txBody>
      </p:sp>
      <p:sp>
        <p:nvSpPr>
          <p:cNvPr id="1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C376B0A5-E58E-481A-94C5-3551D361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755AA7B1-A88F-46F3-95B9-9FACF8AA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68706D0F-2551-46B9-937E-F0836AF2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D01-03</a:t>
            </a:r>
          </a:p>
        </p:txBody>
      </p:sp>
      <p:sp>
        <p:nvSpPr>
          <p:cNvPr id="2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12C7DE-C43D-4B04-88A5-B136974E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3 / 28</a:t>
            </a:r>
          </a:p>
        </p:txBody>
      </p:sp>
    </p:spTree>
    <p:extLst>
      <p:ext uri="{BB962C8B-B14F-4D97-AF65-F5344CB8AC3E}">
        <p14:creationId xmlns:p14="http://schemas.microsoft.com/office/powerpoint/2010/main" val="14226889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11503B-B3CC-4CC7-8F25-1ABDE5A9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能量與功率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D17ABE17-242A-4995-817C-C1797373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1B07223-D4CA-4A83-A01B-EB68679B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1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677AEECE-0EC9-41A0-B907-A3DF180D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功率 P = dU/dt。電壓與電流固定時，P = VI，能量 U = VIt。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2D7EE757-FB60-40AD-9138-2501256D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對吸收能量的電阻，電流流入標「＋」的端點時，P = VI 為正。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F3C1A3BA-1034-42E4-8829-404BC1E9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假設：0.5 V、20 μA 持續 2 ms，P = 10 μW，U = 20 nJ。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87316FF2-584C-4B88-A492-1C20E795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若脈衝形狀改變，能量須算 U = ∫V(t)I(t)dt，不能只乘峰值。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6FC5F95F-ABD0-4AA5-94B0-757161B3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功率和能量不同：同樣功率持續更久，總能量更大。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9DABA460-D7A2-47DB-96BF-2ED631D0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A4114668-B12F-4C34-B8E4-00DDAF6F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BF0BD456-B29D-4C9A-9169-649D5D33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D01-04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4BBF918-9837-496C-908C-FAAFE7F5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4 / 28</a:t>
            </a:r>
          </a:p>
        </p:txBody>
      </p:sp>
    </p:spTree>
    <p:extLst>
      <p:ext uri="{BB962C8B-B14F-4D97-AF65-F5344CB8AC3E}">
        <p14:creationId xmlns:p14="http://schemas.microsoft.com/office/powerpoint/2010/main" val="1910336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9B65C4-6E84-406F-8009-32831B40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歐姆定律的適用範圍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7D37577-15F2-4AEB-80E0-F3245CCD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ADBA694-E599-4FF9-8E1A-3CFC4F55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1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ACBE4E21-1B1E-4590-9845-0B3B7A79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歐姆電阻滿足 V = IR。R 固定時，I–V 為通過原點的直線。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7CC307B8-405B-41E7-A8C9-6C712F69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電導 G = 1/R，單位西門子 S；同一電壓下，G 越大，電流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越大。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412D1919-5AD3-4452-8861-3CB23E92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1313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假設：R = 10 kΩ，V = 0.2 V，則 I = 20 μA，G = 100 μS。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3A368EF8-B415-41EA-BBFC-0A0F326E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68893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真實元件的電阻可隨溫度、偏壓或先前狀態改變。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33553D93-EA36-4907-8A03-2017B8C3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24651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在某一點算出 V/I，只得到該點的比值，不能證明整段曲線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遵守歐姆定律。</a:t>
            </a:r>
          </a:p>
        </p:txBody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A20AE1AA-8BAE-4E99-9795-9774F3C8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3071813"/>
            <a:ext cx="36385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57889"/>
            </a:solidFill>
            <a:prstDash val="solid"/>
          </a:ln>
        </p:spPr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2C10B394-F808-4EA3-9DA2-70997FD3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53400" y="1857375"/>
            <a:ext cx="95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57889"/>
            </a:solidFill>
            <a:prstDash val="solid"/>
          </a:ln>
        </p:spPr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AB52B73B-D894-40E3-9DD9-2DECED70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3033713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C6BEC61-C08C-4A04-B18C-6089FFF6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148013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-0.2</a:t>
            </a:r>
          </a:p>
        </p:txBody>
      </p:sp>
      <p:sp>
        <p:nvSpPr>
          <p:cNvPr id="1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3125058-1F17-41C5-9E7B-3D019155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53400" y="3033713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62BC865-8FA7-4227-96DF-35DDD187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8013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15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B144C5C7-BBAC-4230-B65E-9B837672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72675" y="3033713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0317CE04-7EBC-470E-A00C-BF3F41E0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148013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0.2</a:t>
            </a:r>
          </a:p>
        </p:txBody>
      </p:sp>
      <p:sp>
        <p:nvSpPr>
          <p:cNvPr id="17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EEB82DB5-6CF9-41C6-B8AE-B92508EA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15300" y="4286250"/>
            <a:ext cx="76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34264AC2-2654-43B2-B96C-66A5A26E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9100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-20</a:t>
            </a:r>
          </a:p>
        </p:txBody>
      </p:sp>
      <p:sp>
        <p:nvSpPr>
          <p:cNvPr id="1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DC05AD6E-8225-406A-B747-48B1B50C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15300" y="1857375"/>
            <a:ext cx="76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D4E49538-1F26-49C1-8716-48046934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6212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20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A0A8BF2F-55E5-488D-B192-21A8826C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86300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V（V）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8CD2BC06-BC2F-47BA-B9B1-086CA8E3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71625"/>
            <a:ext cx="3638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I（μA）</a:t>
            </a:r>
          </a:p>
        </p:txBody>
      </p:sp>
      <p:sp>
        <p:nvSpPr>
          <p:cNvPr id="23" name="analytical-series">
            <a:extLst xmlns:a="http://schemas.openxmlformats.org/drawingml/2006/main">
              <a:ext uri="{FF2B5EF4-FFF2-40B4-BE49-F238E27FC236}">
                <a16:creationId xmlns:a16="http://schemas.microsoft.com/office/drawing/2014/main" id="{28461F1E-8D12-4088-8F0B-5B9830E4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57375"/>
            <a:ext cx="3638550" cy="2428875"/>
          </a:xfrm>
          <a:custGeom xmlns:a="http://schemas.openxmlformats.org/drawingml/2006/main">
            <a:pathLst>
              <a:path w="3638550" h="2428875">
                <a:moveTo>
                  <a:pt x="0" y="2428875"/>
                </a:moveTo>
                <a:lnTo>
                  <a:pt x="1819275" y="1214438"/>
                </a:lnTo>
                <a:lnTo>
                  <a:pt x="3638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47A86"/>
            </a:solidFill>
            <a:prstDash val="solid"/>
          </a:ln>
        </p:spPr>
      </p:sp>
      <p:sp>
        <p:nvSpPr>
          <p:cNvPr id="24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A416957D-2321-4C3E-B04F-4BDB3175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29225"/>
            <a:ext cx="4400550" cy="199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假設的 10 kΩ 歐姆電阻，非量測資料</a:t>
            </a:r>
          </a:p>
        </p:txBody>
      </p:sp>
      <p:sp>
        <p:nvSpPr>
          <p:cNvPr id="25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0E049F5C-2BF0-47B1-9A51-5E4E9332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6" name="footer">
            <a:extLst xmlns:a="http://schemas.openxmlformats.org/drawingml/2006/main">
              <a:ext uri="{FF2B5EF4-FFF2-40B4-BE49-F238E27FC236}">
                <a16:creationId xmlns:a16="http://schemas.microsoft.com/office/drawing/2014/main" id="{DD98E057-98D0-4B1A-BB66-8D5C5CFD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7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387DE8B9-DEE0-4ECA-806A-19835339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D01-05</a:t>
            </a:r>
          </a:p>
        </p:txBody>
      </p:sp>
      <p:sp>
        <p:nvSpPr>
          <p:cNvPr id="2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13AB753-9B63-435C-953F-ABBFA507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5 / 28</a:t>
            </a:r>
          </a:p>
        </p:txBody>
      </p:sp>
    </p:spTree>
    <p:extLst>
      <p:ext uri="{BB962C8B-B14F-4D97-AF65-F5344CB8AC3E}">
        <p14:creationId xmlns:p14="http://schemas.microsoft.com/office/powerpoint/2010/main" val="19269543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694DB4-D48A-4322-960A-051A50D8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完整算例：電阻的電流與耗能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FEE586E7-A802-4468-BD04-C73950C4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9D3DBDF-0F28-4F76-B5E4-B492A2E7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1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80245B35-6CAC-4ED2-88E6-821E838A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題設：理想電阻 R = 2 kΩ，端點電壓 V = 0.4 V，持續 t = 5 ms。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7DF911C4-7D93-4956-833E-3904896D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電流 I = V/R = 0.4 / 2000 = 2×10^(-4) A = 200 μA。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1CDCBD5D-746E-4CA8-B82E-AEBCD8F4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功率 P = VI = 0.4 × 200 μA = 80 μW。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57C6C2D3-3C2C-4C2F-A227-BA9D4255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能量 U = Pt = 80 μW × 5 ms = 400 nJ。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BDF4D75F-3BCA-4780-BB77-00ECB4DE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交叉檢查：P = V^(2)/R = 0.16/2000 = 80 μW，與前式相同。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1E07D7FB-E57C-4BA7-9E08-8845601E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4BCCD9A1-B091-4075-BD1E-A831DA56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5781A07B-EC92-49B6-8CCB-DA9F69B4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D01-06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77C444C-994C-4801-85B6-95DC38A4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6 / 28</a:t>
            </a:r>
          </a:p>
        </p:txBody>
      </p:sp>
    </p:spTree>
    <p:extLst>
      <p:ext uri="{BB962C8B-B14F-4D97-AF65-F5344CB8AC3E}">
        <p14:creationId xmlns:p14="http://schemas.microsoft.com/office/powerpoint/2010/main" val="1480565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E7BEC7-FFDA-4C59-93A0-705DB80C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第 1 天練習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31A7CF27-C897-45B9-B5B1-E3ED5701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008FF46-76FB-4224-8200-32D0B91C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1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7E67EE80-A32E-4770-808F-5636112A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A｜把 0.030 mA 換成 μA 與 A，把 12 nm 換成 m。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F6C15D1B-6CAD-490A-81E1-E7C9281D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B｜假設 6 nC 電荷在 3 μs 通過截面，平均電流是多少？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38E0C79B-D50D-4605-8BEF-1A66E71B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C｜假設 4 kΩ 電阻承受 0.2 V，求 I、P，以及 10 ms 內的能量。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2A82840B-9E99-4350-9ADC-46592740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D｜若交換電壓量測端點，V_AB 的符號如何變？元件是否因此改變？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0002CB4F-EDE6-4DF5-9E19-A2155CCF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作答格式：公式、代入值、單位、結果。另寫一句說明電壓與電流的差別。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85FAFBEE-2E57-4929-9046-AE2A6D77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0215B039-5943-469E-914B-8985C8BF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62F41702-30D3-44A0-96E8-34B88996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D01-07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706A987-ACA8-40FE-B20E-25F38B20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7 / 28</a:t>
            </a:r>
          </a:p>
        </p:txBody>
      </p:sp>
    </p:spTree>
    <p:extLst>
      <p:ext uri="{BB962C8B-B14F-4D97-AF65-F5344CB8AC3E}">
        <p14:creationId xmlns:p14="http://schemas.microsoft.com/office/powerpoint/2010/main" val="12516299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0FB56F-33B2-4160-8A80-E395B555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第 1 天解答與誤解檢查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C5D4731A-438C-4ABD-BD86-7CF88156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288C575-04DF-4F3A-A990-31AE6EDC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1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D8FF4983-15D2-416F-BCD9-994BBEDF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A｜0.030 mA = 30 μA = 3.0×10^(-5) A；12 nm = 1.2×10^(-8) m。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F93998B7-E515-45DC-9693-7C55E306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B｜I = (6×10^(-9)) / (3×10^(-6)) = 2×10^(-3) A = 2 mA。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86D84E2E-977A-4D2B-B5ED-F33191C8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C｜I = 0.2/4000 = 50 μA；P = 10 μW；U = 100 nJ。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14D8CEDE-787F-48E2-9631-EB4E0972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D｜V_BA = -V_AB。改變參考順序會改符號，不代表材料狀態改變。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D4CD7A31-8FA9-4C76-BB4E-6BDD3961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誤解檢查：「小電流一定安全」缺少電壓、時間、能量與樣品耐受條件。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11A57396-0AFB-41D0-9453-15CB0D4B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5A625167-A0AD-4494-A58E-6CC74F2C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EC7CE2B6-11EC-4E52-B521-5A89A193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D01-08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4DA01EE-0394-482A-97B2-1979567E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8 / 28</a:t>
            </a:r>
          </a:p>
        </p:txBody>
      </p:sp>
    </p:spTree>
    <p:extLst>
      <p:ext uri="{BB962C8B-B14F-4D97-AF65-F5344CB8AC3E}">
        <p14:creationId xmlns:p14="http://schemas.microsoft.com/office/powerpoint/2010/main" val="16798674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735810-8393-4AA1-8A66-2083A73B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節點、支路與電路圖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A064C24-3094-445A-A6E8-B22E2621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39143D3-5879-45D9-A1BE-EA7DAEBC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2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772DDFBD-6CC4-4179-B3B6-891F0EC7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節點 node：理想導線直接相連的一組端點，電位相同。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91464DFB-1274-4E38-901E-C457D019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支路 branch：連接兩個節點的元件或路徑。迴路 loop：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可走回起點的閉合路徑。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6D49F54B-4B7A-4BDC-8CB3-AB80D30B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1313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理想導線壓降為零。真實導線、探針與接觸仍有電阻。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D18FEC87-BA78-4A56-AB8F-6E73A0D7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68893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串聯：中間節點沒有分流，元件電流相同。並聯：兩端接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到同一對節點。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E19395FF-6C2E-4296-8114-D53BA429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9468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電路圖的位置不代表實體距離。判斷連接關係比看元件排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成直線更可靠。</a:t>
            </a:r>
          </a:p>
        </p:txBody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87FD69A7-75A5-444D-90C7-02AA5C94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0333" y="4076700"/>
            <a:ext cx="308038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5FACD898-8AD8-4EDD-B898-B574C2D8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0333" y="1676400"/>
            <a:ext cx="660083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1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C991EF23-A66A-48EF-B777-BA7F1401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0415" y="1462088"/>
            <a:ext cx="660083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R_1</a:t>
            </a:r>
          </a:p>
        </p:txBody>
      </p:sp>
      <p:sp>
        <p:nvSpPr>
          <p:cNvPr id="1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D808E048-19EF-4D59-965D-CBD44E00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90498" y="1676400"/>
            <a:ext cx="176022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3" name="figure-label-4">
            <a:extLst xmlns:a="http://schemas.openxmlformats.org/drawingml/2006/main">
              <a:ext uri="{FF2B5EF4-FFF2-40B4-BE49-F238E27FC236}">
                <a16:creationId xmlns:a16="http://schemas.microsoft.com/office/drawing/2014/main" id="{A0EEA8AC-647D-43E7-BA9F-6CDC40F3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338" y="1226344"/>
            <a:ext cx="44005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A</a:t>
            </a:r>
          </a:p>
        </p:txBody>
      </p:sp>
      <p:sp>
        <p:nvSpPr>
          <p:cNvPr id="14" name="figure-label-5">
            <a:extLst xmlns:a="http://schemas.openxmlformats.org/drawingml/2006/main">
              <a:ext uri="{FF2B5EF4-FFF2-40B4-BE49-F238E27FC236}">
                <a16:creationId xmlns:a16="http://schemas.microsoft.com/office/drawing/2014/main" id="{E7A9201E-C7ED-4AB4-9AED-C3FBF3BF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572" y="1226344"/>
            <a:ext cx="44005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B</a:t>
            </a:r>
          </a:p>
        </p:txBody>
      </p:sp>
      <p:sp>
        <p:nvSpPr>
          <p:cNvPr id="15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7F96EE60-AD64-46B1-9083-642E3D21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166" y="1650683"/>
            <a:ext cx="52807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B47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16" name="figure-label-7">
            <a:extLst xmlns:a="http://schemas.openxmlformats.org/drawingml/2006/main">
              <a:ext uri="{FF2B5EF4-FFF2-40B4-BE49-F238E27FC236}">
                <a16:creationId xmlns:a16="http://schemas.microsoft.com/office/drawing/2014/main" id="{87D15C13-C3C3-4D5D-8F5E-A929EFDA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0470" y="4205288"/>
            <a:ext cx="88011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0 V</a:t>
            </a:r>
          </a:p>
        </p:txBody>
      </p:sp>
      <p:sp>
        <p:nvSpPr>
          <p:cNvPr id="17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DAAC67C0-CD58-4BCA-A5F9-168BF3AB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0333" y="1676400"/>
            <a:ext cx="95" cy="9001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8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382DD416-831E-4F72-859D-A2F24E1E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294" y="2576513"/>
            <a:ext cx="616077" cy="600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+</a:t>
            </a:r>
          </a:p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-</a:t>
            </a:r>
          </a:p>
        </p:txBody>
      </p:sp>
      <p:sp>
        <p:nvSpPr>
          <p:cNvPr id="1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5FC7E8D2-56DC-4269-B8F9-2F60FB45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0333" y="3176588"/>
            <a:ext cx="95" cy="9001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20" name="figure-label-11">
            <a:extLst xmlns:a="http://schemas.openxmlformats.org/drawingml/2006/main">
              <a:ext uri="{FF2B5EF4-FFF2-40B4-BE49-F238E27FC236}">
                <a16:creationId xmlns:a16="http://schemas.microsoft.com/office/drawing/2014/main" id="{397339A7-44A9-4C10-908D-34756F85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261" y="3305175"/>
            <a:ext cx="1320165" cy="237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0D8CFF06-1CD0-4759-897C-C0AB3E6A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74558" y="1676400"/>
            <a:ext cx="95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22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D129E14D-FE84-467E-BA2E-98AE131C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447925"/>
            <a:ext cx="528066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R_2</a:t>
            </a:r>
          </a:p>
        </p:txBody>
      </p:sp>
      <p:sp>
        <p:nvSpPr>
          <p:cNvPr id="2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686714F4-2FD0-4EA2-8F0E-4CF4DBB0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74558" y="3090863"/>
            <a:ext cx="95" cy="9858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2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C2154E70-F350-4D58-8BB8-0878AB9B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50718" y="1676400"/>
            <a:ext cx="95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25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25CF03CD-3E41-47EB-AD63-6CA3DC4B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685" y="2447925"/>
            <a:ext cx="528066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R_3</a:t>
            </a:r>
          </a:p>
        </p:txBody>
      </p:sp>
      <p:sp>
        <p:nvSpPr>
          <p:cNvPr id="26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8AB31CF2-3204-49E4-8B75-A6D8ED9D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50718" y="3090863"/>
            <a:ext cx="95" cy="9858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27" name="figure-label-18">
            <a:extLst xmlns:a="http://schemas.openxmlformats.org/drawingml/2006/main">
              <a:ext uri="{FF2B5EF4-FFF2-40B4-BE49-F238E27FC236}">
                <a16:creationId xmlns:a16="http://schemas.microsoft.com/office/drawing/2014/main" id="{49BB1636-2D8E-4524-B8A4-9AE3829D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0415" y="4333875"/>
            <a:ext cx="1716215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" name="figure-label-19">
            <a:extLst xmlns:a="http://schemas.openxmlformats.org/drawingml/2006/main">
              <a:ext uri="{FF2B5EF4-FFF2-40B4-BE49-F238E27FC236}">
                <a16:creationId xmlns:a16="http://schemas.microsoft.com/office/drawing/2014/main" id="{080C7537-DAAD-4708-A5C8-2117871E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591" y="4655344"/>
            <a:ext cx="167220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" name="figure-label-20">
            <a:extLst xmlns:a="http://schemas.openxmlformats.org/drawingml/2006/main">
              <a:ext uri="{FF2B5EF4-FFF2-40B4-BE49-F238E27FC236}">
                <a16:creationId xmlns:a16="http://schemas.microsoft.com/office/drawing/2014/main" id="{DB5B95A0-6371-4725-ABCB-FE2420D3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261" y="4483894"/>
            <a:ext cx="4224528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R1 接 A–B，R2 與 R3 各接 B–0 V</a:t>
            </a:r>
          </a:p>
        </p:txBody>
      </p:sp>
      <p:sp>
        <p:nvSpPr>
          <p:cNvPr id="30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88838DA4-FEAE-47DC-A6DA-1941A958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31" name="footer">
            <a:extLst xmlns:a="http://schemas.openxmlformats.org/drawingml/2006/main">
              <a:ext uri="{FF2B5EF4-FFF2-40B4-BE49-F238E27FC236}">
                <a16:creationId xmlns:a16="http://schemas.microsoft.com/office/drawing/2014/main" id="{0A695445-5238-4917-A545-7F4CA9E4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32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ABDCE727-8905-4B99-A41D-AB348A0C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D01-09</a:t>
            </a:r>
          </a:p>
        </p:txBody>
      </p:sp>
      <p:sp>
        <p:nvSpPr>
          <p:cNvPr id="3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540D43B-30A1-4452-89A0-D7A76D79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9 / 28</a:t>
            </a:r>
          </a:p>
        </p:txBody>
      </p:sp>
    </p:spTree>
    <p:extLst>
      <p:ext uri="{BB962C8B-B14F-4D97-AF65-F5344CB8AC3E}">
        <p14:creationId xmlns:p14="http://schemas.microsoft.com/office/powerpoint/2010/main" val="15683586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42DFFA-E9CA-4425-AB0A-1D4FDB11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基爾霍夫電流定律 KCL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A800EE56-47B7-4319-9CBF-6FBD0CDF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BE26773-936F-46A8-8AB5-B2846708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2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00949C83-8175-4C0F-8C6A-A25BF2B4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對沒有淨電荷累積的理想節點，流入電流總和等於流出電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流總和。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11CD2813-4F74-4919-B780-BDA7AC15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先選正方向，再寫帶符號的式子：ΣI = 0。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7498CDBF-D975-4EF0-BDAF-9F18E4C7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13134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假設：80 μA 流入節點，30 μA 流向支路 1，則支路 2 流出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50 μA。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490BB191-652E-4378-A3A2-096BB7DC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38926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若算出 -50 μA，代表實際方向與你畫的箭頭相反。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6DFA0106-5B81-4CC0-98F6-00DCD5C5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9468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誤解檢查：電阻消耗能量，不會在穩態把一部分電流「吃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掉」。</a:t>
            </a:r>
          </a:p>
        </p:txBody>
      </p:sp>
      <p:sp>
        <p:nvSpPr>
          <p:cNvPr id="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2B4BD843-EFD4-46D4-9954-E19BA402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111" y="2765108"/>
            <a:ext cx="52807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B47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F02C09BC-A15A-46AC-9C91-C1F87723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50305" y="2790825"/>
            <a:ext cx="165020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39340F2D-ECFA-454E-B215-0750EEF6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812500" y="2739390"/>
            <a:ext cx="88011" cy="51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1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FA23CC68-CA0C-4301-A069-C75E883E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812500" y="2790825"/>
            <a:ext cx="88011" cy="51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1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DF3D3D5-DB62-4F08-9988-F4636CD7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944517" y="1762125"/>
            <a:ext cx="1474184" cy="10201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1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1085A264-34A0-468F-ADD3-BF12CB0F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316370" y="1762125"/>
            <a:ext cx="102331" cy="77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15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E56359A9-E839-4A07-8120-9D5D4838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377537" y="1762125"/>
            <a:ext cx="41164" cy="915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16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272539D2-6F75-4271-8AB8-530FED92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44517" y="2799398"/>
            <a:ext cx="1474184" cy="10201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17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AC56FBEB-4F1A-407C-B26D-06DC89A4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377537" y="3727946"/>
            <a:ext cx="41164" cy="915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1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BB9810C0-0D1E-47C7-8BE3-3DFDEA1A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316370" y="3811806"/>
            <a:ext cx="102331" cy="77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19" name="figure-label-10">
            <a:extLst xmlns:a="http://schemas.openxmlformats.org/drawingml/2006/main">
              <a:ext uri="{FF2B5EF4-FFF2-40B4-BE49-F238E27FC236}">
                <a16:creationId xmlns:a16="http://schemas.microsoft.com/office/drawing/2014/main" id="{3909D869-BCB3-4D83-BA67-2CEBA394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278" y="2405063"/>
            <a:ext cx="1848231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流入 80 μA</a:t>
            </a:r>
          </a:p>
        </p:txBody>
      </p:sp>
      <p:sp>
        <p:nvSpPr>
          <p:cNvPr id="20" name="figure-label-11">
            <a:extLst xmlns:a="http://schemas.openxmlformats.org/drawingml/2006/main">
              <a:ext uri="{FF2B5EF4-FFF2-40B4-BE49-F238E27FC236}">
                <a16:creationId xmlns:a16="http://schemas.microsoft.com/office/drawing/2014/main" id="{E6CCD242-AD90-4841-BD7C-55AE1FC1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558" y="1354931"/>
            <a:ext cx="1848231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流出 30 μA</a:t>
            </a:r>
          </a:p>
        </p:txBody>
      </p:sp>
      <p:sp>
        <p:nvSpPr>
          <p:cNvPr id="21" name="figure-label-12">
            <a:extLst xmlns:a="http://schemas.openxmlformats.org/drawingml/2006/main">
              <a:ext uri="{FF2B5EF4-FFF2-40B4-BE49-F238E27FC236}">
                <a16:creationId xmlns:a16="http://schemas.microsoft.com/office/drawing/2014/main" id="{412D4266-35AA-4C7E-9C14-E058CED7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547" y="3926681"/>
            <a:ext cx="2024253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流出 I_2 = 50 μA</a:t>
            </a:r>
          </a:p>
        </p:txBody>
      </p:sp>
      <p:sp>
        <p:nvSpPr>
          <p:cNvPr id="22" name="figure-label-13">
            <a:extLst xmlns:a="http://schemas.openxmlformats.org/drawingml/2006/main">
              <a:ext uri="{FF2B5EF4-FFF2-40B4-BE49-F238E27FC236}">
                <a16:creationId xmlns:a16="http://schemas.microsoft.com/office/drawing/2014/main" id="{0806A794-0690-4381-B1C3-769A68B2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4448" y="3005138"/>
            <a:ext cx="1540193" cy="237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節點 Node</a:t>
            </a:r>
          </a:p>
        </p:txBody>
      </p:sp>
      <p:sp>
        <p:nvSpPr>
          <p:cNvPr id="23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05CD6188-CF43-4451-867E-369F8D18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4" name="footer">
            <a:extLst xmlns:a="http://schemas.openxmlformats.org/drawingml/2006/main">
              <a:ext uri="{FF2B5EF4-FFF2-40B4-BE49-F238E27FC236}">
                <a16:creationId xmlns:a16="http://schemas.microsoft.com/office/drawing/2014/main" id="{89569117-EFED-4E00-BD68-AC949729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5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E204120E-CFCE-467B-94DD-C2B1FCAB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D01-10</a:t>
            </a:r>
          </a:p>
        </p:txBody>
      </p:sp>
      <p:sp>
        <p:nvSpPr>
          <p:cNvPr id="2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B195159-9970-439B-88B3-3E3747A7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10 / 28</a:t>
            </a:r>
          </a:p>
        </p:txBody>
      </p:sp>
    </p:spTree>
    <p:extLst>
      <p:ext uri="{BB962C8B-B14F-4D97-AF65-F5344CB8AC3E}">
        <p14:creationId xmlns:p14="http://schemas.microsoft.com/office/powerpoint/2010/main" val="10006817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8696E1-C9A0-4253-912C-09522A41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基爾霍夫電壓定律 KVL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70F347A5-4FB1-4843-9CD2-0A467742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6ABF95E-D713-4968-943A-20BB00EF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2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B8A61BDD-23C4-462C-ACF7-540786B3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在集中元件的低頻近似中，沿閉合迴路走一圈，電位升降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的代數和為零。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0DFC117C-8C4E-4BC2-9AA0-458F6B2A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沿標示「- 到 ＋」跨元件記正值，沿「＋ 到 -」記負值。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82BE444B-9BF7-4481-A67A-93C4C541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1313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假設：電源 1.2 V，兩個串聯電阻壓降 0.4 V 與 V_2。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58DB742A-C454-4E69-9B1B-6A55B03E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68893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寫式：+1.2 - 0.4 - V_2 = 0，得到 V_2 = 0.8 V。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D7395818-50BF-478B-AD2D-31567BEB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24651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改變繞行方向時，所有符號一起反轉，結果仍相同。</a:t>
            </a:r>
          </a:p>
        </p:txBody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3F04AD35-CCDF-42E9-8142-7A2F9052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58344" y="1333500"/>
            <a:ext cx="250831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B35A47A2-0F17-43C5-BE10-A7194341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58344" y="1333500"/>
            <a:ext cx="95" cy="1114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1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AC389452-CAFB-40B5-B8F2-77CB188B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305" y="2447925"/>
            <a:ext cx="616077" cy="600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+</a:t>
            </a:r>
          </a:p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-</a:t>
            </a:r>
          </a:p>
        </p:txBody>
      </p:sp>
      <p:sp>
        <p:nvSpPr>
          <p:cNvPr id="1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C211CB24-FFCD-4B58-B0E4-A9FE30EC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58344" y="3048000"/>
            <a:ext cx="95" cy="12430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1EBE46B3-EEA0-4EB7-A92D-EBFD8A5A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58344" y="4291013"/>
            <a:ext cx="250831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A57535F8-C7D2-4A4D-B3B9-C790FEB9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66657" y="1333500"/>
            <a:ext cx="95" cy="385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5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93CB6EBA-5BB8-4924-A803-E8016D7E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624" y="1719263"/>
            <a:ext cx="528066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R_1</a:t>
            </a:r>
          </a:p>
        </p:txBody>
      </p:sp>
      <p:sp>
        <p:nvSpPr>
          <p:cNvPr id="16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725FA753-0437-44DE-846D-C2BEEF7B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66657" y="2319338"/>
            <a:ext cx="95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7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A3709093-DA8A-42F7-BE45-ECAF70CD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624" y="2919413"/>
            <a:ext cx="528066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R_2</a:t>
            </a:r>
          </a:p>
        </p:txBody>
      </p:sp>
      <p:sp>
        <p:nvSpPr>
          <p:cNvPr id="1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B4F5D083-7D94-46DF-9073-E00287AE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66657" y="3519488"/>
            <a:ext cx="95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9D4B2928-C5BD-4BC5-8B4C-446AB0AC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54" y="2593658"/>
            <a:ext cx="52807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B47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20" name="figure-label-11">
            <a:extLst xmlns:a="http://schemas.openxmlformats.org/drawingml/2006/main">
              <a:ext uri="{FF2B5EF4-FFF2-40B4-BE49-F238E27FC236}">
                <a16:creationId xmlns:a16="http://schemas.microsoft.com/office/drawing/2014/main" id="{80C6CBCA-8590-4D66-9581-E4D27A00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2267" y="3262313"/>
            <a:ext cx="1452182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1.2 V</a:t>
            </a:r>
          </a:p>
        </p:txBody>
      </p:sp>
      <p:sp>
        <p:nvSpPr>
          <p:cNvPr id="21" name="figure-label-12">
            <a:extLst xmlns:a="http://schemas.openxmlformats.org/drawingml/2006/main">
              <a:ext uri="{FF2B5EF4-FFF2-40B4-BE49-F238E27FC236}">
                <a16:creationId xmlns:a16="http://schemas.microsoft.com/office/drawing/2014/main" id="{2FDAD437-FBFE-475B-B636-B115CF9B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404" y="1762125"/>
            <a:ext cx="1628204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壓降 0.4 V</a:t>
            </a:r>
          </a:p>
        </p:txBody>
      </p:sp>
      <p:sp>
        <p:nvSpPr>
          <p:cNvPr id="22" name="figure-label-13">
            <a:extLst xmlns:a="http://schemas.openxmlformats.org/drawingml/2006/main">
              <a:ext uri="{FF2B5EF4-FFF2-40B4-BE49-F238E27FC236}">
                <a16:creationId xmlns:a16="http://schemas.microsoft.com/office/drawing/2014/main" id="{03BD0AF0-6AC3-488C-8239-B2C5079E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404" y="2962275"/>
            <a:ext cx="1628204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壓降 V_2</a:t>
            </a:r>
          </a:p>
        </p:txBody>
      </p:sp>
      <p:sp>
        <p:nvSpPr>
          <p:cNvPr id="2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5EF26C33-823B-4F78-9FD3-B822B94B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82459" y="1333500"/>
            <a:ext cx="88011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2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C0744866-787B-4E6F-9BDF-722F9142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274558" y="1282065"/>
            <a:ext cx="88011" cy="51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25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62701DE7-BA13-41CF-A5CC-128BB607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274558" y="1333500"/>
            <a:ext cx="88011" cy="51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26" name="figure-label-17">
            <a:extLst xmlns:a="http://schemas.openxmlformats.org/drawingml/2006/main">
              <a:ext uri="{FF2B5EF4-FFF2-40B4-BE49-F238E27FC236}">
                <a16:creationId xmlns:a16="http://schemas.microsoft.com/office/drawing/2014/main" id="{29545060-1727-4BC9-A238-300E5BB7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2487" y="1054894"/>
            <a:ext cx="88011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I</a:t>
            </a:r>
          </a:p>
        </p:txBody>
      </p:sp>
      <p:sp>
        <p:nvSpPr>
          <p:cNvPr id="27" name="figure-label-18">
            <a:extLst xmlns:a="http://schemas.openxmlformats.org/drawingml/2006/main">
              <a:ext uri="{FF2B5EF4-FFF2-40B4-BE49-F238E27FC236}">
                <a16:creationId xmlns:a16="http://schemas.microsoft.com/office/drawing/2014/main" id="{728BDF24-18B2-42C5-82DC-F7AB3578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701" y="1697831"/>
            <a:ext cx="528066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+</a:t>
            </a:r>
          </a:p>
        </p:txBody>
      </p:sp>
      <p:sp>
        <p:nvSpPr>
          <p:cNvPr id="28" name="figure-label-19">
            <a:extLst xmlns:a="http://schemas.openxmlformats.org/drawingml/2006/main">
              <a:ext uri="{FF2B5EF4-FFF2-40B4-BE49-F238E27FC236}">
                <a16:creationId xmlns:a16="http://schemas.microsoft.com/office/drawing/2014/main" id="{9DDD56E0-35E0-48BC-A937-ACEA4F59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701" y="2190750"/>
            <a:ext cx="528066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-</a:t>
            </a:r>
          </a:p>
        </p:txBody>
      </p:sp>
      <p:sp>
        <p:nvSpPr>
          <p:cNvPr id="29" name="figure-label-20">
            <a:extLst xmlns:a="http://schemas.openxmlformats.org/drawingml/2006/main">
              <a:ext uri="{FF2B5EF4-FFF2-40B4-BE49-F238E27FC236}">
                <a16:creationId xmlns:a16="http://schemas.microsoft.com/office/drawing/2014/main" id="{67A800A9-1359-4A3A-93D4-E9EDF6C4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701" y="2897981"/>
            <a:ext cx="528066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+</a:t>
            </a:r>
          </a:p>
        </p:txBody>
      </p:sp>
      <p:sp>
        <p:nvSpPr>
          <p:cNvPr id="30" name="figure-label-21">
            <a:extLst xmlns:a="http://schemas.openxmlformats.org/drawingml/2006/main">
              <a:ext uri="{FF2B5EF4-FFF2-40B4-BE49-F238E27FC236}">
                <a16:creationId xmlns:a16="http://schemas.microsoft.com/office/drawing/2014/main" id="{E24DD784-A88C-49AF-8996-00339815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701" y="3390900"/>
            <a:ext cx="528066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-</a:t>
            </a:r>
          </a:p>
        </p:txBody>
      </p:sp>
      <p:sp>
        <p:nvSpPr>
          <p:cNvPr id="31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3F9463BC-1B42-4177-9991-EBE434DE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32" name="footer">
            <a:extLst xmlns:a="http://schemas.openxmlformats.org/drawingml/2006/main">
              <a:ext uri="{FF2B5EF4-FFF2-40B4-BE49-F238E27FC236}">
                <a16:creationId xmlns:a16="http://schemas.microsoft.com/office/drawing/2014/main" id="{730B3903-85AA-437F-92BB-DC96C768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33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41C41B48-48A1-4C64-BFDE-66E79482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D01-11</a:t>
            </a:r>
          </a:p>
        </p:txBody>
      </p:sp>
      <p:sp>
        <p:nvSpPr>
          <p:cNvPr id="3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9092D8-28EB-41A0-A9A2-C951D522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11 / 28</a:t>
            </a:r>
          </a:p>
        </p:txBody>
      </p:sp>
    </p:spTree>
    <p:extLst>
      <p:ext uri="{BB962C8B-B14F-4D97-AF65-F5344CB8AC3E}">
        <p14:creationId xmlns:p14="http://schemas.microsoft.com/office/powerpoint/2010/main" val="2097904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7A4EBA-D32F-47EC-B98A-B6B595C2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串聯電阻與分壓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176746A-9AB6-4953-B2F3-9D258DC6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CA18F6C-ED98-4F5A-BD57-013FB7BA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2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0E42875D-5084-4E68-9F88-0F9950BF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串聯元件共用電流 I，因此 V_total = I(R_1 + R_2)，R_eq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= R_1 + R_2。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C8F247E1-164E-4A26-BECF-14019527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 R_1 = 2 kΩ、R_2 = 4 kΩ，總電壓 1.2 V，I = 200 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μA。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6B863C87-26FE-433A-A8B5-E6BE311A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83168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分壓：V_1 = IR_1 = 0.4 V；V_2 = IR_2 = 0.8 V。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C985C64A-806F-4D98-9DB5-3669CDF1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38926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若量測點沒有額外負載，V_out = V_in R_2 / (R_1 + 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R_2)。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3C7F43CA-EEB0-468B-B074-EFC74856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64719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檢查：壓降總和為 1.2 V；串聯較大電阻承受較大壓降。</a:t>
            </a:r>
          </a:p>
        </p:txBody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9B848A2B-4A92-4FFC-9965-67004B7B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58344" y="1333500"/>
            <a:ext cx="250831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7F95D630-D388-4E9C-952C-0E765C9A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58344" y="1333500"/>
            <a:ext cx="95" cy="1114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1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9FE57C28-C71B-4E30-B725-EC483666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305" y="2447925"/>
            <a:ext cx="616077" cy="600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+</a:t>
            </a:r>
          </a:p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-</a:t>
            </a:r>
          </a:p>
        </p:txBody>
      </p:sp>
      <p:sp>
        <p:nvSpPr>
          <p:cNvPr id="1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0FC04087-1618-4AFE-9A7A-BA0B9C41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58344" y="3048000"/>
            <a:ext cx="95" cy="12430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B4F1FD83-51C6-4A50-AA7D-381D2FFC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58344" y="4291013"/>
            <a:ext cx="250831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222181B1-F619-462C-B065-BE6D4AAD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66657" y="1333500"/>
            <a:ext cx="95" cy="385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5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563E9787-03BC-4828-A561-04E43FF1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624" y="1719263"/>
            <a:ext cx="528066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R_1</a:t>
            </a:r>
          </a:p>
        </p:txBody>
      </p:sp>
      <p:sp>
        <p:nvSpPr>
          <p:cNvPr id="16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D6054EB0-95A1-42F9-B4B1-ECED8B67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66657" y="2319338"/>
            <a:ext cx="95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7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7B01050C-0369-4DA4-A9CB-FC9B3ED1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624" y="2919413"/>
            <a:ext cx="528066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R_2</a:t>
            </a:r>
          </a:p>
        </p:txBody>
      </p:sp>
      <p:sp>
        <p:nvSpPr>
          <p:cNvPr id="1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0E8D7574-46EA-47A1-AC10-4D0B8717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66657" y="3519488"/>
            <a:ext cx="95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13F97063-807A-48B7-BDEF-54E6E41B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54" y="2593658"/>
            <a:ext cx="52807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B47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20" name="figure-label-11">
            <a:extLst xmlns:a="http://schemas.openxmlformats.org/drawingml/2006/main">
              <a:ext uri="{FF2B5EF4-FFF2-40B4-BE49-F238E27FC236}">
                <a16:creationId xmlns:a16="http://schemas.microsoft.com/office/drawing/2014/main" id="{0A3F91A7-E34A-45CC-9C04-7749DFDC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2267" y="3262313"/>
            <a:ext cx="1452182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1.2 V</a:t>
            </a:r>
          </a:p>
        </p:txBody>
      </p:sp>
      <p:sp>
        <p:nvSpPr>
          <p:cNvPr id="21" name="figure-label-12">
            <a:extLst xmlns:a="http://schemas.openxmlformats.org/drawingml/2006/main">
              <a:ext uri="{FF2B5EF4-FFF2-40B4-BE49-F238E27FC236}">
                <a16:creationId xmlns:a16="http://schemas.microsoft.com/office/drawing/2014/main" id="{F69DD2B7-190C-4953-B204-46490C6E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404" y="1762125"/>
            <a:ext cx="1628204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2 kΩ</a:t>
            </a:r>
          </a:p>
        </p:txBody>
      </p:sp>
      <p:sp>
        <p:nvSpPr>
          <p:cNvPr id="22" name="figure-label-13">
            <a:extLst xmlns:a="http://schemas.openxmlformats.org/drawingml/2006/main">
              <a:ext uri="{FF2B5EF4-FFF2-40B4-BE49-F238E27FC236}">
                <a16:creationId xmlns:a16="http://schemas.microsoft.com/office/drawing/2014/main" id="{8637873B-1C8E-4B0D-9F07-BEC83382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404" y="2962275"/>
            <a:ext cx="1628204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4 kΩ</a:t>
            </a:r>
          </a:p>
        </p:txBody>
      </p:sp>
      <p:sp>
        <p:nvSpPr>
          <p:cNvPr id="2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C0D23901-D203-4E4F-83D2-A2EB2D23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66657" y="2619375"/>
            <a:ext cx="88011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24" name="figure-label-15">
            <a:extLst xmlns:a="http://schemas.openxmlformats.org/drawingml/2006/main">
              <a:ext uri="{FF2B5EF4-FFF2-40B4-BE49-F238E27FC236}">
                <a16:creationId xmlns:a16="http://schemas.microsoft.com/office/drawing/2014/main" id="{18E0E82B-3AC4-4A01-95DE-8C67B8C5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0415" y="2405063"/>
            <a:ext cx="171621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V_out = 0.8 V</a:t>
            </a:r>
          </a:p>
        </p:txBody>
      </p:sp>
      <p:sp>
        <p:nvSpPr>
          <p:cNvPr id="25" name="figure-label-16">
            <a:extLst xmlns:a="http://schemas.openxmlformats.org/drawingml/2006/main">
              <a:ext uri="{FF2B5EF4-FFF2-40B4-BE49-F238E27FC236}">
                <a16:creationId xmlns:a16="http://schemas.microsoft.com/office/drawing/2014/main" id="{09A06900-6058-4751-B095-77741F27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6630" y="4419600"/>
            <a:ext cx="1012127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0 V</a:t>
            </a:r>
          </a:p>
        </p:txBody>
      </p:sp>
      <p:sp>
        <p:nvSpPr>
          <p:cNvPr id="26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D70096AB-7047-4FC4-BE89-AC15FB97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E647F26B-6066-49C8-9118-55D049DA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8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13C7E0C0-A0B7-468B-92CE-245A42D4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D01-12</a:t>
            </a:r>
          </a:p>
        </p:txBody>
      </p:sp>
      <p:sp>
        <p:nvSpPr>
          <p:cNvPr id="2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0A8075C-EDAE-4483-9104-C6EE95FC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12 / 28</a:t>
            </a:r>
          </a:p>
        </p:txBody>
      </p:sp>
    </p:spTree>
    <p:extLst>
      <p:ext uri="{BB962C8B-B14F-4D97-AF65-F5344CB8AC3E}">
        <p14:creationId xmlns:p14="http://schemas.microsoft.com/office/powerpoint/2010/main" val="17328331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DBADA2-6282-4440-A15A-BC43D150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並聯電阻與分流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E0A87146-3C85-45EC-8DE1-16717489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D9E041F-2EB0-4DB3-A6DF-91B75E08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2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63EE4E91-8BE4-418B-9D5E-45E812EC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並聯支路承受同一電壓。總電流 I = V/R_1 + V/R_2。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EC79AC0E-F817-4CA1-ABC1-ED55ADD2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因此 1/R_eq = 1/R_1 + 1/R_2；兩支路時 R_eq =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R_1R_2/(R_1 + R_2)。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41FB8904-BF24-4B0C-B7B0-5619B9CF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13134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假設：6 kΩ 與 3 kΩ 並聯於 0.6 V，支路電流分別為 100、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200 μA。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76D03EFA-3750-4223-8734-64B116BD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38926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總電流 300 μA，R_eq = 0.6 V / 300 μA = 2 kΩ。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7CCB3122-ACEA-48A7-9DEA-D188E8C5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9468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檢查：並聯等效電阻小於最小的支路電阻。漏電也可形成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額外並聯路徑。</a:t>
            </a:r>
          </a:p>
        </p:txBody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9A37475B-F3F4-47F6-A189-9C8F7BFA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0333" y="1676400"/>
            <a:ext cx="308038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989DD6FF-3710-449B-87EF-AF80401B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0333" y="4076700"/>
            <a:ext cx="308038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03B74F32-903C-4C8D-AE4E-16455F8F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0333" y="1676400"/>
            <a:ext cx="95" cy="9001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2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CF430D3F-2A3A-4137-B3C1-9EEE38D6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294" y="2576513"/>
            <a:ext cx="616077" cy="600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+</a:t>
            </a:r>
          </a:p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-</a:t>
            </a:r>
          </a:p>
        </p:txBody>
      </p:sp>
      <p:sp>
        <p:nvSpPr>
          <p:cNvPr id="1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8BBB31E-4CBD-435B-BB5B-59A3AC0E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0333" y="3176588"/>
            <a:ext cx="95" cy="9001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4" name="figure-label-5">
            <a:extLst xmlns:a="http://schemas.openxmlformats.org/drawingml/2006/main">
              <a:ext uri="{FF2B5EF4-FFF2-40B4-BE49-F238E27FC236}">
                <a16:creationId xmlns:a16="http://schemas.microsoft.com/office/drawing/2014/main" id="{0B64AD0A-D8AB-4422-90AA-70003805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261" y="3305175"/>
            <a:ext cx="1320165" cy="237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0.6 V</a:t>
            </a:r>
          </a:p>
        </p:txBody>
      </p:sp>
      <p:sp>
        <p:nvSpPr>
          <p:cNvPr id="15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14FCF843-59EE-4601-B1C6-66FB4800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74558" y="1676400"/>
            <a:ext cx="95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6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7EEA7B86-A68F-48BE-B668-7EBB8358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447925"/>
            <a:ext cx="528066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R_1</a:t>
            </a:r>
          </a:p>
        </p:txBody>
      </p:sp>
      <p:sp>
        <p:nvSpPr>
          <p:cNvPr id="17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EC5C7FC6-A65B-4021-83B2-721EA828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74558" y="3090863"/>
            <a:ext cx="95" cy="9858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9D63E82D-80E9-470A-8FBA-DB8D33A0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50718" y="1676400"/>
            <a:ext cx="95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0B8F2AA7-5B72-4C48-893D-1B259BEE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685" y="2447925"/>
            <a:ext cx="528066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R_2</a:t>
            </a:r>
          </a:p>
        </p:txBody>
      </p:sp>
      <p:sp>
        <p:nvSpPr>
          <p:cNvPr id="2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C42A35DC-E897-47EB-9F65-7503BC73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50718" y="3090863"/>
            <a:ext cx="95" cy="9858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21" name="figure-label-12">
            <a:extLst xmlns:a="http://schemas.openxmlformats.org/drawingml/2006/main">
              <a:ext uri="{FF2B5EF4-FFF2-40B4-BE49-F238E27FC236}">
                <a16:creationId xmlns:a16="http://schemas.microsoft.com/office/drawing/2014/main" id="{7CEDF107-6A3E-42D1-8BF6-EEBA20FF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0415" y="4333875"/>
            <a:ext cx="1716215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6 kΩ／100 μA</a:t>
            </a:r>
          </a:p>
        </p:txBody>
      </p:sp>
      <p:sp>
        <p:nvSpPr>
          <p:cNvPr id="22" name="figure-label-13">
            <a:extLst xmlns:a="http://schemas.openxmlformats.org/drawingml/2006/main">
              <a:ext uri="{FF2B5EF4-FFF2-40B4-BE49-F238E27FC236}">
                <a16:creationId xmlns:a16="http://schemas.microsoft.com/office/drawing/2014/main" id="{044E77A7-E393-4820-8D77-2F841317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591" y="4655344"/>
            <a:ext cx="1672209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3 kΩ／200 μA</a:t>
            </a:r>
          </a:p>
        </p:txBody>
      </p:sp>
      <p:sp>
        <p:nvSpPr>
          <p:cNvPr id="23" name="figure-label-14">
            <a:extLst xmlns:a="http://schemas.openxmlformats.org/drawingml/2006/main">
              <a:ext uri="{FF2B5EF4-FFF2-40B4-BE49-F238E27FC236}">
                <a16:creationId xmlns:a16="http://schemas.microsoft.com/office/drawing/2014/main" id="{51AF5DC9-03B7-4962-87E6-ACF9127E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360" y="1162050"/>
            <a:ext cx="3300413" cy="263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總電流 300 μA</a:t>
            </a:r>
          </a:p>
        </p:txBody>
      </p:sp>
      <p:sp>
        <p:nvSpPr>
          <p:cNvPr id="24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B78F50C2-7062-41BD-9FF0-E63EFE1F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A3A01DF7-CEA0-41C1-806E-3990788B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6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F5A3767F-88AD-4ABE-B67A-E5AB970A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D01-13</a:t>
            </a:r>
          </a:p>
        </p:txBody>
      </p:sp>
      <p:sp>
        <p:nvSpPr>
          <p:cNvPr id="2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8C1C88-BE68-46E4-B352-1C17111C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13 / 28</a:t>
            </a:r>
          </a:p>
        </p:txBody>
      </p:sp>
    </p:spTree>
    <p:extLst>
      <p:ext uri="{BB962C8B-B14F-4D97-AF65-F5344CB8AC3E}">
        <p14:creationId xmlns:p14="http://schemas.microsoft.com/office/powerpoint/2010/main" val="6693620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08B8EC-9F6D-4650-80BF-50D8079B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量測負載會改變分壓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AC0A053-1FAF-43FB-9304-7F6A48B3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526067E-B143-455A-9866-2BC4D93B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2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0D1A62F2-B4EA-4E7B-971A-5626FBB2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電壓量測輸入可近似成有限電阻 R_in，接上後與原來的 R_2 並聯。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3C7867C4-454E-4F10-AA75-C2ED68F9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假設：R_1 = R_2 = 10 kΩ，V_in = 1 V。無負載時 V_out = 0.5 V。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A2D4741F-3289-4720-8FB1-CDF2040E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再接入假想 R_in = 10 kΩ，則 R_2 並聯 R_in = 5 kΩ。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49267C1C-1EBC-4E14-B806-465A3028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新 V_out = 1 × 5/(10 + 5) = 0.333 V。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70666074-01DE-440A-8D4B-5950D809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測量裝置屬於電路的一部分。輸入阻抗、接觸與漏電必須列入誤差來源。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35ACA5DC-C6BA-4E7E-88E4-41A79D88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20A183EF-9D81-47DC-9800-334E4695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5FB9D4C8-E369-4B29-9C9F-63B7D866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D01-14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26E760-096A-47FD-9B1B-9DCB34E2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14 / 28</a:t>
            </a:r>
          </a:p>
        </p:txBody>
      </p:sp>
    </p:spTree>
    <p:extLst>
      <p:ext uri="{BB962C8B-B14F-4D97-AF65-F5344CB8AC3E}">
        <p14:creationId xmlns:p14="http://schemas.microsoft.com/office/powerpoint/2010/main" val="1947805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92BD74-D712-4784-80C1-643BE87C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電容與暫態電流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39B35A53-05F2-41D1-8E4D-060DACD7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20901C2-8E2C-4E50-A663-2470D86E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2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F1941A6D-98BF-4587-977E-2E7AD2F1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電容 C 表示端點電壓改變時能儲存多少電荷：Q = CV，1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F = 1 C/V。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E0B54533-1B5F-423E-A183-43B75304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理想電容電流 I_C = C dV/dt；電壓保持不變時，理想電容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的直流電流為零。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EADD8D69-3EBF-48B3-BF3E-6CE6409B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83168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 C = 100 pF，電壓上升速率 1 V/ms，I_C = 100 nA。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6F816F39-E6CF-47CF-999C-57D58AA2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38926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儲存能量 U_C = ½CV^(2)。線纜、探針和元件本身都可能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帶來電容。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AF2908EB-C5B3-456F-B1C0-3DF6C146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64719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因此掃描中量到的電流，可同時包含導電電流與充放電電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流。</a:t>
            </a:r>
          </a:p>
        </p:txBody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B2BB0E34-9BA6-4C0D-9AA5-2FB313B2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0333" y="1676400"/>
            <a:ext cx="308038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93066083-7830-4707-8651-E38B3AD3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0333" y="4076700"/>
            <a:ext cx="308038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1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6367C899-1031-48D6-B728-9B684F2F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929" y="1650683"/>
            <a:ext cx="52807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B47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12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845DBA4F-7CC2-40A0-BAF2-FCC605B3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929" y="4050983"/>
            <a:ext cx="52807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B47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13" name="figure-label-4">
            <a:extLst xmlns:a="http://schemas.openxmlformats.org/drawingml/2006/main">
              <a:ext uri="{FF2B5EF4-FFF2-40B4-BE49-F238E27FC236}">
                <a16:creationId xmlns:a16="http://schemas.microsoft.com/office/drawing/2014/main" id="{19039AA8-4447-4DE8-BA5E-C072F4D9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2267" y="2619375"/>
            <a:ext cx="1100138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V(t)</a:t>
            </a:r>
          </a:p>
        </p:txBody>
      </p:sp>
      <p:sp>
        <p:nvSpPr>
          <p:cNvPr id="1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E9175CE6-7B8A-49F2-B5DD-CBBB6A69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74558" y="1676400"/>
            <a:ext cx="95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5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C52965A5-B7F1-4CF8-9185-AC9A134B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447925"/>
            <a:ext cx="528066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R_1</a:t>
            </a:r>
          </a:p>
        </p:txBody>
      </p:sp>
      <p:sp>
        <p:nvSpPr>
          <p:cNvPr id="16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A84E702-A758-4B20-9D1E-5DF7E3D5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74558" y="3090863"/>
            <a:ext cx="95" cy="9858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7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5C35C6F9-6FDA-4D1A-B906-30D3BFB4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50718" y="1676400"/>
            <a:ext cx="95" cy="9644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F04CF2A1-CD8B-4CC6-95A6-8C332E05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54668" y="2640806"/>
            <a:ext cx="792099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47A86"/>
            </a:solidFill>
            <a:prstDash val="solid"/>
          </a:ln>
        </p:spPr>
      </p:sp>
      <p:sp>
        <p:nvSpPr>
          <p:cNvPr id="1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E02D85E4-518C-4823-9559-6AC341A3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54668" y="2855119"/>
            <a:ext cx="792099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47A86"/>
            </a:solidFill>
            <a:prstDash val="solid"/>
          </a:ln>
        </p:spPr>
      </p:sp>
      <p:sp>
        <p:nvSpPr>
          <p:cNvPr id="2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57F93AF1-CEDC-40E4-B56F-4F7A0CE0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50718" y="2855119"/>
            <a:ext cx="95" cy="12215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21" name="figure-label-12">
            <a:extLst xmlns:a="http://schemas.openxmlformats.org/drawingml/2006/main">
              <a:ext uri="{FF2B5EF4-FFF2-40B4-BE49-F238E27FC236}">
                <a16:creationId xmlns:a16="http://schemas.microsoft.com/office/drawing/2014/main" id="{CD80CD18-DC0E-4B10-86B6-589DCD10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619" y="3240881"/>
            <a:ext cx="1452182" cy="237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寄生電容</a:t>
            </a:r>
          </a:p>
        </p:txBody>
      </p:sp>
      <p:sp>
        <p:nvSpPr>
          <p:cNvPr id="22" name="figure-label-13">
            <a:extLst xmlns:a="http://schemas.openxmlformats.org/drawingml/2006/main">
              <a:ext uri="{FF2B5EF4-FFF2-40B4-BE49-F238E27FC236}">
                <a16:creationId xmlns:a16="http://schemas.microsoft.com/office/drawing/2014/main" id="{883B7471-5050-4416-9731-8C2365B8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4448" y="3240881"/>
            <a:ext cx="1320165" cy="237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導電路徑</a:t>
            </a:r>
          </a:p>
        </p:txBody>
      </p:sp>
      <p:sp>
        <p:nvSpPr>
          <p:cNvPr id="23" name="figure-label-14">
            <a:extLst xmlns:a="http://schemas.openxmlformats.org/drawingml/2006/main">
              <a:ext uri="{FF2B5EF4-FFF2-40B4-BE49-F238E27FC236}">
                <a16:creationId xmlns:a16="http://schemas.microsoft.com/office/drawing/2014/main" id="{E8D776A9-996F-4695-BEC2-E94D08CE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272" y="4398169"/>
            <a:ext cx="4048506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I_total = I_R + I_C</a:t>
            </a:r>
          </a:p>
        </p:txBody>
      </p:sp>
      <p:sp>
        <p:nvSpPr>
          <p:cNvPr id="24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5D9CAA94-2D1C-4E22-80D6-EB98C9BD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C18378C3-E6C2-49E1-BC97-EB6E88CA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6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38937EAC-B176-40F9-A157-E41C962F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D01-15</a:t>
            </a:r>
          </a:p>
        </p:txBody>
      </p:sp>
      <p:sp>
        <p:nvSpPr>
          <p:cNvPr id="2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36DCC12-4B48-47F5-A7D3-F2DC8A7C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15 / 28</a:t>
            </a:r>
          </a:p>
        </p:txBody>
      </p:sp>
    </p:spTree>
    <p:extLst>
      <p:ext uri="{BB962C8B-B14F-4D97-AF65-F5344CB8AC3E}">
        <p14:creationId xmlns:p14="http://schemas.microsoft.com/office/powerpoint/2010/main" val="4727066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DA330C-3162-4DAA-87D9-E10AA73B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RC 時間常數與等待時間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C6DE5D28-ED26-4703-9E18-35DB08C2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61D8C8F-B09C-4962-A390-14A28E77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2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E15F3934-6562-4C38-A929-BA8C9F5A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電阻 R 為電容 C 充電時，時間常數 τ = RC，單位為秒。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7D73AFF8-9CF5-48CC-831B-9363D07C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初始電壓為零、理想階躍終值 V_f 時：V_C(t) = V_f[1 -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exp(-t/τ)]。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048CB38C-62DC-4F71-A8E4-B5E0FB98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1313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假設：R = 1 MΩ、C = 100 pF，τ = 100 μs。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A73EF84F-C4F1-4F29-B200-4037AC27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68893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在 1τ、3τ、5τ，分別達終值的 63.2%、95.0%、99.3%。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BEF39718-71DA-4449-93A8-744BEA5D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24651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5τ 只是一階 RC 的近似。儀器積分、材料鬆弛與多重時間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常數仍可能更慢。</a:t>
            </a:r>
          </a:p>
        </p:txBody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F80D4BF5-16CA-49DC-B7DC-0FDB8974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4286250"/>
            <a:ext cx="36385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57889"/>
            </a:solidFill>
            <a:prstDash val="solid"/>
          </a:ln>
        </p:spPr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ED57249C-6228-46D3-B62D-39C09671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1857375"/>
            <a:ext cx="95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57889"/>
            </a:solidFill>
            <a:prstDash val="solid"/>
          </a:ln>
        </p:spPr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88C0D6E3-20CD-4210-B820-0660BB8A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4248150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4578A2D-0BB0-45A8-9280-58CB7CB2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36245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1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6BC82616-BC9F-46E7-A0B9-499E9B2A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61835" y="4248150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0F80CA0-ED7B-48DC-9BBD-5E970B5E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8485" y="436245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15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106CBEEC-B974-4707-AA83-0768B4CC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17255" y="4248150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0C2FD7A8-83B9-40DA-8113-96CF1A99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905" y="436245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3</a:t>
            </a:r>
          </a:p>
        </p:txBody>
      </p:sp>
      <p:sp>
        <p:nvSpPr>
          <p:cNvPr id="17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F5F453E8-A0F6-4C8A-810A-6176D004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72675" y="4248150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77CBF9D5-130B-4082-8E79-63286986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6245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5</a:t>
            </a:r>
          </a:p>
        </p:txBody>
      </p:sp>
      <p:sp>
        <p:nvSpPr>
          <p:cNvPr id="1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6A4F0823-872D-4108-AEFB-4CAF3E1D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2740788"/>
            <a:ext cx="76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CF404424-5312-4C6D-A039-4F3CFDF9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645538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0.632</a:t>
            </a:r>
          </a:p>
        </p:txBody>
      </p:sp>
      <p:sp>
        <p:nvSpPr>
          <p:cNvPr id="2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3E823AA5-AAA8-429B-9AF5-1EAF0C2D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1840898"/>
            <a:ext cx="76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8417DF86-FE2D-479A-9040-E735A3D2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745648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21B148A1-4A3C-4764-BF5F-05E218DC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86300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t/τ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D60CF97E-D6BD-4697-8ED0-E7A87FE9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71625"/>
            <a:ext cx="3638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V_C/V_f</a:t>
            </a:r>
          </a:p>
        </p:txBody>
      </p:sp>
      <p:sp>
        <p:nvSpPr>
          <p:cNvPr id="25" name="analytical-series">
            <a:extLst xmlns:a="http://schemas.openxmlformats.org/drawingml/2006/main">
              <a:ext uri="{FF2B5EF4-FFF2-40B4-BE49-F238E27FC236}">
                <a16:creationId xmlns:a16="http://schemas.microsoft.com/office/drawing/2014/main" id="{DD197AD8-A98B-467D-B2EC-99514C84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57375"/>
            <a:ext cx="3638550" cy="2428875"/>
          </a:xfrm>
          <a:custGeom xmlns:a="http://schemas.openxmlformats.org/drawingml/2006/main">
            <a:pathLst>
              <a:path w="3638550" h="2428875">
                <a:moveTo>
                  <a:pt x="0" y="2428875"/>
                </a:moveTo>
                <a:lnTo>
                  <a:pt x="36386" y="2309613"/>
                </a:lnTo>
                <a:lnTo>
                  <a:pt x="72771" y="2196168"/>
                </a:lnTo>
                <a:lnTo>
                  <a:pt x="109157" y="2088257"/>
                </a:lnTo>
                <a:lnTo>
                  <a:pt x="145542" y="1985609"/>
                </a:lnTo>
                <a:lnTo>
                  <a:pt x="181928" y="1887966"/>
                </a:lnTo>
                <a:lnTo>
                  <a:pt x="218313" y="1795084"/>
                </a:lnTo>
                <a:lnTo>
                  <a:pt x="254699" y="1706733"/>
                </a:lnTo>
                <a:lnTo>
                  <a:pt x="291084" y="1622691"/>
                </a:lnTo>
                <a:lnTo>
                  <a:pt x="327469" y="1542748"/>
                </a:lnTo>
                <a:lnTo>
                  <a:pt x="363855" y="1466705"/>
                </a:lnTo>
                <a:lnTo>
                  <a:pt x="400240" y="1394369"/>
                </a:lnTo>
                <a:lnTo>
                  <a:pt x="436626" y="1325562"/>
                </a:lnTo>
                <a:lnTo>
                  <a:pt x="473011" y="1260109"/>
                </a:lnTo>
                <a:lnTo>
                  <a:pt x="509397" y="1197848"/>
                </a:lnTo>
                <a:lnTo>
                  <a:pt x="545782" y="1138627"/>
                </a:lnTo>
                <a:lnTo>
                  <a:pt x="582168" y="1082291"/>
                </a:lnTo>
                <a:lnTo>
                  <a:pt x="618554" y="1028703"/>
                </a:lnTo>
                <a:lnTo>
                  <a:pt x="654939" y="977730"/>
                </a:lnTo>
                <a:lnTo>
                  <a:pt x="691325" y="929241"/>
                </a:lnTo>
                <a:lnTo>
                  <a:pt x="727710" y="883117"/>
                </a:lnTo>
                <a:lnTo>
                  <a:pt x="764096" y="839245"/>
                </a:lnTo>
                <a:lnTo>
                  <a:pt x="800481" y="797510"/>
                </a:lnTo>
                <a:lnTo>
                  <a:pt x="836867" y="757812"/>
                </a:lnTo>
                <a:lnTo>
                  <a:pt x="873252" y="720049"/>
                </a:lnTo>
                <a:lnTo>
                  <a:pt x="909638" y="684129"/>
                </a:lnTo>
                <a:lnTo>
                  <a:pt x="946023" y="649960"/>
                </a:lnTo>
                <a:lnTo>
                  <a:pt x="982408" y="617456"/>
                </a:lnTo>
                <a:lnTo>
                  <a:pt x="1018794" y="586540"/>
                </a:lnTo>
                <a:lnTo>
                  <a:pt x="1055179" y="557129"/>
                </a:lnTo>
                <a:lnTo>
                  <a:pt x="1091565" y="529155"/>
                </a:lnTo>
                <a:lnTo>
                  <a:pt x="1127950" y="502544"/>
                </a:lnTo>
                <a:lnTo>
                  <a:pt x="1164336" y="477232"/>
                </a:lnTo>
                <a:lnTo>
                  <a:pt x="1200721" y="453153"/>
                </a:lnTo>
                <a:lnTo>
                  <a:pt x="1237107" y="430250"/>
                </a:lnTo>
                <a:lnTo>
                  <a:pt x="1273493" y="408462"/>
                </a:lnTo>
                <a:lnTo>
                  <a:pt x="1309878" y="387737"/>
                </a:lnTo>
                <a:lnTo>
                  <a:pt x="1346264" y="368023"/>
                </a:lnTo>
                <a:lnTo>
                  <a:pt x="1382649" y="349272"/>
                </a:lnTo>
                <a:lnTo>
                  <a:pt x="1419035" y="331433"/>
                </a:lnTo>
                <a:lnTo>
                  <a:pt x="1455420" y="314465"/>
                </a:lnTo>
                <a:lnTo>
                  <a:pt x="1491806" y="298326"/>
                </a:lnTo>
                <a:lnTo>
                  <a:pt x="1528191" y="282971"/>
                </a:lnTo>
                <a:lnTo>
                  <a:pt x="1564577" y="268368"/>
                </a:lnTo>
                <a:lnTo>
                  <a:pt x="1600962" y="254476"/>
                </a:lnTo>
                <a:lnTo>
                  <a:pt x="1637347" y="241261"/>
                </a:lnTo>
                <a:lnTo>
                  <a:pt x="1673733" y="228692"/>
                </a:lnTo>
                <a:lnTo>
                  <a:pt x="1710118" y="216734"/>
                </a:lnTo>
                <a:lnTo>
                  <a:pt x="1746504" y="205361"/>
                </a:lnTo>
                <a:lnTo>
                  <a:pt x="1782890" y="194542"/>
                </a:lnTo>
                <a:lnTo>
                  <a:pt x="1819275" y="184250"/>
                </a:lnTo>
                <a:lnTo>
                  <a:pt x="1855660" y="174461"/>
                </a:lnTo>
                <a:lnTo>
                  <a:pt x="1892046" y="165149"/>
                </a:lnTo>
                <a:lnTo>
                  <a:pt x="1928432" y="156290"/>
                </a:lnTo>
                <a:lnTo>
                  <a:pt x="1964817" y="147866"/>
                </a:lnTo>
                <a:lnTo>
                  <a:pt x="2001203" y="139850"/>
                </a:lnTo>
                <a:lnTo>
                  <a:pt x="2037588" y="132225"/>
                </a:lnTo>
                <a:lnTo>
                  <a:pt x="2073974" y="124972"/>
                </a:lnTo>
                <a:lnTo>
                  <a:pt x="2110359" y="118074"/>
                </a:lnTo>
                <a:lnTo>
                  <a:pt x="2146745" y="111513"/>
                </a:lnTo>
                <a:lnTo>
                  <a:pt x="2183130" y="105270"/>
                </a:lnTo>
                <a:lnTo>
                  <a:pt x="2219516" y="99333"/>
                </a:lnTo>
                <a:lnTo>
                  <a:pt x="2255901" y="93684"/>
                </a:lnTo>
                <a:lnTo>
                  <a:pt x="2292286" y="88311"/>
                </a:lnTo>
                <a:lnTo>
                  <a:pt x="2328672" y="83201"/>
                </a:lnTo>
                <a:lnTo>
                  <a:pt x="2365057" y="78339"/>
                </a:lnTo>
                <a:lnTo>
                  <a:pt x="2401443" y="73715"/>
                </a:lnTo>
                <a:lnTo>
                  <a:pt x="2437829" y="69316"/>
                </a:lnTo>
                <a:lnTo>
                  <a:pt x="2474214" y="65132"/>
                </a:lnTo>
                <a:lnTo>
                  <a:pt x="2510600" y="61153"/>
                </a:lnTo>
                <a:lnTo>
                  <a:pt x="2546985" y="57366"/>
                </a:lnTo>
                <a:lnTo>
                  <a:pt x="2583371" y="53766"/>
                </a:lnTo>
                <a:lnTo>
                  <a:pt x="2619756" y="50340"/>
                </a:lnTo>
                <a:lnTo>
                  <a:pt x="2656142" y="47080"/>
                </a:lnTo>
                <a:lnTo>
                  <a:pt x="2692527" y="43982"/>
                </a:lnTo>
                <a:lnTo>
                  <a:pt x="2728913" y="41033"/>
                </a:lnTo>
                <a:lnTo>
                  <a:pt x="2765298" y="38228"/>
                </a:lnTo>
                <a:lnTo>
                  <a:pt x="2801684" y="35560"/>
                </a:lnTo>
                <a:lnTo>
                  <a:pt x="2838069" y="33022"/>
                </a:lnTo>
                <a:lnTo>
                  <a:pt x="2874454" y="30608"/>
                </a:lnTo>
                <a:lnTo>
                  <a:pt x="2910840" y="28312"/>
                </a:lnTo>
                <a:lnTo>
                  <a:pt x="2947225" y="26126"/>
                </a:lnTo>
                <a:lnTo>
                  <a:pt x="2983611" y="24050"/>
                </a:lnTo>
                <a:lnTo>
                  <a:pt x="3019996" y="22072"/>
                </a:lnTo>
                <a:lnTo>
                  <a:pt x="3056382" y="20194"/>
                </a:lnTo>
                <a:lnTo>
                  <a:pt x="3092768" y="18404"/>
                </a:lnTo>
                <a:lnTo>
                  <a:pt x="3129153" y="16704"/>
                </a:lnTo>
                <a:lnTo>
                  <a:pt x="3165538" y="15085"/>
                </a:lnTo>
                <a:lnTo>
                  <a:pt x="3201924" y="13545"/>
                </a:lnTo>
                <a:lnTo>
                  <a:pt x="3238310" y="12082"/>
                </a:lnTo>
                <a:lnTo>
                  <a:pt x="3274695" y="10689"/>
                </a:lnTo>
                <a:lnTo>
                  <a:pt x="3311080" y="9363"/>
                </a:lnTo>
                <a:lnTo>
                  <a:pt x="3347466" y="8104"/>
                </a:lnTo>
                <a:lnTo>
                  <a:pt x="3383852" y="6906"/>
                </a:lnTo>
                <a:lnTo>
                  <a:pt x="3420237" y="5764"/>
                </a:lnTo>
                <a:lnTo>
                  <a:pt x="3456623" y="4680"/>
                </a:lnTo>
                <a:lnTo>
                  <a:pt x="3493008" y="3648"/>
                </a:lnTo>
                <a:lnTo>
                  <a:pt x="3529393" y="2665"/>
                </a:lnTo>
                <a:lnTo>
                  <a:pt x="3565779" y="1734"/>
                </a:lnTo>
                <a:lnTo>
                  <a:pt x="3602165" y="844"/>
                </a:lnTo>
                <a:lnTo>
                  <a:pt x="3638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47A86"/>
            </a:solidFill>
            <a:prstDash val="solid"/>
          </a:ln>
        </p:spPr>
      </p:sp>
      <p:sp>
        <p:nvSpPr>
          <p:cNvPr id="26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C9CBC3CE-E0D7-4082-956C-5360BB3E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29225"/>
            <a:ext cx="4400550" cy="199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理想一階 RC 解析模型</a:t>
            </a:r>
          </a:p>
        </p:txBody>
      </p:sp>
      <p:sp>
        <p:nvSpPr>
          <p:cNvPr id="27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5B2DB0E9-2B54-4052-8EA2-F1C63825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8" name="footer">
            <a:extLst xmlns:a="http://schemas.openxmlformats.org/drawingml/2006/main">
              <a:ext uri="{FF2B5EF4-FFF2-40B4-BE49-F238E27FC236}">
                <a16:creationId xmlns:a16="http://schemas.microsoft.com/office/drawing/2014/main" id="{99EC5387-8C04-4D49-A00C-40C098FE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9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149C2517-D4BE-4EB8-9F74-181CD1B3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D01-16</a:t>
            </a:r>
          </a:p>
        </p:txBody>
      </p:sp>
      <p:sp>
        <p:nvSpPr>
          <p:cNvPr id="3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5418813-B979-4FEC-9287-5CBA2F13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16 / 28</a:t>
            </a:r>
          </a:p>
        </p:txBody>
      </p:sp>
    </p:spTree>
    <p:extLst>
      <p:ext uri="{BB962C8B-B14F-4D97-AF65-F5344CB8AC3E}">
        <p14:creationId xmlns:p14="http://schemas.microsoft.com/office/powerpoint/2010/main" val="342405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B5FC71-464A-4C5D-AD60-48BA8A9A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薄膜電場與厚度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B8E80CA-D5BC-4DB0-9A3E-C82AFBE0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EBF580C-4692-47A9-8292-D7F84956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2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47E26BE8-9580-4E3E-9215-C138A476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電場 E 是單位正電荷所受的力，單位 N/C，亦等於 V/m。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7008FE0F-BFA4-4DB9-9195-79B80EE2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均勻平行板近似下，電場大小 |E| ≈ |V_film|/d，d 是薄膜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厚度。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568C4C07-0685-471D-BA5D-B60D6BA9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13134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假設：0.5 V 全落在 10 nm 薄膜，|E| = 5×10^(7) V/m =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0.5 MV/cm。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B3D0BABF-6004-47F3-A72B-11CD4E7A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38926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相同膜內電壓、厚度減半，平均電場加倍。接觸壓降會改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變 V_film。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FF4485DE-4C0C-4BA6-8B3B-0859DFAA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64719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局部尖端、缺陷與多層結構可使電場不均勻，平均 V/d 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法給出局部最大值。</a:t>
            </a:r>
          </a:p>
        </p:txBody>
      </p:sp>
      <p:sp>
        <p:nvSpPr>
          <p:cNvPr id="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3E19E61D-185D-4612-809C-86278779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133475"/>
            <a:ext cx="3714750" cy="533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上電極</a:t>
            </a:r>
          </a:p>
        </p:txBody>
      </p:sp>
      <p:sp>
        <p:nvSpPr>
          <p:cNvPr id="10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130BEF71-682F-4CC7-B162-AC9492A5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67203"/>
            <a:ext cx="3714750" cy="13137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5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薄膜，厚度 d</a:t>
            </a:r>
          </a:p>
        </p:txBody>
      </p:sp>
      <p:sp>
        <p:nvSpPr>
          <p:cNvPr id="11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64016D92-2125-47B7-9618-2DB34D48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80997"/>
            <a:ext cx="3714750" cy="533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下電極</a:t>
            </a:r>
          </a:p>
        </p:txBody>
      </p:sp>
      <p:sp>
        <p:nvSpPr>
          <p:cNvPr id="12" name="stack-scientific-labels">
            <a:extLst xmlns:a="http://schemas.openxmlformats.org/drawingml/2006/main">
              <a:ext uri="{FF2B5EF4-FFF2-40B4-BE49-F238E27FC236}">
                <a16:creationId xmlns:a16="http://schemas.microsoft.com/office/drawing/2014/main" id="{E0DB4331-EFC6-4A74-9571-F1028976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57600"/>
            <a:ext cx="411480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V_film。平均 |E| ≈ |V_film|/d。均勻場近似</a:t>
            </a:r>
          </a:p>
        </p:txBody>
      </p:sp>
      <p:sp>
        <p:nvSpPr>
          <p:cNvPr id="13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BD8074EE-7E95-4D41-BEBF-9DB9E21E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67250"/>
            <a:ext cx="4400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V_film。平均 |E| ≈ |V_film|/d。均勻場近似</a:t>
            </a:r>
          </a:p>
        </p:txBody>
      </p:sp>
      <p:sp>
        <p:nvSpPr>
          <p:cNvPr id="14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BDDA586A-27C9-4BC3-9B5F-4913D886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99D34C37-3135-4DF4-8413-6FDED02B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6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C53F3488-4A6C-4E54-A9C2-C73131DF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D01-17</a:t>
            </a:r>
          </a:p>
        </p:txBody>
      </p:sp>
      <p:sp>
        <p:nvSpPr>
          <p:cNvPr id="1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AD7A4BA-218B-41D2-81AB-C0D68E26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17 / 28</a:t>
            </a:r>
          </a:p>
        </p:txBody>
      </p:sp>
    </p:spTree>
    <p:extLst>
      <p:ext uri="{BB962C8B-B14F-4D97-AF65-F5344CB8AC3E}">
        <p14:creationId xmlns:p14="http://schemas.microsoft.com/office/powerpoint/2010/main" val="4630778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E1A367-BF45-4912-A164-7032A040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第 2 天練習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2FE7AC9-EDA6-459A-AF14-775BAA87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8036B83-ECB0-4E17-AFA3-889C04CA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2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A84114F2-1550-471B-921A-589B196B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A｜假想 3 kΩ 與 6 kΩ 串聯於 0.9 V，求總電流及兩個壓降。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2A5B4B45-6F0A-4385-8BCB-BDE751D8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B｜同兩個電阻改為並聯，總電阻與總電流是多少？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CCB3DEF4-8FF5-48AC-9ED4-0D84981B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C｜假想 R = 2 MΩ、C = 50 pF，求 τ 與理想模型的 5τ。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60391538-C111-4C67-A1C0-78469A94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D｜假想 0.4 V 全落在 20 nm 膜內，求 V/m 與 MV/cm。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1A15AB8F-744A-4B3C-AC69-2A9C32AE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E｜若導線有壓降，SMU 設定電壓是否必然等於膜內電壓？用 KVL 解釋。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99BE5947-9BD0-4B7D-94CF-9C57A660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BFC758D4-1BEC-4B70-BD9D-7003FE4B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79DE86F0-5538-4590-9A28-9FDC7427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D01-18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969F4D-2E1E-47BC-AFEF-0C24112C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18 / 28</a:t>
            </a:r>
          </a:p>
        </p:txBody>
      </p:sp>
    </p:spTree>
    <p:extLst>
      <p:ext uri="{BB962C8B-B14F-4D97-AF65-F5344CB8AC3E}">
        <p14:creationId xmlns:p14="http://schemas.microsoft.com/office/powerpoint/2010/main" val="10175340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E553E0-933E-4F1A-8E01-75A922A3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第 2 天解答與交叉檢查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4E72CBBB-672E-42B3-A7F0-1215D95C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704F892-F989-4987-9047-A55F63F3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2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221888E2-BB1A-4F27-A22C-58223640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A｜R_eq = 9 kΩ，I = 100 μA；壓降為 0.3 V 與 0.6 V。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487C1EDC-BEB8-42B1-8504-F9D23FBB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B｜R_eq = 2 kΩ，總電流 = 450 μA；支路分別 300、150 μA。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55CF66F2-F6DB-4C0F-8366-2426EB03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C｜τ = 2×10^(6) × 50×10^(-12) = 100 μs；5τ = 500 μs。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FC391D8A-DFDE-4A41-99CD-B39A8046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D｜|E| = 0.4/(20×10^(-9)) = 2×10^(7) V/m = 0.2 MV/cm。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CA31346D-93D9-4423-A434-1FD24CDC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E｜V_source = V_lead + V_contact + V_film，因此設定值不能直接當作膜內電壓。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8F9DEC9C-C37F-4880-8A86-69520FE5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4E4445AB-5376-414E-9EA7-08B31181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F9195B58-707B-45B0-B42C-0D607F5E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D01-19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A2E881-75BE-4C71-B39A-6AA12903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19 / 28</a:t>
            </a:r>
          </a:p>
        </p:txBody>
      </p:sp>
    </p:spTree>
    <p:extLst>
      <p:ext uri="{BB962C8B-B14F-4D97-AF65-F5344CB8AC3E}">
        <p14:creationId xmlns:p14="http://schemas.microsoft.com/office/powerpoint/2010/main" val="14029135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7C5D53-6B52-4275-ACCF-3D9B2FBB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SMU 的輸出與量測功能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DB43CAB0-D0E3-467B-968B-9BFD4D68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456E222-453B-42E1-9E93-22AF9C7A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3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36296A3B-17EC-451A-8A4C-6A05B14C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SMU 是 source measure unit，可提供電壓或電流，同時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量測端點的 V、I。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8573E7A8-D36E-4352-90B8-4C6596FF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提供電壓模式：設定 V，量測 I，並設定電流上限。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5DE00960-5DB5-49AE-8EDD-166DA416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1313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提供電流模式：設定 I，量測 V，並設定電壓上限。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F6975504-60B9-4E24-A1D0-35D66044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68893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必須區分 V_set、V_meas、I_meas。達到限制時，設定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值未必能實現。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C06FAE2E-7355-4327-BD2A-61EA210E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9468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一筆可追溯資料至少保存時間、設定值、實測 V/I、範圍與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compliance 狀態。</a:t>
            </a:r>
          </a:p>
        </p:txBody>
      </p:sp>
      <p:sp>
        <p:nvSpPr>
          <p:cNvPr id="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7FA6FD90-81ED-4943-B3B2-4590A2B3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280" y="1762125"/>
            <a:ext cx="1320165" cy="1928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SMU</a:t>
            </a:r>
          </a:p>
        </p:txBody>
      </p:sp>
      <p:sp>
        <p:nvSpPr>
          <p:cNvPr id="10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54679840-0761-475E-B51D-1289FFB8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646" y="2426494"/>
            <a:ext cx="660083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DUT</a:t>
            </a:r>
          </a:p>
        </p:txBody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C91DAE6B-F406-4945-BCC2-9386EAA1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72445" y="2105025"/>
            <a:ext cx="1936242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2FDD01CB-989B-493A-8C83-35B88859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08687" y="2105025"/>
            <a:ext cx="95" cy="3214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EDAAB27A-A796-45FB-BF01-802849F5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72445" y="3348038"/>
            <a:ext cx="1936242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6D46E42B-6B25-419E-BE0F-2E68124C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08687" y="3069431"/>
            <a:ext cx="95" cy="2786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5" name="figure-label-6">
            <a:extLst xmlns:a="http://schemas.openxmlformats.org/drawingml/2006/main">
              <a:ext uri="{FF2B5EF4-FFF2-40B4-BE49-F238E27FC236}">
                <a16:creationId xmlns:a16="http://schemas.microsoft.com/office/drawing/2014/main" id="{0CD9CD78-20E0-46B8-BCCC-6B418422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467" y="1847850"/>
            <a:ext cx="704088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HI</a:t>
            </a:r>
          </a:p>
        </p:txBody>
      </p:sp>
      <p:sp>
        <p:nvSpPr>
          <p:cNvPr id="16" name="figure-label-7">
            <a:extLst xmlns:a="http://schemas.openxmlformats.org/drawingml/2006/main">
              <a:ext uri="{FF2B5EF4-FFF2-40B4-BE49-F238E27FC236}">
                <a16:creationId xmlns:a16="http://schemas.microsoft.com/office/drawing/2014/main" id="{BF507B17-734E-4847-BA7F-16F341FD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467" y="3390900"/>
            <a:ext cx="704088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LO</a:t>
            </a:r>
          </a:p>
        </p:txBody>
      </p:sp>
      <p:sp>
        <p:nvSpPr>
          <p:cNvPr id="17" name="figure-label-8">
            <a:extLst xmlns:a="http://schemas.openxmlformats.org/drawingml/2006/main">
              <a:ext uri="{FF2B5EF4-FFF2-40B4-BE49-F238E27FC236}">
                <a16:creationId xmlns:a16="http://schemas.microsoft.com/office/drawing/2014/main" id="{19ACB5EB-87B3-4707-BEE9-02E37B18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286" y="3905250"/>
            <a:ext cx="3740468" cy="263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設定 V 或 I</a:t>
            </a:r>
          </a:p>
        </p:txBody>
      </p:sp>
      <p:sp>
        <p:nvSpPr>
          <p:cNvPr id="18" name="figure-label-9">
            <a:extLst xmlns:a="http://schemas.openxmlformats.org/drawingml/2006/main">
              <a:ext uri="{FF2B5EF4-FFF2-40B4-BE49-F238E27FC236}">
                <a16:creationId xmlns:a16="http://schemas.microsoft.com/office/drawing/2014/main" id="{DA2B2318-EB2F-4731-B440-798559B4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286" y="4248150"/>
            <a:ext cx="3740468" cy="263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回讀 V_meas、I_meas</a:t>
            </a:r>
          </a:p>
        </p:txBody>
      </p:sp>
      <p:sp>
        <p:nvSpPr>
          <p:cNvPr id="1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E4BA6F01-F79A-4F28-9350-B0DE4668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515938A7-9FC6-4A39-8900-22297375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4D5FB60C-F9A4-42E6-BEFE-F3BC5B1D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D01-20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2FCD6C9-1385-4B8B-B1AD-C3ED8C78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20 / 28</a:t>
            </a:r>
          </a:p>
        </p:txBody>
      </p:sp>
    </p:spTree>
    <p:extLst>
      <p:ext uri="{BB962C8B-B14F-4D97-AF65-F5344CB8AC3E}">
        <p14:creationId xmlns:p14="http://schemas.microsoft.com/office/powerpoint/2010/main" val="17698211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ABC309-FCCC-4517-92E4-D0B64821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Compliance：限制與失去目標電壓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BDDD9E8C-CD88-4276-A386-3EAEFD96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67AAA79-769A-41E6-8AFD-72F76090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3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3B7815D1-9309-4C06-AC21-6BDE6153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提供電壓時，current compliance 限制電流。碰到限制後，儀器會調整輸出。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51686369-6435-421A-B726-D796D378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假設理想模型：要求 1 V、電流上限 100 μA，負載為 1 kΩ。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6CF9E2B5-51AD-4009-89E2-4DFAA9C1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若真的提供 1 V，需 1 mA，超過限制。因此實際約為 0.1 V、100 μA。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6FBBA471-16E4-46E5-8F73-C64D3898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此時用 V_set/I_meas 得 10 kΩ 會錯；用 V_meas/I_meas 才得 1 kΩ。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CDB4F48D-958E-487E-938F-99093181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Compliance 無法保證沒有瞬間過衝。寄生電容與儀器響應仍可能傷害元件。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3A50F742-8D0F-4042-91A9-2A18A021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F948E181-D731-4689-974E-2C023D0D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BA0DA1C3-64A9-4DEF-AF0A-8256914C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D01-21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EFBDDFF-B039-4573-88FB-10F6C6FC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21 / 28</a:t>
            </a:r>
          </a:p>
        </p:txBody>
      </p:sp>
    </p:spTree>
    <p:extLst>
      <p:ext uri="{BB962C8B-B14F-4D97-AF65-F5344CB8AC3E}">
        <p14:creationId xmlns:p14="http://schemas.microsoft.com/office/powerpoint/2010/main" val="202431296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B7C61E-E39D-4269-9BF6-EDA6DA35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量測符號與功率方向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E28DD7DD-DC13-42F1-955A-C73866A6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A2AC0E9-BE5A-4566-ACEE-8BC7F78F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3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147BD2D0-F3DA-4276-B75A-C5C18FED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本課定義 V = V_HI - V_LO，I 為由 HI 流入 DUT 的電流。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CFFB2375-1751-4AA7-9419-7ECC2E6B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以此被動符號慣例，P_DUT = VI &gt; 0 表示 DUT 吸收能量。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F13C9D15-1B83-46E4-8504-9C0C2077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假想電阻：V = -0.2 V，I = -20 μA，P_DUT = +4 μW。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CC8FF545-D8BD-4236-A0F2-FCAD0CCB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負電流不等於負電阻。負電壓下的被動電阻仍可耗能。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5CB64E3B-9052-4189-99DA-4095DB64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儀器顯示正方向需查手冊並核對接線。不同軟體匯出符號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不可默認相同。</a:t>
            </a:r>
          </a:p>
        </p:txBody>
      </p:sp>
      <p:sp>
        <p:nvSpPr>
          <p:cNvPr id="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73F3C75A-736C-48D5-B696-E822FB08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465" y="2276475"/>
            <a:ext cx="968121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DUT</a:t>
            </a:r>
          </a:p>
        </p:txBody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C176360E-D1E4-4ACB-9918-E79B900D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50305" y="1847850"/>
            <a:ext cx="176022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EB22B160-6A9E-4AFA-8BE8-68A47223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22514" y="1796415"/>
            <a:ext cx="88011" cy="51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1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11008B06-83BA-4FC4-8419-BAA46ADE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922514" y="1847850"/>
            <a:ext cx="88011" cy="51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86"/>
            </a:solidFill>
            <a:prstDash val="solid"/>
          </a:ln>
        </p:spPr>
      </p:sp>
      <p:sp>
        <p:nvSpPr>
          <p:cNvPr id="1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C4B90C8D-3A78-4E54-9CF7-47FEF80C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1847850"/>
            <a:ext cx="95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1EAE4DD5-E4BC-49F7-99C3-67D9B83E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3390900"/>
            <a:ext cx="95" cy="4714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5" name="figure-label-6">
            <a:extLst xmlns:a="http://schemas.openxmlformats.org/drawingml/2006/main">
              <a:ext uri="{FF2B5EF4-FFF2-40B4-BE49-F238E27FC236}">
                <a16:creationId xmlns:a16="http://schemas.microsoft.com/office/drawing/2014/main" id="{43B70D3E-2051-4A6F-9A34-4F285FEE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602" y="2190750"/>
            <a:ext cx="132016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+  HI</a:t>
            </a:r>
          </a:p>
        </p:txBody>
      </p:sp>
      <p:sp>
        <p:nvSpPr>
          <p:cNvPr id="16" name="figure-label-7">
            <a:extLst xmlns:a="http://schemas.openxmlformats.org/drawingml/2006/main">
              <a:ext uri="{FF2B5EF4-FFF2-40B4-BE49-F238E27FC236}">
                <a16:creationId xmlns:a16="http://schemas.microsoft.com/office/drawing/2014/main" id="{0C2E77F7-5C27-483A-B286-96F6077A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602" y="3348038"/>
            <a:ext cx="132016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-  LO</a:t>
            </a:r>
          </a:p>
        </p:txBody>
      </p:sp>
      <p:sp>
        <p:nvSpPr>
          <p:cNvPr id="17" name="figure-label-8">
            <a:extLst xmlns:a="http://schemas.openxmlformats.org/drawingml/2006/main">
              <a:ext uri="{FF2B5EF4-FFF2-40B4-BE49-F238E27FC236}">
                <a16:creationId xmlns:a16="http://schemas.microsoft.com/office/drawing/2014/main" id="{7EF06F51-DADB-4611-9740-45C7393A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289" y="1333500"/>
            <a:ext cx="396049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I 由 HI 流入 DUT</a:t>
            </a:r>
          </a:p>
        </p:txBody>
      </p:sp>
      <p:sp>
        <p:nvSpPr>
          <p:cNvPr id="18" name="figure-label-9">
            <a:extLst xmlns:a="http://schemas.openxmlformats.org/drawingml/2006/main">
              <a:ext uri="{FF2B5EF4-FFF2-40B4-BE49-F238E27FC236}">
                <a16:creationId xmlns:a16="http://schemas.microsoft.com/office/drawing/2014/main" id="{5E083927-4DF4-4391-BF73-03B23AD0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311" y="4248150"/>
            <a:ext cx="3520440" cy="301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6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6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6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6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6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6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6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6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6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P_DUT = VI</a:t>
            </a:r>
          </a:p>
        </p:txBody>
      </p:sp>
      <p:sp>
        <p:nvSpPr>
          <p:cNvPr id="1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28BD6AD9-D720-4D06-B4B4-68FB253C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188E1435-32E5-4189-82C5-F492574F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B0E4FCA1-5E22-4B3E-B45C-878701DB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D01-22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F99B091-ED8F-49F8-8106-B4E4F61C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22 / 28</a:t>
            </a:r>
          </a:p>
        </p:txBody>
      </p:sp>
    </p:spTree>
    <p:extLst>
      <p:ext uri="{BB962C8B-B14F-4D97-AF65-F5344CB8AC3E}">
        <p14:creationId xmlns:p14="http://schemas.microsoft.com/office/powerpoint/2010/main" val="72400421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F66083-7268-4D3A-973D-F1B7C95C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I–V 曲線需要時間順序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A9BF6A0F-949A-4D79-844A-A22B47E0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C231C8A-311F-44F2-9D8F-C53E2438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3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F38FFB34-3972-41DA-AD13-881227A4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I–V 圖以電壓為橫軸、電流為縱軸，但每個點其實來自某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個時間。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40D06166-794D-4591-9DEA-4601AEED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同電壓的去程與回程電流不同，稱為遲滯 hysteresis。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2231C8B9-CC37-4209-88F3-4AA3B6AB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13134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遲滯可來自狀態改變，也可受電容、溫升、延遲與量測流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程影響。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5D95107D-2E1C-425B-A9E0-B202CEE2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38926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至少標記掃描方向、起點、分段順序、每點等待時間及是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否碰到 compliance。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396E3A3D-CCE1-4282-B37C-796D7EFE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64719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單張遲滯圖不足以證明非揮發記憶。仍需獨立的寫入後讀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取與時間測試。</a:t>
            </a:r>
          </a:p>
        </p:txBody>
      </p:sp>
      <p:sp>
        <p:nvSpPr>
          <p:cNvPr id="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33C8F6B1-82E8-4E3C-9AD0-2CC26726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設定下一點</a:t>
            </a:r>
          </a:p>
        </p:txBody>
      </p:sp>
      <p:sp>
        <p:nvSpPr>
          <p:cNvPr id="10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314F26CF-897F-4323-913B-CEA6E751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等待與量測</a:t>
            </a:r>
          </a:p>
        </p:txBody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4973327-DE35-4B30-B2EE-09996667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15716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81E3BB19-F8F1-4C0D-BB6C-65C7E3D6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17240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16913026-2DE7-48AD-921B-3946101B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17240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4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C285A366-A3FF-49C1-B607-B5511FC0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保存原始值與旗標</a:t>
            </a:r>
          </a:p>
        </p:txBody>
      </p:sp>
      <p:sp>
        <p:nvSpPr>
          <p:cNvPr id="15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C8F9A662-D0E1-4564-B409-ECB6C580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242887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6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B90B2A4B-D23B-47AB-BF97-8E9E998F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25812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7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A50A8CD0-6D03-4450-A30F-E08881A8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25812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8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BBE3069B-A2DD-4455-A9D3-B2B11168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依採集順序繪圖</a:t>
            </a:r>
          </a:p>
        </p:txBody>
      </p:sp>
      <p:sp>
        <p:nvSpPr>
          <p:cNvPr id="1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605ED8D1-8D3F-47F9-B6A4-5EBA88FA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32861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2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5C7A6FFD-BABD-4AC8-89DB-E011948D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34385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2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9F3E0BA2-B3DB-45F1-94F8-D58A8016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34385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22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606E9CD4-55A9-49B2-AD44-DB0C6681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4400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概念流程，真實參數依核准 SOP</a:t>
            </a:r>
          </a:p>
        </p:txBody>
      </p:sp>
      <p:sp>
        <p:nvSpPr>
          <p:cNvPr id="23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55B6C381-927D-46C7-A928-17978AD7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4" name="footer">
            <a:extLst xmlns:a="http://schemas.openxmlformats.org/drawingml/2006/main">
              <a:ext uri="{FF2B5EF4-FFF2-40B4-BE49-F238E27FC236}">
                <a16:creationId xmlns:a16="http://schemas.microsoft.com/office/drawing/2014/main" id="{86D5A2F4-6347-475D-842E-0DFB6517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5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B40612A2-3400-4934-8B25-059861C7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D01-23</a:t>
            </a:r>
          </a:p>
        </p:txBody>
      </p:sp>
      <p:sp>
        <p:nvSpPr>
          <p:cNvPr id="2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4A3106B-4230-4968-8906-6A8BC24A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23 / 28</a:t>
            </a:r>
          </a:p>
        </p:txBody>
      </p:sp>
    </p:spTree>
    <p:extLst>
      <p:ext uri="{BB962C8B-B14F-4D97-AF65-F5344CB8AC3E}">
        <p14:creationId xmlns:p14="http://schemas.microsoft.com/office/powerpoint/2010/main" val="2865593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4FE004-082A-4E2F-B100-9B54907E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電阻、電導與曲線斜率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77EFC2C7-EB40-4D97-A9C8-CF857612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0D26B69-D3B1-4431-96F8-00B8BA93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3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F19480AD-13F6-4CF1-9345-0CFFAD61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在指定偏壓與狀態，靜態比值 R = V/I、G = I/V。計算前確認分母非零。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746889FE-538E-4009-8647-2D82482D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非線性曲線的局部斜率為微分電導 g = dI/dV，通常不等於 I/V。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5BE9BDDB-7836-42C1-84B9-9BA4E8E1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假設一點為 0.20 V、10 μA，R = 20 kΩ，G = 50 μS。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9BC5FCD3-6D58-45FD-BEBE-0CA6BC63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若附近 ΔV = 0.02 V、ΔI = 2 μA，則 g ≈ 100 μS，r ≈ 10 kΩ。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6AC4B0B0-405F-487D-90BE-79C16ADE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報告「電阻」時需寫讀取偏壓與定義。負號、零點與低於偵測能力的值要另外處理。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CEC47B1B-27B6-46CD-84EE-8CF81DDD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6E922BC7-818F-4299-9C53-35BB4CC1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13162C8C-1090-4CB6-B1D6-C573FE85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D01-24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C1BA0F-D34D-4A1E-8FCB-AC55A511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24 / 28</a:t>
            </a:r>
          </a:p>
        </p:txBody>
      </p:sp>
    </p:spTree>
    <p:extLst>
      <p:ext uri="{BB962C8B-B14F-4D97-AF65-F5344CB8AC3E}">
        <p14:creationId xmlns:p14="http://schemas.microsoft.com/office/powerpoint/2010/main" val="191111567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B63135-F52D-46FA-A31A-252E7406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兩線量測與四線量測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29B2881-A678-47F2-9660-066F47BF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6EE66AD-AEB6-4FEC-B297-C6A3D17F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3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4F15EEE0-1D4E-4FC3-B98E-4EB6D5E4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兩線法：提供電流與量電壓共用線路，讀值可能包含線材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與接觸壓降。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01047F43-A652-4FA2-9309-80326CE9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 DUT 為 100 Ω，兩條線各 5 Ω，兩線法約讀到 110 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Ω。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E58094BB-B59B-4449-9448-76F74830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83168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四線 Kelvin 法：force 線送電流，sense 線在 DUT 附近讀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電壓。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0B352F0B-5788-4E89-AE88-AD885270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08960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高輸入阻抗使 sense 線電流很小，可減少該線的壓降。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84EDBDE2-6C61-45E9-B663-49318C4B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64719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四線法不能自動消除 DUT 內部電極或未排除的接觸電阻，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也不能隨意改接線。</a:t>
            </a:r>
          </a:p>
        </p:txBody>
      </p:sp>
      <p:sp>
        <p:nvSpPr>
          <p:cNvPr id="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D5B6F9CF-7EB1-46EC-B6FF-3A422AE3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2267" y="1590675"/>
            <a:ext cx="1012127" cy="2528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SMU</a:t>
            </a:r>
          </a:p>
        </p:txBody>
      </p:sp>
      <p:sp>
        <p:nvSpPr>
          <p:cNvPr id="10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632A2067-0C92-475F-83DB-F7E1EB73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2405063"/>
            <a:ext cx="70408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DUT</a:t>
            </a:r>
          </a:p>
        </p:txBody>
      </p:sp>
      <p:sp>
        <p:nvSpPr>
          <p:cNvPr id="11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1B017A07-0217-40BD-94BF-B0089A84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303" y="2379345"/>
            <a:ext cx="52807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B47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12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80576A8D-DB29-41EA-82E4-C3F64A92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303" y="3065145"/>
            <a:ext cx="52807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B47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1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A6A20BE7-E702-46A7-B316-97A1E1ED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54393" y="1890713"/>
            <a:ext cx="250831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5DCDF995-BCDC-405C-B353-21CA22EE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62707" y="1890713"/>
            <a:ext cx="95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5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9866E8EB-66C9-42E0-9988-62593F91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54393" y="3819525"/>
            <a:ext cx="250831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6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CB6DAF87-A32A-4432-8091-0D07413F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462707" y="3090863"/>
            <a:ext cx="95" cy="7286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3B47"/>
            </a:solidFill>
            <a:prstDash val="solid"/>
          </a:ln>
        </p:spPr>
      </p:sp>
      <p:sp>
        <p:nvSpPr>
          <p:cNvPr id="17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DD23D3A7-548C-41BD-889C-68F0613D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54393" y="2490788"/>
            <a:ext cx="171621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1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78C474CB-8863-44A9-8E30-31172537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670608" y="2405063"/>
            <a:ext cx="9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1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B2373BCA-4EE3-4FDF-99C3-D245CBDA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70608" y="2405063"/>
            <a:ext cx="792099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2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F21569E2-E188-4E64-A2AC-A7DA1C74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54393" y="3005138"/>
            <a:ext cx="171621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2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939E4004-1DB9-4BE4-A86E-9E24153F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70608" y="3005138"/>
            <a:ext cx="9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2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63E552B7-F4C4-48AD-9FD8-F9E7F357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70608" y="3090863"/>
            <a:ext cx="792099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47A86"/>
            </a:solidFill>
            <a:prstDash val="solid"/>
          </a:ln>
        </p:spPr>
      </p:sp>
      <p:sp>
        <p:nvSpPr>
          <p:cNvPr id="23" name="figure-label-14">
            <a:extLst xmlns:a="http://schemas.openxmlformats.org/drawingml/2006/main">
              <a:ext uri="{FF2B5EF4-FFF2-40B4-BE49-F238E27FC236}">
                <a16:creationId xmlns:a16="http://schemas.microsoft.com/office/drawing/2014/main" id="{3082C11B-1F44-43B1-83C5-A45E58FD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0415" y="1612106"/>
            <a:ext cx="1936242" cy="237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force HI</a:t>
            </a:r>
          </a:p>
        </p:txBody>
      </p:sp>
      <p:sp>
        <p:nvSpPr>
          <p:cNvPr id="24" name="figure-label-15">
            <a:extLst xmlns:a="http://schemas.openxmlformats.org/drawingml/2006/main">
              <a:ext uri="{FF2B5EF4-FFF2-40B4-BE49-F238E27FC236}">
                <a16:creationId xmlns:a16="http://schemas.microsoft.com/office/drawing/2014/main" id="{F003772D-A8C9-4E7A-8CA5-E53E63E8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0415" y="2255044"/>
            <a:ext cx="1936242" cy="237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sense HI</a:t>
            </a:r>
          </a:p>
        </p:txBody>
      </p:sp>
      <p:sp>
        <p:nvSpPr>
          <p:cNvPr id="25" name="figure-label-16">
            <a:extLst xmlns:a="http://schemas.openxmlformats.org/drawingml/2006/main">
              <a:ext uri="{FF2B5EF4-FFF2-40B4-BE49-F238E27FC236}">
                <a16:creationId xmlns:a16="http://schemas.microsoft.com/office/drawing/2014/main" id="{9C2C3F1B-10E6-42CF-94D5-0239DFCE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0415" y="3069431"/>
            <a:ext cx="1936242" cy="237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sense LO</a:t>
            </a:r>
          </a:p>
        </p:txBody>
      </p:sp>
      <p:sp>
        <p:nvSpPr>
          <p:cNvPr id="26" name="figure-label-17">
            <a:extLst xmlns:a="http://schemas.openxmlformats.org/drawingml/2006/main">
              <a:ext uri="{FF2B5EF4-FFF2-40B4-BE49-F238E27FC236}">
                <a16:creationId xmlns:a16="http://schemas.microsoft.com/office/drawing/2014/main" id="{247BE1C2-E895-4F35-A7F5-5969B6C8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0415" y="3905250"/>
            <a:ext cx="1936242" cy="237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force LO</a:t>
            </a:r>
          </a:p>
        </p:txBody>
      </p:sp>
      <p:sp>
        <p:nvSpPr>
          <p:cNvPr id="27" name="figure-label-18">
            <a:extLst xmlns:a="http://schemas.openxmlformats.org/drawingml/2006/main">
              <a:ext uri="{FF2B5EF4-FFF2-40B4-BE49-F238E27FC236}">
                <a16:creationId xmlns:a16="http://schemas.microsoft.com/office/drawing/2014/main" id="{5FDBF388-F4BD-4297-8B0F-16645892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547" y="4183856"/>
            <a:ext cx="1980248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100 Ω（假設）</a:t>
            </a:r>
          </a:p>
        </p:txBody>
      </p:sp>
      <p:sp>
        <p:nvSpPr>
          <p:cNvPr id="28" name="figure-label-19">
            <a:extLst xmlns:a="http://schemas.openxmlformats.org/drawingml/2006/main">
              <a:ext uri="{FF2B5EF4-FFF2-40B4-BE49-F238E27FC236}">
                <a16:creationId xmlns:a16="http://schemas.microsoft.com/office/drawing/2014/main" id="{505EE678-F9AD-4853-BAD9-B3BD8D42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272" y="4441031"/>
            <a:ext cx="3960495" cy="237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force 線各 5 Ω</a:t>
            </a:r>
          </a:p>
        </p:txBody>
      </p:sp>
      <p:sp>
        <p:nvSpPr>
          <p:cNvPr id="29" name="figure-label-20">
            <a:extLst xmlns:a="http://schemas.openxmlformats.org/drawingml/2006/main">
              <a:ext uri="{FF2B5EF4-FFF2-40B4-BE49-F238E27FC236}">
                <a16:creationId xmlns:a16="http://schemas.microsoft.com/office/drawing/2014/main" id="{18730202-FEFF-40EE-9F69-D5D299E5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272" y="4762500"/>
            <a:ext cx="3960495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sense 接在 DUT 端點</a:t>
            </a:r>
          </a:p>
        </p:txBody>
      </p:sp>
      <p:sp>
        <p:nvSpPr>
          <p:cNvPr id="30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FCC3AC76-6EB1-490B-B022-8B47A0D8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31" name="footer">
            <a:extLst xmlns:a="http://schemas.openxmlformats.org/drawingml/2006/main">
              <a:ext uri="{FF2B5EF4-FFF2-40B4-BE49-F238E27FC236}">
                <a16:creationId xmlns:a16="http://schemas.microsoft.com/office/drawing/2014/main" id="{4EA5BB50-18E9-407B-B373-F779F24C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32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319DE755-F037-468D-9599-228BE4F3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D01-25</a:t>
            </a:r>
          </a:p>
        </p:txBody>
      </p:sp>
      <p:sp>
        <p:nvSpPr>
          <p:cNvPr id="3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2E7B4B6-9CB3-4070-8EA9-DDA592AB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25 / 28</a:t>
            </a:r>
          </a:p>
        </p:txBody>
      </p:sp>
    </p:spTree>
    <p:extLst>
      <p:ext uri="{BB962C8B-B14F-4D97-AF65-F5344CB8AC3E}">
        <p14:creationId xmlns:p14="http://schemas.microsoft.com/office/powerpoint/2010/main" val="107982368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77A625-7D58-4102-9B8E-32106684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第 3 天練習：判讀模擬資料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4B9273F8-46B6-4097-8A84-964035E3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7476780-8B02-493D-8C9D-10E60F85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3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66721142-4B44-4589-BDA8-985B29C4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教學資料 A：V_set = 0.20 V，V_meas = 0.20 V，I_meas = 10 μA，未限流。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4D45A872-12F5-4D9C-A7B0-5E4BB0AC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教學資料 B：V_set = 1.00 V，V_meas = 0.10 V，I_meas = 100 μA，限流旗標為真。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DC58EE51-1FB3-4804-B063-E99C17AA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 1｜求 A、B 的 V_meas/I_meas，解釋為何 B 不宜用 V_set。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EABA1923-8F35-4AEC-A748-7AD2DB02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 2｜假想電阻在 -0.3 V 讀到 -30 μA，求 R 與吸收功率。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D3AA8EA2-8019-4046-9E34-84423D62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 3｜同電壓的往返電流不同。列出兩種非記憶因素，並寫出原始資料應保存的欄位。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C0D357B3-E2DA-483A-A6D8-008C798D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F8B8E193-B57D-489D-AB6A-7252609F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E6143AE2-E7E3-481F-BA90-974F6DE8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D01-26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10BC606-FF25-4262-8656-F917607A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26 / 28</a:t>
            </a:r>
          </a:p>
        </p:txBody>
      </p:sp>
    </p:spTree>
    <p:extLst>
      <p:ext uri="{BB962C8B-B14F-4D97-AF65-F5344CB8AC3E}">
        <p14:creationId xmlns:p14="http://schemas.microsoft.com/office/powerpoint/2010/main" val="127271166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2E633A-A28C-46F4-90EF-C9B07E56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第 3 天解答與資料邊界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263A85C-8DCE-4B77-90FC-17F7159E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5F06D4F-0752-4DA0-9CC6-F4CAC64D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3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7C13870A-0D4D-415C-8AA2-21465C70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 1｜A：20 kΩ。B：1 kΩ。B 用設定電壓會誤得 10 kΩ。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5A5DA9F6-6ECB-4226-9A9E-A3E1FED7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 2｜R = (-0.3)/(-30 μA) = 10 kΩ；P = +9 μW。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F959E312-2084-4E66-9AC5-3B6D6CFB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 3｜可能因素含充放電暫態、溫升、讀取延遲或儀器範圍切換。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445241B2-D6E2-4C0F-B673-E740DF82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必要欄位：採集順序與時間、V_set、V_meas、I_meas、量程、等待時間、限制旗標。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2064EFEB-9A80-4EBE-B7BF-740AECB8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可說「觀察到路徑相依的電流」。機制與非揮發性仍待額外證據。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C8098953-85E0-47E4-AC67-21CD61A6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E9E5A1C0-3917-41A8-BD0A-6DD1F8B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6BFF9EF9-6DB4-4A5C-94C3-05444C4C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D01-27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5EF74F5-88C4-4D4D-9C98-045F7C98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27 / 28</a:t>
            </a:r>
          </a:p>
        </p:txBody>
      </p:sp>
    </p:spTree>
    <p:extLst>
      <p:ext uri="{BB962C8B-B14F-4D97-AF65-F5344CB8AC3E}">
        <p14:creationId xmlns:p14="http://schemas.microsoft.com/office/powerpoint/2010/main" val="72652908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301B22-359A-42AB-B80D-C120E897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第 3 天口頭檢核與入門交接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6F6DF808-A27B-494C-8A57-756BB1F2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275365E-1FF0-4B81-9084-8B3E7DFC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第 3 天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FFD2CA20-BDFC-4F49-8548-881087E5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能不看答案寫出 I = ΔQ/Δt、V = IR、P = VI、τ = RC，並核對單位。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10E6B817-AB08-4E77-BCB2-B4BC06E3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能在兩端元件圖上標出電壓參考、正電流方向與串並聯的真實連接。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226AEF86-A283-4749-ACA6-140C942D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能解釋為何設定電壓、元件端電壓與膜內電壓可能不同。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3296AAA8-4934-4A40-8C99-9EA40538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能辨認 compliance、RC 暫態與量測負載，遇到不確定讀值會保留原始資料。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7CAE564B-22A7-43F6-9F89-ED49BD1D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交接問題：本樣品的核准量測範圍、停機條件、接線圖與督導是誰？尚未確認就不啟用輸出。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22CC686B-7B03-44FD-94F7-DCB7CD34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0D4AF325-D0D4-48B5-A40D-99AA06C8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9475EBAB-14D1-402E-A362-94EDB303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D01-28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DCC980F-9C23-4CBF-AEA8-A83149AB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28 / 28</a:t>
            </a:r>
          </a:p>
        </p:txBody>
      </p:sp>
    </p:spTree>
    <p:extLst>
      <p:ext uri="{BB962C8B-B14F-4D97-AF65-F5344CB8AC3E}">
        <p14:creationId xmlns:p14="http://schemas.microsoft.com/office/powerpoint/2010/main" val="14699828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2026-10-29T04:44:53.2870000Z</dcterms:created>
  <dcterms:modified xsi:type="dcterms:W3CDTF">2026-10-29T04:44:53.2870000Z</dcterms:modified>
</coreProperties>
</file>