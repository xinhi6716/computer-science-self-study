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536af7a7c04697" /><Relationship Type="http://schemas.openxmlformats.org/officeDocument/2006/relationships/extended-properties" Target="/docProps/app.xml" Id="R390df0f942404cc4" /><Relationship Type="http://schemas.openxmlformats.org/officeDocument/2006/relationships/officeDocument" Target="/ppt/presentation.xml" Id="R9740bbd3a97c46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da23d56aa843f1"/>
  </p:sldMasterIdLst>
  <p:notesMasterIdLst>
    <p:notesMasterId xmlns:r="http://schemas.openxmlformats.org/officeDocument/2006/relationships" r:id="Ra8b2c4aaeb12450f"/>
  </p:notesMasterIdLst>
  <p:sldIdLst>
    <p:sldId xmlns:r="http://schemas.openxmlformats.org/officeDocument/2006/relationships" id="256" r:id="Rd77399d752924920"/>
    <p:sldId xmlns:r="http://schemas.openxmlformats.org/officeDocument/2006/relationships" id="257" r:id="Ra0347e8ae3664f38"/>
    <p:sldId xmlns:r="http://schemas.openxmlformats.org/officeDocument/2006/relationships" id="258" r:id="R57db07c99e86411e"/>
    <p:sldId xmlns:r="http://schemas.openxmlformats.org/officeDocument/2006/relationships" id="259" r:id="Rbf217b571f51446f"/>
    <p:sldId xmlns:r="http://schemas.openxmlformats.org/officeDocument/2006/relationships" id="260" r:id="R45fe6b89628c4710"/>
    <p:sldId xmlns:r="http://schemas.openxmlformats.org/officeDocument/2006/relationships" id="261" r:id="R52fa247d48964e54"/>
    <p:sldId xmlns:r="http://schemas.openxmlformats.org/officeDocument/2006/relationships" id="262" r:id="R30f4abcfd05e4842"/>
    <p:sldId xmlns:r="http://schemas.openxmlformats.org/officeDocument/2006/relationships" id="263" r:id="R42ea143f69424291"/>
    <p:sldId xmlns:r="http://schemas.openxmlformats.org/officeDocument/2006/relationships" id="264" r:id="R943d19e38a5640ee"/>
    <p:sldId xmlns:r="http://schemas.openxmlformats.org/officeDocument/2006/relationships" id="265" r:id="Rb3fd98c921704eb5"/>
    <p:sldId xmlns:r="http://schemas.openxmlformats.org/officeDocument/2006/relationships" id="266" r:id="Rfdb2be142cc34131"/>
    <p:sldId xmlns:r="http://schemas.openxmlformats.org/officeDocument/2006/relationships" id="267" r:id="R722fca43a4e04fee"/>
    <p:sldId xmlns:r="http://schemas.openxmlformats.org/officeDocument/2006/relationships" id="268" r:id="R223d1cbeef2c445f"/>
    <p:sldId xmlns:r="http://schemas.openxmlformats.org/officeDocument/2006/relationships" id="269" r:id="Rf4cbf0b6d7f34f50"/>
    <p:sldId xmlns:r="http://schemas.openxmlformats.org/officeDocument/2006/relationships" id="270" r:id="R9d1b8009b67f4c97"/>
    <p:sldId xmlns:r="http://schemas.openxmlformats.org/officeDocument/2006/relationships" id="271" r:id="R2df62c8e5071419a"/>
    <p:sldId xmlns:r="http://schemas.openxmlformats.org/officeDocument/2006/relationships" id="272" r:id="Ra6a424be96594aa0"/>
    <p:sldId xmlns:r="http://schemas.openxmlformats.org/officeDocument/2006/relationships" id="273" r:id="R45cbdf47b2e34bb0"/>
    <p:sldId xmlns:r="http://schemas.openxmlformats.org/officeDocument/2006/relationships" id="274" r:id="R3c1ca4f5abb94848"/>
    <p:sldId xmlns:r="http://schemas.openxmlformats.org/officeDocument/2006/relationships" id="275" r:id="R2849150774004ab1"/>
    <p:sldId xmlns:r="http://schemas.openxmlformats.org/officeDocument/2006/relationships" id="276" r:id="Rf02020897a1e4e29"/>
    <p:sldId xmlns:r="http://schemas.openxmlformats.org/officeDocument/2006/relationships" id="277" r:id="Rbce44bb7c38b41b6"/>
    <p:sldId xmlns:r="http://schemas.openxmlformats.org/officeDocument/2006/relationships" id="278" r:id="Rcf6598ff596b49cd"/>
    <p:sldId xmlns:r="http://schemas.openxmlformats.org/officeDocument/2006/relationships" id="279" r:id="R75b46a5947b04316"/>
  </p:sldIdLst>
  <p:sldSz cx="10692384" cy="60198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a444f13f3c42d1" /><Relationship Type="http://schemas.openxmlformats.org/officeDocument/2006/relationships/slideMaster" Target="/ppt/slideMasters/slideMaster1.xml" Id="R3dda23d56aa843f1" /><Relationship Type="http://schemas.openxmlformats.org/officeDocument/2006/relationships/notesMaster" Target="/ppt/notesMasters/notesMaster1.xml" Id="Ra8b2c4aaeb12450f" /><Relationship Type="http://schemas.openxmlformats.org/officeDocument/2006/relationships/presProps" Target="/ppt/presProps.xml" Id="Rae7e10af0bf64b30" /><Relationship Type="http://schemas.openxmlformats.org/officeDocument/2006/relationships/tableStyles" Target="/ppt/tableStyles.xml" Id="R919189a3d07c4c42" /><Relationship Type="http://schemas.openxmlformats.org/officeDocument/2006/relationships/slide" Target="/ppt/slides/slide1.xml" Id="Rd77399d752924920" /><Relationship Type="http://schemas.openxmlformats.org/officeDocument/2006/relationships/slide" Target="/ppt/slides/slide2.xml" Id="Ra0347e8ae3664f38" /><Relationship Type="http://schemas.openxmlformats.org/officeDocument/2006/relationships/slide" Target="/ppt/slides/slide3.xml" Id="R57db07c99e86411e" /><Relationship Type="http://schemas.openxmlformats.org/officeDocument/2006/relationships/slide" Target="/ppt/slides/slide4.xml" Id="Rbf217b571f51446f" /><Relationship Type="http://schemas.openxmlformats.org/officeDocument/2006/relationships/slide" Target="/ppt/slides/slide5.xml" Id="R45fe6b89628c4710" /><Relationship Type="http://schemas.openxmlformats.org/officeDocument/2006/relationships/slide" Target="/ppt/slides/slide6.xml" Id="R52fa247d48964e54" /><Relationship Type="http://schemas.openxmlformats.org/officeDocument/2006/relationships/slide" Target="/ppt/slides/slide7.xml" Id="R30f4abcfd05e4842" /><Relationship Type="http://schemas.openxmlformats.org/officeDocument/2006/relationships/slide" Target="/ppt/slides/slide8.xml" Id="R42ea143f69424291" /><Relationship Type="http://schemas.openxmlformats.org/officeDocument/2006/relationships/slide" Target="/ppt/slides/slide9.xml" Id="R943d19e38a5640ee" /><Relationship Type="http://schemas.openxmlformats.org/officeDocument/2006/relationships/slide" Target="/ppt/slides/slide10.xml" Id="Rb3fd98c921704eb5" /><Relationship Type="http://schemas.openxmlformats.org/officeDocument/2006/relationships/slide" Target="/ppt/slides/slide11.xml" Id="Rfdb2be142cc34131" /><Relationship Type="http://schemas.openxmlformats.org/officeDocument/2006/relationships/slide" Target="/ppt/slides/slide12.xml" Id="R722fca43a4e04fee" /><Relationship Type="http://schemas.openxmlformats.org/officeDocument/2006/relationships/slide" Target="/ppt/slides/slide13.xml" Id="R223d1cbeef2c445f" /><Relationship Type="http://schemas.openxmlformats.org/officeDocument/2006/relationships/slide" Target="/ppt/slides/slide14.xml" Id="Rf4cbf0b6d7f34f50" /><Relationship Type="http://schemas.openxmlformats.org/officeDocument/2006/relationships/slide" Target="/ppt/slides/slide15.xml" Id="R9d1b8009b67f4c97" /><Relationship Type="http://schemas.openxmlformats.org/officeDocument/2006/relationships/slide" Target="/ppt/slides/slide16.xml" Id="R2df62c8e5071419a" /><Relationship Type="http://schemas.openxmlformats.org/officeDocument/2006/relationships/slide" Target="/ppt/slides/slide17.xml" Id="Ra6a424be96594aa0" /><Relationship Type="http://schemas.openxmlformats.org/officeDocument/2006/relationships/slide" Target="/ppt/slides/slide18.xml" Id="R45cbdf47b2e34bb0" /><Relationship Type="http://schemas.openxmlformats.org/officeDocument/2006/relationships/slide" Target="/ppt/slides/slide19.xml" Id="R3c1ca4f5abb94848" /><Relationship Type="http://schemas.openxmlformats.org/officeDocument/2006/relationships/slide" Target="/ppt/slides/slide20.xml" Id="R2849150774004ab1" /><Relationship Type="http://schemas.openxmlformats.org/officeDocument/2006/relationships/slide" Target="/ppt/slides/slide21.xml" Id="Rf02020897a1e4e29" /><Relationship Type="http://schemas.openxmlformats.org/officeDocument/2006/relationships/slide" Target="/ppt/slides/slide22.xml" Id="Rbce44bb7c38b41b6" /><Relationship Type="http://schemas.openxmlformats.org/officeDocument/2006/relationships/slide" Target="/ppt/slides/slide23.xml" Id="Rcf6598ff596b49cd" /><Relationship Type="http://schemas.openxmlformats.org/officeDocument/2006/relationships/slide" Target="/ppt/slides/slide24.xml" Id="R75b46a5947b043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25a11721f14f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025d475bc14c0c" /><Relationship Type="http://schemas.openxmlformats.org/officeDocument/2006/relationships/notesMaster" Target="/ppt/notesMasters/notesMaster1.xml" Id="R408ed406934d4b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6111a7c6f54230" /><Relationship Type="http://schemas.openxmlformats.org/officeDocument/2006/relationships/notesMaster" Target="/ppt/notesMasters/notesMaster1.xml" Id="Ra96bdf2a4e6748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b28561b8da4834" /><Relationship Type="http://schemas.openxmlformats.org/officeDocument/2006/relationships/notesMaster" Target="/ppt/notesMasters/notesMaster1.xml" Id="Rb5ffd3cfceab4b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abdd7d5dc444da3" /><Relationship Type="http://schemas.openxmlformats.org/officeDocument/2006/relationships/notesMaster" Target="/ppt/notesMasters/notesMaster1.xml" Id="Rdab3348389a642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1e3c7e1c4cb47ad" /><Relationship Type="http://schemas.openxmlformats.org/officeDocument/2006/relationships/notesMaster" Target="/ppt/notesMasters/notesMaster1.xml" Id="R7e88c5cf32bb42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c22732b9154f3d" /><Relationship Type="http://schemas.openxmlformats.org/officeDocument/2006/relationships/notesMaster" Target="/ppt/notesMasters/notesMaster1.xml" Id="Rfe6b86eff831401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812f20cd684699" /><Relationship Type="http://schemas.openxmlformats.org/officeDocument/2006/relationships/notesMaster" Target="/ppt/notesMasters/notesMaster1.xml" Id="R01dbc64171ae408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21deaca1b3745d0" /><Relationship Type="http://schemas.openxmlformats.org/officeDocument/2006/relationships/notesMaster" Target="/ppt/notesMasters/notesMaster1.xml" Id="R91b0a24b943a4ad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f38c680d177469c" /><Relationship Type="http://schemas.openxmlformats.org/officeDocument/2006/relationships/notesMaster" Target="/ppt/notesMasters/notesMaster1.xml" Id="R7563643a36134ca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0986eda9fbe4115" /><Relationship Type="http://schemas.openxmlformats.org/officeDocument/2006/relationships/notesMaster" Target="/ppt/notesMasters/notesMaster1.xml" Id="R36bf7f97fbb94db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be60db75ebb4df4" /><Relationship Type="http://schemas.openxmlformats.org/officeDocument/2006/relationships/notesMaster" Target="/ppt/notesMasters/notesMaster1.xml" Id="Ra177a9e0138a471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116d10588264c87" /><Relationship Type="http://schemas.openxmlformats.org/officeDocument/2006/relationships/notesMaster" Target="/ppt/notesMasters/notesMaster1.xml" Id="R807c5d3f388947c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33733ee37324fae" /><Relationship Type="http://schemas.openxmlformats.org/officeDocument/2006/relationships/notesMaster" Target="/ppt/notesMasters/notesMaster1.xml" Id="R0c24770df0c04a1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ae334412fe4444f" /><Relationship Type="http://schemas.openxmlformats.org/officeDocument/2006/relationships/notesMaster" Target="/ppt/notesMasters/notesMaster1.xml" Id="R3f05139d74d3436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6aab457f4a04358" /><Relationship Type="http://schemas.openxmlformats.org/officeDocument/2006/relationships/notesMaster" Target="/ppt/notesMasters/notesMaster1.xml" Id="Rf89ca0892cfc4a8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5f9249aac884d36" /><Relationship Type="http://schemas.openxmlformats.org/officeDocument/2006/relationships/notesMaster" Target="/ppt/notesMasters/notesMaster1.xml" Id="Rf4306528e39d4db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900f45fd1ce467b" /><Relationship Type="http://schemas.openxmlformats.org/officeDocument/2006/relationships/notesMaster" Target="/ppt/notesMasters/notesMaster1.xml" Id="R5f73a9a86e2d4a2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636760c4df84025" /><Relationship Type="http://schemas.openxmlformats.org/officeDocument/2006/relationships/notesMaster" Target="/ppt/notesMasters/notesMaster1.xml" Id="Rfd4dc30132a8405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9fc54b423f64fe8" /><Relationship Type="http://schemas.openxmlformats.org/officeDocument/2006/relationships/notesMaster" Target="/ppt/notesMasters/notesMaster1.xml" Id="Rc6db9076785d44b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19f0aee09734354" /><Relationship Type="http://schemas.openxmlformats.org/officeDocument/2006/relationships/notesMaster" Target="/ppt/notesMasters/notesMaster1.xml" Id="Rdcef576ac407404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bf1c4a275164f2d" /><Relationship Type="http://schemas.openxmlformats.org/officeDocument/2006/relationships/notesMaster" Target="/ppt/notesMasters/notesMaster1.xml" Id="R6c8506bcb7b2420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d41d4a94f634137" /><Relationship Type="http://schemas.openxmlformats.org/officeDocument/2006/relationships/notesMaster" Target="/ppt/notesMasters/notesMaster1.xml" Id="Rc4e28f2546fc410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a525f344b954c99" /><Relationship Type="http://schemas.openxmlformats.org/officeDocument/2006/relationships/notesMaster" Target="/ppt/notesMasters/notesMaster1.xml" Id="R6969f16b21ce41a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8c83809b2694adb" /><Relationship Type="http://schemas.openxmlformats.org/officeDocument/2006/relationships/notesMaster" Target="/ppt/notesMasters/notesMaster1.xml" Id="R382713af55114f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這是零電機背景課程的實驗軌道。每個學習日的理論、作業與實驗合計 6–8 小時，每週六天。本章不提供形成電壓、限流值、脈衝設定或製程配方。濺鍍為本課的主要製程背景。不同機台與不同樣品需要各自適用的 SOP。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每天的實驗軌道預設 2 小時，已包括在當天總學習時間內。若工具訓練需要較長時間，就減少當天其他課程。完整逐日任務見 LAB_TRACK.md。時間安排是教學設計，不是承諾到第幾天就能取得工具使用權。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安全課不取代機台訓練。會用一台 SMU 不等於能用濺鍍機，觀察資格也不等於操作資格。表中是課程的準備門檻，正式授權仍由當地制度與合格人員決定。任何機台改型、材料或危害改變均應確認是否需要新訓練。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Stanford EH&amp;S｜實驗室特定訓練</a:t>
            </a:r>
          </a:p>
          <a:p xmlns:a="http://schemas.openxmlformats.org/drawingml/2006/main">
            <a:r>
              <a:t>https://ehs-library.stanford.edu/job-spec-training/laboratory-specific-training.html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Utah Nanofab｜工具訓練</a:t>
            </a:r>
          </a:p>
          <a:p xmlns:a="http://schemas.openxmlformats.org/drawingml/2006/main">
            <a:r>
              <a:t>https://www.nanofab.utah.edu/2025/11/11/step-6-process-equipment-training/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堆疊要由上到下畫清楚，不能只寫某種氧化物。厚度需標實測或名義值。單元件、1T1R 和陣列的電流路徑不同。機型不明時可先閱讀通用 SMU 概念，但不能拿通用範例設定上機。資料與 SOP 留在實驗室核准的存放位置。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圖是概念流程，不是操作順序。濺鍍使用真空、電源、電漿與材料靶，實際設備可能有多種電源與反應氣體。基礎壓力和製程壓力不可混同。不要照官方入門文中的示例數字設定未知機台。氣瓶、閥件、互鎖、靶材更換與清潔均按現場訓練授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Lesker｜濺鍍原理</a:t>
            </a:r>
          </a:p>
          <a:p xmlns:a="http://schemas.openxmlformats.org/drawingml/2006/main">
            <a:r>
              <a:t>https://www.lesker.com/newweb/faqs/question.cfm?id=163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DUT 是 device under test，意指待測元件。概念圖只顯示閉合量測路徑，未表示真實屏蔽、保護接地、串聯元件或四線配置。請帶領者用實際接線圖核對通道與電極。未確認輸出與儲能安全前，不碰接線。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Tektronix｜4200A SMU 官方手冊</a:t>
            </a:r>
          </a:p>
          <a:p xmlns:a="http://schemas.openxmlformats.org/drawingml/2006/main">
            <a:r>
              <a:t>https://www.tek.com/en/-/media/documents/4200a-smu-900-01a_dec_2020.pdf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這裡的讀取電阻是特定條件下的比值，不代表材料的固定電阻率。導電度 G=I/V 也有相同的工作點限制。微分電阻 dV/dI 與 V/I 不同。後面每次比較 HRS 與 LRS，都需要相同讀取定義以及可比的溫度、延遲和歷史。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Tektronix｜Low Level Measurements Handbook</a:t>
            </a:r>
          </a:p>
          <a:p xmlns:a="http://schemas.openxmlformats.org/drawingml/2006/main">
            <a:r>
              <a:t>https://download.tek.com/document/LowLevelHandbook_7Ed.pdf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量程的跨度 span 是上限與下限之差。解析度描述可分辨的最小變化，準確度則關係到讀值與真值的接近程度，不能從顯示位數直接判斷。超出目前量程可能出現 overrange／overload 旗標，此時不能把讀值當成有效訊號。Autorange 會自動切換量程，切換可能影響採集時間與暫態。不同機型的 range compliance 和 real compliance 行為可能不同，需讀實機手冊。若電壓源所需電流超過限制，就無法同時滿足原電壓目標與限流。無實測欄位時填缺值，不把命令值改名成實測值。範圍選擇與異常處置仍依本機 SOP。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Tektronix｜4200A SMU 官方手冊</a:t>
            </a:r>
          </a:p>
          <a:p xmlns:a="http://schemas.openxmlformats.org/drawingml/2006/main">
            <a:r>
              <a:t>https://www.tek.com/en/-/media/documents/4200a-smu-900-01a_dec_2020.pdf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Compliance 設定是必要紀錄，卻不是元件瞬間電流的完整證據。NIST 研究分析過衝的幅度與持續時間，提醒不能用單一峰值或簡化寄生推論概括所有架構。本課不指定額外電阻、電晶體或控制電路，因為選擇需配合設備、接線與樣品。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NIST｜RRAM 電流過衝研究</a:t>
            </a:r>
          </a:p>
          <a:p xmlns:a="http://schemas.openxmlformats.org/drawingml/2006/main">
            <a:r>
              <a:t>https://www.nist.gov/publications/analysis-and-control-rram-overshoot-current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Tektronix｜非揮發記憶體脈衝 I–V</a:t>
            </a:r>
          </a:p>
          <a:p xmlns:a="http://schemas.openxmlformats.org/drawingml/2006/main">
            <a:r>
              <a:t>https://download.tek.com/document/1KW-60638-1_Non-Volatile_Memory%20Test_4200A-SCS_Application_Note_111320.pdf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本圖所有軸均為歸一化任意單位，曲線由教學假設人工指定，不是實測、擬合或操作參數。圖中分別表現低導電分支與高導電分支，沒有提供實際 forming 或 switching 電壓。正式資料應加上清楚的掃描箭頭或段落編號。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Lanza 等｜Recommended Methods, 2019</a:t>
            </a:r>
          </a:p>
          <a:p xmlns:a="http://schemas.openxmlformats.org/drawingml/2006/main">
            <a:r>
              <a:t>https://poplab.stanford.edu/pdfs/Lanza-RecommendedMethodsRRAM-aem19.pdf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同一元件在不同讀取電壓的 V/I 可能不同，因此不能將任意曲線點挑成最好看的 on/off ratio。狀態名稱是依特定讀取定義分類。若切換不完整或資料不確定，保留 unknown，不強迫分成 HRS 或 LRS。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Lanza 等｜Recommended Methods, 2019</a:t>
            </a:r>
          </a:p>
          <a:p xmlns:a="http://schemas.openxmlformats.org/drawingml/2006/main">
            <a:r>
              <a:t>https://poplab.stanford.edu/pdfs/Lanza-RecommendedMethodsRRAM-aem19.pdf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NIST｜讀取波動與 program-verify</a:t>
            </a:r>
          </a:p>
          <a:p xmlns:a="http://schemas.openxmlformats.org/drawingml/2006/main">
            <a:r>
              <a:t>https://www.nist.gov/publications/impact-rram-read-fluctuations-program-verify-approach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用分段正負資料、不同線型或有說明的符號處理呈現，但原始值不能變動。範圍、雜訊、零點與漏電都影響低電流判讀。不能只因畫面顯示很多位數就推論準確度很高。正式的檢出限或不確定度由合適量測程序與儀器規格評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Tektronix｜低電流／高電阻量測</a:t>
            </a:r>
          </a:p>
          <a:p xmlns:a="http://schemas.openxmlformats.org/drawingml/2006/main">
            <a:r>
              <a:t>https://www.tek.com/en/documents/technical-article/technical-info-low-current-high-resistance-measurements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等待時間讓輸出、接線與樣品有機會穩定，積分時間決定每個讀值涵蓋的訊號時間窗，兩者必須分開記錄。NPLC 是 number of power line cycles，換成秒時須知道市電頻率。較長積分通常能降低部分雜訊，但會減慢讀值並平均掉較快變化，不能當成提升所有量測品質的通則。量到一次切換，不代表知道真實最短切換時間。能量需要同一時間基準下的電壓與電流；不同時間點的峰值相乘不等於可信能量。若儀器解析度不足，只能對可觀察的時間尺度下結論。儀器端能量也不必等於元件本體耗散。此頁沒有指定任何儀器設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Tektronix｜非揮發記憶體脈衝 I–V</a:t>
            </a:r>
          </a:p>
          <a:p xmlns:a="http://schemas.openxmlformats.org/drawingml/2006/main">
            <a:r>
              <a:t>https://download.tek.com/document/1KW-60638-1_Non-Volatile_Memory%20Test_4200A-SCS_Application_Note_111320.pdf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Tektronix｜4200A 官方文件：積分時間與電源週期</a:t>
            </a:r>
          </a:p>
          <a:p xmlns:a="http://schemas.openxmlformats.org/drawingml/2006/main">
            <a:r>
              <a:t>https://download.tek.com/manual/4200A-LPT-907-01D_LPT_May_2024.pdf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原始檔不要覆寫。每個 run 的 metadata 包含通道極性、量程及是否 autorange、integration／NPLC、delay、compliance、旗標、讀取定義與來源路徑。等待與積分使用各自欄位，附單位；使用 NPLC 時一併記錄已知的市電頻率。未知值填未知，不能把總採集時間冒充積分窗，也不能補造不存在的實測值。另保存過量程、限流及量程切換的狀態資訊，因為它們會影響數據判讀。人員姓名與私人聯絡資料不放公開課程範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不為了驗證接觸假象而故意鬆動帶電探針，也不自行修改屏蔽或接地。記錄異常時保留時間點。對照核准參考負載或已知樣品可協助辨識量測系統問題，但選用與操作仍需授權。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Tektronix｜低電流／高電阻量測</a:t>
            </a:r>
          </a:p>
          <a:p xmlns:a="http://schemas.openxmlformats.org/drawingml/2006/main">
            <a:r>
              <a:t>https://www.tek.com/en/documents/technical-article/technical-info-low-current-high-resistance-measurements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Tektronix｜Low Level Measurements Handbook</a:t>
            </a:r>
          </a:p>
          <a:p xmlns:a="http://schemas.openxmlformats.org/drawingml/2006/main">
            <a:r>
              <a:t>https://download.tek.com/document/LowLevelHandbook_7Ed.pdf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此流程只是工作分工，不是接線或開關順序。開始前還需要合格人員確認實際參數與保護。停止與安全收尾依本機 SOP，包含可能殘留的儲能。不得因第一次沒有切換就提高上限重試。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Utah Nanofab｜工具訓練</a:t>
            </a:r>
          </a:p>
          <a:p xmlns:a="http://schemas.openxmlformats.org/drawingml/2006/main">
            <a:r>
              <a:t>https://www.nanofab.utah.edu/2025/11/11/step-6-process-equipment-training/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本週目標是可信的基線。進度以 G2 通過及帶領者安排為前提。沒取得設備或樣品時，用核准歷史資料完成同樣追溯與分析。不能將桌面練習說成實測經驗，也不能以進度為由跳過訓練。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本課以濺鍍為主，但薄膜不是只由沉積時間決定。比較不同批次時，靶材、位置、歷史與量測方法可能同時改變。先建立 traceability，再談材料差異。當新樣品超出既有電測 SOP 的適用範圍，需先重新審查。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改電壓又改脈衝時間又改 compliance，不能叫單因子。穩定參考負載上的方法比較不能宣稱為 RRAM 材料結論。若帶領者選 RRAM 設定，需要額外處理初始狀態、讀取擾動與歷史效應。兩個不同製程批次的差異通常只是探索性觀察，不能單靠標籤推因果。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將同元件多次循環當成大量獨立樣本，會誇大證據量。先畫 individual trajectories，再決定如何彙總。小樣本可報描述統計與不確定性，不必硬做顯著性檢定。排除須有事先規則，且列原因、分母及對結論的影響。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Lanza 等｜Recommended Methods, 2019</a:t>
            </a:r>
          </a:p>
          <a:p xmlns:a="http://schemas.openxmlformats.org/drawingml/2006/main">
            <a:r>
              <a:t>https://poplab.stanford.edu/pdfs/Lanza-RecommendedMethodsRRAM-aem19.pdf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Endurance 需交代 cycle 定義、寫入與驗證序列及資料點密度，不能用稀疏檢查證明每一個中間循環成功。Retention 需說明 t=0、溫度、讀取條件與實際觀察時間。要區分時間漂移與 read disturb，需適當對照。八週課程優先分析既有可靠度資料，不要求未授權長時間或高溫應力。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Lanza 等｜Recommended Methods, 2019</a:t>
            </a:r>
          </a:p>
          <a:p xmlns:a="http://schemas.openxmlformats.org/drawingml/2006/main">
            <a:r>
              <a:t>https://poplab.stanford.edu/pdfs/Lanza-RecommendedMethodsRRAM-aem19.pdf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每一題先口頭說明，再寫一行計算或理由。A 題只談量測端的 V/I，還不能保證這就是元件本體電阻，因為尚未提供接線與串聯元件資訊。B 題檢查樣本層級。C 題檢查觀察窗。第 4 題檢查觀察與機制推論的界線。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若 A 題只存命令電壓，應標出缺少實測欄位，不能假裝能準確反推元件承受的電壓。結果涉及未知條件時，寫出限制比給一個看似精準的數字更正確。上述數字為教學算例，與實驗室操作設定無關。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每個成果都要可查證。若全程沒有上機，完成的是準備與分析能力，不應自稱獨立操作。公開版本使用原創示意圖、公開來源或明標合成資料，不放私人身分、內部樣品資料、未公開 SOP 或研究原始檔。課程完成不等於自動允許上雲、對外分享或投稿。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3ec9f7c1a94e6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0a3118ebfd4ba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13c379dfa046c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ece140646243c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b13932c7b64db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677d3afc7d4c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4B42EFF-E007-4DDA-8BAC-640EF4EF70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69238" y="2274147"/>
            <a:ext cx="8553907" cy="8695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F2AE67D-3DCE-4469-93B5-B7614E10286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603858" y="3310890"/>
            <a:ext cx="7484669" cy="668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39D888B-A734-42A0-AFD8-CC004E52AB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69238" y="2508250"/>
            <a:ext cx="8553907" cy="100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3F52E89-5AE5-43DD-A9F9-A587C9C1CD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1447" y="468207"/>
            <a:ext cx="9489491" cy="735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615BECA-31E6-452F-B1F6-9DEB48659A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1447" y="1672167"/>
            <a:ext cx="9489491" cy="3745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482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7792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510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241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972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7030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4340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71649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8959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5B906AF-DDA9-4945-A012-F36AED1E49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1447" y="468207"/>
            <a:ext cx="9489491" cy="735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339BB70-6779-4175-83B6-5584A8CE13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1447" y="1672167"/>
            <a:ext cx="4410608" cy="3745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482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7792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510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241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972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7030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4340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71649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8959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8CD7D53-98DD-4272-AD1E-556897C6BED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680329" y="1672167"/>
            <a:ext cx="4410608" cy="3745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482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7792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510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241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972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7030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4340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71649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8959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97711F6-D2AE-4422-914F-06B3AF8983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1447" y="468207"/>
            <a:ext cx="9489491" cy="735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C2DAEB0-7815-4616-85BC-5E2504225D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1447" y="1672167"/>
            <a:ext cx="4410608" cy="3745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482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7792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510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241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972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7030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4340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71649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8959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f7724ff8c749b2" /><Relationship Type="http://schemas.openxmlformats.org/officeDocument/2006/relationships/slideLayout" Target="/ppt/slideLayouts/slideLayout1.xml" Id="Rdefa6eec69e34512" /><Relationship Type="http://schemas.openxmlformats.org/officeDocument/2006/relationships/slideLayout" Target="/ppt/slideLayouts/slideLayout2.xml" Id="R8a30203d98464570" /><Relationship Type="http://schemas.openxmlformats.org/officeDocument/2006/relationships/slideLayout" Target="/ppt/slideLayouts/slideLayout3.xml" Id="Rfdcbd93ec1644f94" /><Relationship Type="http://schemas.openxmlformats.org/officeDocument/2006/relationships/slideLayout" Target="/ppt/slideLayouts/slideLayout4.xml" Id="R4ef53264939c4af5" /><Relationship Type="http://schemas.openxmlformats.org/officeDocument/2006/relationships/slideLayout" Target="/ppt/slideLayouts/slideLayout5.xml" Id="R1deb5cddf6814811" /><Relationship Type="http://schemas.openxmlformats.org/officeDocument/2006/relationships/slideLayout" Target="/ppt/slideLayouts/slideLayout6.xml" Id="R9df29ed78f9f4f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fa6eec69e34512"/>
    <p:sldLayoutId xmlns:r="http://schemas.openxmlformats.org/officeDocument/2006/relationships" id="2147483650" r:id="R8a30203d98464570"/>
    <p:sldLayoutId xmlns:r="http://schemas.openxmlformats.org/officeDocument/2006/relationships" id="2147483651" r:id="Rfdcbd93ec1644f94"/>
    <p:sldLayoutId xmlns:r="http://schemas.openxmlformats.org/officeDocument/2006/relationships" id="2147483652" r:id="R4ef53264939c4af5"/>
    <p:sldLayoutId xmlns:r="http://schemas.openxmlformats.org/officeDocument/2006/relationships" id="2147483653" r:id="R1deb5cddf6814811"/>
    <p:sldLayoutId xmlns:r="http://schemas.openxmlformats.org/officeDocument/2006/relationships" id="2147483654" r:id="R9df29ed78f9f4f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3ab164c0ba4e33" /><Relationship Type="http://schemas.openxmlformats.org/officeDocument/2006/relationships/notesSlide" Target="/ppt/notesSlides/notesSlide1.xml" Id="R25da26a49a2c4a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24a98e4d2c4ca0" /><Relationship Type="http://schemas.openxmlformats.org/officeDocument/2006/relationships/notesSlide" Target="/ppt/notesSlides/notesSlide2.xml" Id="Rfc4474a981bf4f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8ad8209ec54e6a" /><Relationship Type="http://schemas.openxmlformats.org/officeDocument/2006/relationships/notesSlide" Target="/ppt/notesSlides/notesSlide3.xml" Id="R03181ea7c72f48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f3e9dfd9de4338" /><Relationship Type="http://schemas.openxmlformats.org/officeDocument/2006/relationships/notesSlide" Target="/ppt/notesSlides/notesSlide4.xml" Id="Rf2ed88fa7d464e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759bee51384060" /><Relationship Type="http://schemas.openxmlformats.org/officeDocument/2006/relationships/notesSlide" Target="/ppt/notesSlides/notesSlide5.xml" Id="Rdc3f3078f08648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97707e0c7a4543" /><Relationship Type="http://schemas.openxmlformats.org/officeDocument/2006/relationships/notesSlide" Target="/ppt/notesSlides/notesSlide6.xml" Id="R6a8b0f8644c9471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37aa4f563f4652" /><Relationship Type="http://schemas.openxmlformats.org/officeDocument/2006/relationships/notesSlide" Target="/ppt/notesSlides/notesSlide7.xml" Id="R44da7413572e466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f3ef9f62e7444d" /><Relationship Type="http://schemas.openxmlformats.org/officeDocument/2006/relationships/notesSlide" Target="/ppt/notesSlides/notesSlide8.xml" Id="Rc041f67b2f1e4d7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199ec69fc743a9" /><Relationship Type="http://schemas.openxmlformats.org/officeDocument/2006/relationships/notesSlide" Target="/ppt/notesSlides/notesSlide9.xml" Id="R0d2283a9e9204de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01c23fdc5e4baa" /><Relationship Type="http://schemas.openxmlformats.org/officeDocument/2006/relationships/notesSlide" Target="/ppt/notesSlides/notesSlide10.xml" Id="R5cf4878661904c1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d2fc94bc9d4b68" /><Relationship Type="http://schemas.openxmlformats.org/officeDocument/2006/relationships/notesSlide" Target="/ppt/notesSlides/notesSlide11.xml" Id="R44f562f66034443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9d2424bba3451c" /><Relationship Type="http://schemas.openxmlformats.org/officeDocument/2006/relationships/notesSlide" Target="/ppt/notesSlides/notesSlide12.xml" Id="R50c14dc4d1f7436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bf786ad4e14869" /><Relationship Type="http://schemas.openxmlformats.org/officeDocument/2006/relationships/notesSlide" Target="/ppt/notesSlides/notesSlide13.xml" Id="R10c156f3cf674db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44a085d3ec4528" /><Relationship Type="http://schemas.openxmlformats.org/officeDocument/2006/relationships/notesSlide" Target="/ppt/notesSlides/notesSlide14.xml" Id="Rc6a7b9c3a28b4a5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f1969d97174f07" /><Relationship Type="http://schemas.openxmlformats.org/officeDocument/2006/relationships/notesSlide" Target="/ppt/notesSlides/notesSlide15.xml" Id="Rf6bd173944c7430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b2e38a6ee84e1b" /><Relationship Type="http://schemas.openxmlformats.org/officeDocument/2006/relationships/notesSlide" Target="/ppt/notesSlides/notesSlide16.xml" Id="R6a8180ad04d7496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533b76b1504654" /><Relationship Type="http://schemas.openxmlformats.org/officeDocument/2006/relationships/notesSlide" Target="/ppt/notesSlides/notesSlide17.xml" Id="Rb512fd660cf3457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cee474417c4b6c" /><Relationship Type="http://schemas.openxmlformats.org/officeDocument/2006/relationships/notesSlide" Target="/ppt/notesSlides/notesSlide18.xml" Id="Rad446fdb25e54b6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c614f4dfd44be5" /><Relationship Type="http://schemas.openxmlformats.org/officeDocument/2006/relationships/notesSlide" Target="/ppt/notesSlides/notesSlide19.xml" Id="R63eec793be28457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e5d1fe392c4893" /><Relationship Type="http://schemas.openxmlformats.org/officeDocument/2006/relationships/notesSlide" Target="/ppt/notesSlides/notesSlide20.xml" Id="R859aa00186c64b1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73f40300ff4337" /><Relationship Type="http://schemas.openxmlformats.org/officeDocument/2006/relationships/notesSlide" Target="/ppt/notesSlides/notesSlide21.xml" Id="Rc146aa0a2f08422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98b05416e841db" /><Relationship Type="http://schemas.openxmlformats.org/officeDocument/2006/relationships/notesSlide" Target="/ppt/notesSlides/notesSlide22.xml" Id="R284ec2626c6b478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66fcee2fb04503" /><Relationship Type="http://schemas.openxmlformats.org/officeDocument/2006/relationships/notesSlide" Target="/ppt/notesSlides/notesSlide23.xml" Id="Racd1a998c2834df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3a515e33284b02" /><Relationship Type="http://schemas.openxmlformats.org/officeDocument/2006/relationships/notesSlide" Target="/ppt/notesSlides/notesSlide24.xml" Id="Rb016455a908a4f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5627DCB-D303-4665-8908-22EEEC0B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量測、紀錄與實驗就緒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AE8B4C4C-E71F-4EF5-828D-35E9D2D7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42ACCB9-3F9D-4B62-86C1-B0837E2A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入組自學，第 1–2 週預習，第 3–8 週回用</a:t>
            </a:r>
          </a:p>
        </p:txBody>
      </p:sp>
      <p:sp>
        <p:nvSpPr>
          <p:cNvPr id="4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0A2D5E39-B3CF-4CC8-89E9-631E83B9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158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前 14 天建立基本能力，第 3 週以通過門檻為前提開始受監督量測。</a:t>
            </a:r>
          </a:p>
        </p:txBody>
      </p:sp>
      <p:sp>
        <p:nvSpPr>
          <p:cNvPr id="5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60AC1BDB-C132-44CD-94B4-B3F7EF0E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734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本章教你判讀資料、準備實驗與辨識限制。</a:t>
            </a:r>
          </a:p>
        </p:txBody>
      </p:sp>
      <p:sp>
        <p:nvSpPr>
          <p:cNvPr id="6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AC9BB7DD-A698-4145-B8F8-9F9216B3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4310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設備操作以現場 SOP 和合格帶領者授權為準。</a:t>
            </a:r>
          </a:p>
        </p:txBody>
      </p:sp>
      <p:sp>
        <p:nvSpPr>
          <p:cNvPr id="7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E69DA3AB-9BDB-4B95-8427-6A8F69BA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A6CF4CC9-0602-4112-B21D-35D7B48A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9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9AEF20D0-F91A-4291-94BB-BCB16F4A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L01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447AB4B-A2E5-4883-AC31-C69B09D3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 / 24</a:t>
            </a:r>
          </a:p>
        </p:txBody>
      </p:sp>
    </p:spTree>
    <p:extLst>
      <p:ext uri="{BB962C8B-B14F-4D97-AF65-F5344CB8AC3E}">
        <p14:creationId xmlns:p14="http://schemas.microsoft.com/office/powerpoint/2010/main" val="4537265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51EB9D2-0E6A-4D3C-9ED0-075165D6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前兩週的實驗準備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64AFDA36-6759-4304-B07C-1FC9707B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E8B0B520-A63F-4144-876B-BBBA9F750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第 1–3 天：安全導覽、單位、樣品結構與授權範圍。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F77FD20A-AD86-4F8D-A55B-60FBC1D1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第 4–6 天：真空、濺鍍概念，重畫一份既有 I–V 資料。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8D600BC6-29A3-4C5E-AB2D-76443238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第 8–10 天：實際機型手冊、限流觀念、核准參考負載訓練。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DB5D54D0-58C1-43C7-BBE5-85975D44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第 11–13 天：RRAM 舊資料、製程紀錄與就緒審查。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FFFA1DB0-F27A-4015-B1DF-EAB53096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第 7、14 天休息。沒通過門檻時改做桌面練習。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C6932237-2A63-49D2-A326-38A5B1FB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84E522FA-487A-43B8-AED8-6020B3F8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24E184AF-CDA9-406F-85B4-5E5F8E17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L02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2B3404B-BD49-4E8D-A9F7-465C0592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 / 24</a:t>
            </a:r>
          </a:p>
        </p:txBody>
      </p:sp>
    </p:spTree>
    <p:extLst>
      <p:ext uri="{BB962C8B-B14F-4D97-AF65-F5344CB8AC3E}">
        <p14:creationId xmlns:p14="http://schemas.microsoft.com/office/powerpoint/2010/main" val="5146638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1142479-EC4C-42AA-B8FD-8F991427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工具與樣品的五道門檻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72EDC51C-71A3-4155-AAC4-8A9AA32A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1AC84F37-F47A-4748-B885-830BDAE2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G0：符合進場規則，知道緊急求助與不可觸碰區。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255B793A-586D-48D9-BA97-4AC7FD73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G1：設備訓練後，在監督下量核准參考負載。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06AF3EC7-29E9-479F-836D-5ABEEA0A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G2：核對 RRAM 樣品、SOP、限制與紀錄，開始受監督基線量測。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26219529-4E2E-40E2-B1F8-59D09092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G3：製程與表徵工具各自完成資格確認。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EF3509C7-4535-4A0B-B2BB-5744752D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G4：帶領者核准單因子計畫，才改動實驗條件。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8714D465-6A97-4930-8891-8DCD579D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836FDCBE-D49F-4E2E-B72D-51B26D24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92451745-973F-483F-BB37-DE119C02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L03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A47F6E9-AFDB-4B93-926D-8B6E7B81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3 / 24</a:t>
            </a:r>
          </a:p>
        </p:txBody>
      </p:sp>
    </p:spTree>
    <p:extLst>
      <p:ext uri="{BB962C8B-B14F-4D97-AF65-F5344CB8AC3E}">
        <p14:creationId xmlns:p14="http://schemas.microsoft.com/office/powerpoint/2010/main" val="13293367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CCF855E-6278-44C8-8C1D-10011130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開始前的樣品與設備資料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1D2270AD-7F83-4C1C-BE69-1A8E1E28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F23529E4-2C12-4F61-A4A2-9B632C17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樣品：堆疊、電極、厚度、面積、位置與 device ID。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7A6C9104-938B-49AF-BBA7-46737DB9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歷史：是否已 forming，先前寫入、循環、儲存與損傷。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3D0FDCDE-3416-4790-A35D-4B99ECE6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設備：型號、模組、通道、軟體版本、接線與校驗狀態。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923CC05A-C6FA-4417-99EA-B8D90134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SOP：讀取、切換與 forming 的授權分別確認。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508D6B65-F52D-4303-AA2B-A4758DD8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缺資料就填「未知」，先做讀資料與概念練習。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77A089B8-DA85-4621-A835-E25A1B07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D1AD094B-B733-4F62-B393-A36E4D69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961CEBB0-C17C-4E02-8B82-752B61B4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L04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7C0356D-0D23-4823-9DFE-12333A4B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4 / 24</a:t>
            </a:r>
          </a:p>
        </p:txBody>
      </p:sp>
    </p:spTree>
    <p:extLst>
      <p:ext uri="{BB962C8B-B14F-4D97-AF65-F5344CB8AC3E}">
        <p14:creationId xmlns:p14="http://schemas.microsoft.com/office/powerpoint/2010/main" val="4281609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7149A07-B263-4A05-A8A4-36474DFB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濺鍍工具的觀察重點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9CB355E0-F9CE-407A-81F5-7BF73DA4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90925735-4280-4378-9FFA-444EFAE2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靶材提供沉積材料，基板承接薄膜。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DC8C9978-D498-4F73-AD17-DFE23D33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電漿內的離子撞擊靶材表面。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3166C7B6-627C-4A27-BC41-8812AB1B0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腔體壓力與氣體流量代表不同物理量。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BF7B0BBB-2283-446A-9CCE-A5F85785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紀錄 recipe 版本、樣品位置與薄膜量測來源。</a:t>
            </a:r>
          </a:p>
        </p:txBody>
      </p:sp>
      <p:sp>
        <p:nvSpPr>
          <p:cNvPr id="7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2E6D2F3B-93DC-445B-A981-6707173E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952500"/>
            <a:ext cx="38290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真空腔體與工作氣體</a:t>
            </a:r>
          </a:p>
        </p:txBody>
      </p:sp>
      <p:sp>
        <p:nvSpPr>
          <p:cNvPr id="8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74616087-F4D1-411B-8CCA-3AE03298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38290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電源維持電漿</a:t>
            </a:r>
          </a:p>
        </p:txBody>
      </p:sp>
      <p:sp>
        <p:nvSpPr>
          <p:cNvPr id="9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160FECC2-C1A8-4866-8872-3B6F9DEB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10525" y="1571625"/>
            <a:ext cx="9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0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46ECF60F-A89A-4DB7-BAD7-D1115D4B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953375" y="172402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1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41AA7EA5-5B98-48EB-9E6F-146047E0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010525" y="172402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2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543A064E-CA1B-4161-B378-F27E4E51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38290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離子撞擊靶材</a:t>
            </a:r>
          </a:p>
        </p:txBody>
      </p:sp>
      <p:sp>
        <p:nvSpPr>
          <p:cNvPr id="13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B0CBFAB2-8B39-42C1-8804-BE6B9414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10525" y="2428875"/>
            <a:ext cx="9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4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04D9508D-86E2-4A11-908E-D4A32CF3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953375" y="258127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5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045D3EAC-B7B8-419A-9045-4BFBD905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010525" y="258127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6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04194143-D3DA-4920-9AE8-A57D86AD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24250"/>
            <a:ext cx="38290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材料沉積到基板</a:t>
            </a:r>
          </a:p>
        </p:txBody>
      </p:sp>
      <p:sp>
        <p:nvSpPr>
          <p:cNvPr id="17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316071AA-A37B-4514-BECC-C6C51A41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10525" y="3286125"/>
            <a:ext cx="9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8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03942301-544A-4921-92EF-6E8400BF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953375" y="343852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9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E7CB5B8E-38A3-46FA-BD3F-FB1607F0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010525" y="343852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20" name="figure-caption">
            <a:extLst xmlns:a="http://schemas.openxmlformats.org/drawingml/2006/main">
              <a:ext uri="{FF2B5EF4-FFF2-40B4-BE49-F238E27FC236}">
                <a16:creationId xmlns:a16="http://schemas.microsoft.com/office/drawing/2014/main" id="{551C1E92-C7DF-43CB-ABD4-394C3981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62500"/>
            <a:ext cx="4400550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原創概念示意，非機台 SOP</a:t>
            </a:r>
          </a:p>
        </p:txBody>
      </p:sp>
      <p:sp>
        <p:nvSpPr>
          <p:cNvPr id="21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DF82EA31-76A0-4556-A200-E21DECB3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22" name="footer">
            <a:extLst xmlns:a="http://schemas.openxmlformats.org/drawingml/2006/main">
              <a:ext uri="{FF2B5EF4-FFF2-40B4-BE49-F238E27FC236}">
                <a16:creationId xmlns:a16="http://schemas.microsoft.com/office/drawing/2014/main" id="{F78F4525-CFEB-4BDE-A1D0-677A0859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23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B47BEE28-F72B-4BF1-A354-589A69D6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L05</a:t>
            </a:r>
          </a:p>
        </p:txBody>
      </p:sp>
      <p:sp>
        <p:nvSpPr>
          <p:cNvPr id="2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FAF5485-C862-4ADD-875A-CD111389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5 / 24</a:t>
            </a:r>
          </a:p>
        </p:txBody>
      </p:sp>
    </p:spTree>
    <p:extLst>
      <p:ext uri="{BB962C8B-B14F-4D97-AF65-F5344CB8AC3E}">
        <p14:creationId xmlns:p14="http://schemas.microsoft.com/office/powerpoint/2010/main" val="7952918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155F245-807C-4657-840F-A151862E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SMU 同時供應與量測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A3E0E0EE-777D-456A-817D-F282E4E8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A6F8BD45-D35C-4964-BCD7-E50C8C48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SMU 是 source-measure unit，中文常稱源量測單元。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2AB9629C-3E7C-4A26-A685-016C0D77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供應電壓時量測電流，也可採其他支援模式。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9A442B0B-4F53-4E56-BA8A-0993EBE1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電壓定義在兩端之間，極性要先寫清楚。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9CC30650-1A4D-43B8-9905-6941DEAA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實際接線、接地與限制由本機 SOP 決定。</a:t>
            </a:r>
          </a:p>
        </p:txBody>
      </p:sp>
      <p:sp>
        <p:nvSpPr>
          <p:cNvPr id="7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37644338-F2D5-405B-B4AB-46B218D6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29375" y="1333500"/>
            <a:ext cx="31623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83B47"/>
            </a:solidFill>
            <a:prstDash val="solid"/>
          </a:ln>
        </p:spPr>
      </p:sp>
      <p:sp>
        <p:nvSpPr>
          <p:cNvPr id="8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2164DE5E-6765-4CFC-9BE3-5F1376D1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91675" y="1333500"/>
            <a:ext cx="95" cy="1152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83B47"/>
            </a:solidFill>
            <a:prstDash val="solid"/>
          </a:ln>
        </p:spPr>
      </p:sp>
      <p:sp>
        <p:nvSpPr>
          <p:cNvPr id="9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3BF3546C-6EDC-435C-BBB6-21F61C0D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91675" y="3133725"/>
            <a:ext cx="95" cy="1152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83B47"/>
            </a:solidFill>
            <a:prstDash val="solid"/>
          </a:ln>
        </p:spPr>
      </p:sp>
      <p:sp>
        <p:nvSpPr>
          <p:cNvPr id="10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87C9108B-C74D-4861-AC7C-A69D1661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429375" y="4286250"/>
            <a:ext cx="31623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83B47"/>
            </a:solidFill>
            <a:prstDash val="solid"/>
          </a:ln>
        </p:spPr>
      </p:sp>
      <p:sp>
        <p:nvSpPr>
          <p:cNvPr id="11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69D1A750-7455-4118-908A-1872C826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429375" y="3133725"/>
            <a:ext cx="95" cy="1152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83B47"/>
            </a:solidFill>
            <a:prstDash val="solid"/>
          </a:ln>
        </p:spPr>
      </p:sp>
      <p:sp>
        <p:nvSpPr>
          <p:cNvPr id="12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C4BCF692-6A23-4352-BBD3-9D09ED9F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429375" y="1333500"/>
            <a:ext cx="95" cy="1152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83B47"/>
            </a:solidFill>
            <a:prstDash val="solid"/>
          </a:ln>
        </p:spPr>
      </p:sp>
      <p:sp>
        <p:nvSpPr>
          <p:cNvPr id="13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122D663F-B3F0-475C-AA1E-24968220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486025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6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6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6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6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6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6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6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6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6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6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6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SMU</a:t>
            </a:r>
          </a:p>
        </p:txBody>
      </p:sp>
      <p:sp>
        <p:nvSpPr>
          <p:cNvPr id="14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8F15125F-DF35-45FC-9F26-6E2258E5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486025"/>
            <a:ext cx="685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57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57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57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57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57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57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57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57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57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57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57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DUT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1A42EC79-1710-4DFD-8EC6-50007E8DC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63842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V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ED89EFB2-30F1-44AC-86A7-C3D71CF5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0287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I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A56A3055-ADCF-4D01-96DF-467D2E33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6670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待測元件 DUT</a:t>
            </a:r>
          </a:p>
        </p:txBody>
      </p:sp>
      <p:sp>
        <p:nvSpPr>
          <p:cNvPr id="18" name="figure-caption">
            <a:extLst xmlns:a="http://schemas.openxmlformats.org/drawingml/2006/main">
              <a:ext uri="{FF2B5EF4-FFF2-40B4-BE49-F238E27FC236}">
                <a16:creationId xmlns:a16="http://schemas.microsoft.com/office/drawing/2014/main" id="{132A222B-C96C-46B3-AC89-07F50ABC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67250"/>
            <a:ext cx="4400550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兩端量測概念圖，不能用作接線指示</a:t>
            </a:r>
          </a:p>
        </p:txBody>
      </p:sp>
      <p:sp>
        <p:nvSpPr>
          <p:cNvPr id="19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91F0F675-B488-47BF-AF17-4B4F80CD1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20" name="footer">
            <a:extLst xmlns:a="http://schemas.openxmlformats.org/drawingml/2006/main">
              <a:ext uri="{FF2B5EF4-FFF2-40B4-BE49-F238E27FC236}">
                <a16:creationId xmlns:a16="http://schemas.microsoft.com/office/drawing/2014/main" id="{49F71FF3-B36A-4C1A-85A3-4EEB35CB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21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A6132AB3-1229-403B-8A9C-EAE2A07A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L06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0C91899-924F-4972-841F-2FE80544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6 / 24</a:t>
            </a:r>
          </a:p>
        </p:txBody>
      </p:sp>
    </p:spTree>
    <p:extLst>
      <p:ext uri="{BB962C8B-B14F-4D97-AF65-F5344CB8AC3E}">
        <p14:creationId xmlns:p14="http://schemas.microsoft.com/office/powerpoint/2010/main" val="12300234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55F9645-E454-4546-83C9-B7DB0088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讀取電阻的單位檢查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DCB18541-68FD-458E-AAE4-60C3699E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central-equation">
            <a:extLst xmlns:a="http://schemas.openxmlformats.org/drawingml/2006/main">
              <a:ext uri="{FF2B5EF4-FFF2-40B4-BE49-F238E27FC236}">
                <a16:creationId xmlns:a16="http://schemas.microsoft.com/office/drawing/2014/main" id="{CC5EDEB1-0E18-4500-8A66-505C0D89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defPPr>
            <a:lvl1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1pPr>
            <a:lvl2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2pPr>
            <a:lvl3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3pPr>
            <a:lvl4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4pPr>
            <a:lvl5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5pPr>
            <a:lvl6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6pPr>
            <a:lvl7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7pPr>
            <a:lvl8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8pPr>
            <a:lvl9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rPr>
              <a:t>R_read = V_measured / I_measured     G_read = 1 / R_read</a:t>
            </a:r>
          </a:p>
        </p:txBody>
      </p:sp>
      <p:sp>
        <p:nvSpPr>
          <p:cNvPr id="4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8E5B2D76-987B-4120-8F71-E869EBE0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9779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先將電流換成 A，再以同一工作點的 V 除以 I。</a:t>
            </a:r>
          </a:p>
        </p:txBody>
      </p:sp>
      <p:sp>
        <p:nvSpPr>
          <p:cNvPr id="5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89794021-92BD-452F-8350-211C5407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355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R 的單位是 Ω，導電度 G 的單位是 S。</a:t>
            </a:r>
          </a:p>
        </p:txBody>
      </p:sp>
      <p:sp>
        <p:nvSpPr>
          <p:cNvPr id="6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674AFF4C-23F4-4AC6-9496-66778F54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0931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非線性元件的 V/I 隨工作點改變。</a:t>
            </a:r>
          </a:p>
        </p:txBody>
      </p:sp>
      <p:sp>
        <p:nvSpPr>
          <p:cNvPr id="7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60A859C9-840B-4947-841A-7AC5D22B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6507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I 接近量測極限或零時，不應硬算精確電阻。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35C88BD4-04E5-4562-B2DB-2578D853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7430B73A-68DE-4E49-9753-80EC9414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5ECAD6AA-9CEF-45C7-A9F9-A227D0DC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L07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7B0EEEE-80BB-454B-B29C-0B0E3F37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7 / 24</a:t>
            </a:r>
          </a:p>
        </p:txBody>
      </p:sp>
    </p:spTree>
    <p:extLst>
      <p:ext uri="{BB962C8B-B14F-4D97-AF65-F5344CB8AC3E}">
        <p14:creationId xmlns:p14="http://schemas.microsoft.com/office/powerpoint/2010/main" val="11645886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D331F7F-552A-48DE-9E9E-F46359BB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命令值、實測值與量程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54A0E825-F720-4B32-8461-6A48FF1B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18A3FE93-46B0-4626-B855-FB44D561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命令值是軟體要求的目標，實測值來自量測端。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74E4E4EC-4438-47EF-8CB5-F07931FA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當限制生效，儀器可能無法維持原命令值。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BF4E2069-BD77-4C73-8B1D-A8A3B43F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量程 range 是目前量測通道可涵蓋的數值範圍。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DF420D3B-A6F3-4627-94FD-493A340D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量程、解析度與準確度各有不同意義。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15FD71C8-05F4-4135-A2F8-D1DAB147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保留命令、實測、量程與 compliance 旗標。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18303030-1CD6-4B27-A836-D7170A46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D0773BC6-1C49-4F26-9B17-728ADBA2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147B3D3A-0284-4CD7-BA0B-9A1AF8A8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L08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C70782B-4F8E-4CED-8740-7873E55F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8 / 24</a:t>
            </a:r>
          </a:p>
        </p:txBody>
      </p:sp>
    </p:spTree>
    <p:extLst>
      <p:ext uri="{BB962C8B-B14F-4D97-AF65-F5344CB8AC3E}">
        <p14:creationId xmlns:p14="http://schemas.microsoft.com/office/powerpoint/2010/main" val="14999533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035124F-C72F-479C-8B71-080FBBA4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Compliance 的動態限制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A829DC89-DA2E-436D-B64C-8FCC1CB0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479B9225-D5D2-465A-A02C-68BF588E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限流迴路需要反應時間。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17FBB25E-F008-4180-8907-2C2D754D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元件快速切換時仍可能出現瞬態過衝。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6C066694-FC32-421D-9A77-607562C0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接線寄生與限流架構會影響元件應力。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3BBFC302-56A4-4295-A0FF-2FABECD7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新手不自行提高上限，也不直接形成未知樣品。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59DFA9D7-CB91-473A-B03B-4E6490D7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額外保護與波形驗證由設備負責人決定。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E7C5DC9E-CCC5-4FF3-8AE2-91D8038B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4999B344-09A2-408E-AF18-005F2C38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FD127B15-74D6-46A5-ADBD-730517A9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L09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4953524-CEB4-4CB2-B342-3E774938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9 / 24</a:t>
            </a:r>
          </a:p>
        </p:txBody>
      </p:sp>
    </p:spTree>
    <p:extLst>
      <p:ext uri="{BB962C8B-B14F-4D97-AF65-F5344CB8AC3E}">
        <p14:creationId xmlns:p14="http://schemas.microsoft.com/office/powerpoint/2010/main" val="15053244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F6E306F-D57D-4344-9F4D-A663330A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I–V 圖的掃描順序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749956D0-BD23-4593-9D6E-36C05833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E3B98CDD-B29B-428C-9691-F9BC3B12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同一電壓下的不同電流可能來自不同歷史。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8C7144F3-8887-40C4-B0A7-7E9BBEB2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原始檔必須保留 point index 與時間順序。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6FAF9F9C-F2C3-4942-AE5A-D0312B25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每一段正掃、反掃與轉折各自標記。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0FD8D3CC-76AE-4D77-8922-6C91E123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示意遲滯只能教讀圖，不能證明切換機制。</a:t>
            </a:r>
          </a:p>
        </p:txBody>
      </p:sp>
      <p:sp>
        <p:nvSpPr>
          <p:cNvPr id="7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2AE74AE7-ABC1-4576-A30A-9643E05F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34125" y="4286250"/>
            <a:ext cx="36385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57889"/>
            </a:solidFill>
            <a:prstDash val="solid"/>
          </a:ln>
        </p:spPr>
      </p:sp>
      <p:sp>
        <p:nvSpPr>
          <p:cNvPr id="8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FDFD8C81-1633-4957-B2CF-7AE1FACC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34125" y="1857375"/>
            <a:ext cx="95" cy="2428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57889"/>
            </a:solidFill>
            <a:prstDash val="solid"/>
          </a:ln>
        </p:spPr>
      </p:sp>
      <p:sp>
        <p:nvSpPr>
          <p:cNvPr id="9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A2A598A6-0E9C-4769-887E-4E5D6124B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34125" y="4248150"/>
            <a:ext cx="95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57889"/>
            </a:solidFill>
            <a:prstDash val="solid"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828BB5DA-B4C2-414F-8FD6-5AEE0A82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362450"/>
            <a:ext cx="533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</a:t>
            </a:r>
          </a:p>
        </p:txBody>
      </p:sp>
      <p:sp>
        <p:nvSpPr>
          <p:cNvPr id="11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406F5EDA-F10F-41D4-A2CE-E2F6C5AF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53400" y="4248150"/>
            <a:ext cx="95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57889"/>
            </a:solidFill>
            <a:prstDash val="solid"/>
          </a:ln>
        </p:spPr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E76A1D3B-F891-4433-B5D9-7247DBA5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62450"/>
            <a:ext cx="533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0.5</a:t>
            </a:r>
          </a:p>
        </p:txBody>
      </p:sp>
      <p:sp>
        <p:nvSpPr>
          <p:cNvPr id="13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B418FB69-C4D6-412D-A739-F5DE6107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72675" y="4248150"/>
            <a:ext cx="95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57889"/>
            </a:solidFill>
            <a:prstDash val="solid"/>
          </a:ln>
        </p:spPr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9B48B803-9B80-4F6D-A379-0DF1E418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362450"/>
            <a:ext cx="533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</a:t>
            </a:r>
          </a:p>
        </p:txBody>
      </p:sp>
      <p:sp>
        <p:nvSpPr>
          <p:cNvPr id="15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95128BF7-E230-4CAE-9196-830D839E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96025" y="3071813"/>
            <a:ext cx="76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57889"/>
            </a:solidFill>
            <a:prstDash val="solid"/>
          </a:ln>
        </p:spPr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A354DCBA-4452-4D18-B483-0F0CE9CE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976563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0.5</a:t>
            </a:r>
          </a:p>
        </p:txBody>
      </p:sp>
      <p:sp>
        <p:nvSpPr>
          <p:cNvPr id="17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DA4B6DC8-B9EC-49DE-A5BB-A84E3012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96025" y="1857375"/>
            <a:ext cx="76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57889"/>
            </a:solidFill>
            <a:prstDash val="solid"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C74F85C7-9973-4BF9-8229-5AEB2F98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762125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110C56B9-25D5-4B40-B3E4-CD42366B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686300"/>
            <a:ext cx="152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V / V_0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C72B0F34-831B-4D8E-B8ED-28F8CC31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71625"/>
            <a:ext cx="3638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I / I_0</a:t>
            </a:r>
          </a:p>
        </p:txBody>
      </p:sp>
      <p:sp>
        <p:nvSpPr>
          <p:cNvPr id="21" name="分支 A">
            <a:extLst xmlns:a="http://schemas.openxmlformats.org/drawingml/2006/main">
              <a:ext uri="{FF2B5EF4-FFF2-40B4-BE49-F238E27FC236}">
                <a16:creationId xmlns:a16="http://schemas.microsoft.com/office/drawing/2014/main" id="{B5F86C7F-7FE2-44F1-A389-AF13DEBB7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57375"/>
            <a:ext cx="3638550" cy="2428875"/>
          </a:xfrm>
          <a:custGeom xmlns:a="http://schemas.openxmlformats.org/drawingml/2006/main">
            <a:pathLst>
              <a:path w="3638550" h="2428875">
                <a:moveTo>
                  <a:pt x="0" y="2428875"/>
                </a:moveTo>
                <a:lnTo>
                  <a:pt x="727710" y="2380298"/>
                </a:lnTo>
                <a:lnTo>
                  <a:pt x="1455420" y="2331720"/>
                </a:lnTo>
                <a:lnTo>
                  <a:pt x="2183130" y="2283143"/>
                </a:lnTo>
                <a:lnTo>
                  <a:pt x="2910840" y="2234565"/>
                </a:lnTo>
                <a:lnTo>
                  <a:pt x="2910840" y="485775"/>
                </a:lnTo>
                <a:lnTo>
                  <a:pt x="3638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47A86"/>
            </a:solidFill>
            <a:prstDash val="solid"/>
          </a:ln>
        </p:spPr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1794A1E4-64D9-4F41-802D-F5B740DA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923925"/>
            <a:ext cx="3638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247A8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125" b="0">
                <a:solidFill>
                  <a:srgbClr val="247A8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125" b="0">
                <a:solidFill>
                  <a:srgbClr val="247A8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125" b="0">
                <a:solidFill>
                  <a:srgbClr val="247A8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125" b="0">
                <a:solidFill>
                  <a:srgbClr val="247A8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125" b="0">
                <a:solidFill>
                  <a:srgbClr val="247A8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125" b="0">
                <a:solidFill>
                  <a:srgbClr val="247A8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125" b="0">
                <a:solidFill>
                  <a:srgbClr val="247A8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125" b="0">
                <a:solidFill>
                  <a:srgbClr val="247A8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125" b="0">
                <a:solidFill>
                  <a:srgbClr val="247A8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247A8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247A86"/>
                </a:solidFill>
                <a:latin typeface="Noto Sans CJK TC"/>
                <a:ea typeface="Noto Sans CJK TC"/>
                <a:cs typeface="Noto Sans CJK TC"/>
              </a:rPr>
              <a:t>分支 A</a:t>
            </a:r>
          </a:p>
        </p:txBody>
      </p:sp>
      <p:sp>
        <p:nvSpPr>
          <p:cNvPr id="23" name="分支 B">
            <a:extLst xmlns:a="http://schemas.openxmlformats.org/drawingml/2006/main">
              <a:ext uri="{FF2B5EF4-FFF2-40B4-BE49-F238E27FC236}">
                <a16:creationId xmlns:a16="http://schemas.microsoft.com/office/drawing/2014/main" id="{E9844675-1BE4-44A4-B1A9-13CA8936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57375"/>
            <a:ext cx="3638550" cy="2428875"/>
          </a:xfrm>
          <a:custGeom xmlns:a="http://schemas.openxmlformats.org/drawingml/2006/main">
            <a:pathLst>
              <a:path w="3638550" h="2428875">
                <a:moveTo>
                  <a:pt x="3638550" y="0"/>
                </a:moveTo>
                <a:lnTo>
                  <a:pt x="2910840" y="485775"/>
                </a:lnTo>
                <a:lnTo>
                  <a:pt x="2183130" y="971550"/>
                </a:lnTo>
                <a:lnTo>
                  <a:pt x="1455420" y="1457325"/>
                </a:lnTo>
                <a:lnTo>
                  <a:pt x="727710" y="1943100"/>
                </a:lnTo>
                <a:lnTo>
                  <a:pt x="0" y="242887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B36A32"/>
            </a:solidFill>
            <a:prstDash val="solid"/>
          </a:ln>
        </p:spPr>
      </p:sp>
      <p:sp>
        <p:nvSpPr>
          <p:cNvPr id="24" name="text-23">
            <a:extLst xmlns:a="http://schemas.openxmlformats.org/drawingml/2006/main">
              <a:ext uri="{FF2B5EF4-FFF2-40B4-BE49-F238E27FC236}">
                <a16:creationId xmlns:a16="http://schemas.microsoft.com/office/drawing/2014/main" id="{680C5DF1-E2F7-43CF-9C30-E5C7B639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152525"/>
            <a:ext cx="3638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B36A32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125" b="0">
                <a:solidFill>
                  <a:srgbClr val="B36A32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125" b="0">
                <a:solidFill>
                  <a:srgbClr val="B36A32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125" b="0">
                <a:solidFill>
                  <a:srgbClr val="B36A32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125" b="0">
                <a:solidFill>
                  <a:srgbClr val="B36A32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125" b="0">
                <a:solidFill>
                  <a:srgbClr val="B36A32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125" b="0">
                <a:solidFill>
                  <a:srgbClr val="B36A32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125" b="0">
                <a:solidFill>
                  <a:srgbClr val="B36A32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125" b="0">
                <a:solidFill>
                  <a:srgbClr val="B36A32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125" b="0">
                <a:solidFill>
                  <a:srgbClr val="B36A32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B36A3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B36A32"/>
                </a:solidFill>
                <a:latin typeface="Noto Sans CJK TC"/>
                <a:ea typeface="Noto Sans CJK TC"/>
                <a:cs typeface="Noto Sans CJK TC"/>
              </a:rPr>
              <a:t>分支 B</a:t>
            </a:r>
          </a:p>
        </p:txBody>
      </p:sp>
      <p:sp>
        <p:nvSpPr>
          <p:cNvPr id="25" name="plot-caption">
            <a:extLst xmlns:a="http://schemas.openxmlformats.org/drawingml/2006/main">
              <a:ext uri="{FF2B5EF4-FFF2-40B4-BE49-F238E27FC236}">
                <a16:creationId xmlns:a16="http://schemas.microsoft.com/office/drawing/2014/main" id="{F0BDCAC4-2108-4266-8723-24B7F788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29225"/>
            <a:ext cx="4400550" cy="199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純教學假設曲線，任意歸一化座標</a:t>
            </a:r>
          </a:p>
        </p:txBody>
      </p:sp>
      <p:sp>
        <p:nvSpPr>
          <p:cNvPr id="26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228F0FCA-D824-47FA-9475-8ABD7546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27" name="footer">
            <a:extLst xmlns:a="http://schemas.openxmlformats.org/drawingml/2006/main">
              <a:ext uri="{FF2B5EF4-FFF2-40B4-BE49-F238E27FC236}">
                <a16:creationId xmlns:a16="http://schemas.microsoft.com/office/drawing/2014/main" id="{2027882C-887C-40AC-8B1F-78B4857D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28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432D9CAF-DC7A-48E8-AA85-3D9C07A7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L10</a:t>
            </a:r>
          </a:p>
        </p:txBody>
      </p:sp>
      <p:sp>
        <p:nvSpPr>
          <p:cNvPr id="2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9C3B94D-45B0-4894-8456-ADB501BD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10 / 24</a:t>
            </a:r>
          </a:p>
        </p:txBody>
      </p:sp>
    </p:spTree>
    <p:extLst>
      <p:ext uri="{BB962C8B-B14F-4D97-AF65-F5344CB8AC3E}">
        <p14:creationId xmlns:p14="http://schemas.microsoft.com/office/powerpoint/2010/main" val="14543507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BBF8D18-61A9-4A05-8D59-9E346115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HRS 與 LRS 的比較條件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9C8459E4-38D4-4EEA-94C9-707580F0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8D2D7B5B-778C-4AE3-A318-CEECFC96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HRS 是高電阻狀態，LRS 是低電阻狀態。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3AAC30B8-A25A-411E-A6DC-D3B6953F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狀態判定需要事先定義的讀取方法與判準。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1E05C465-2321-47A8-8C9E-8D16BD60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比較時保留電極極性、讀取值、延遲和溫度。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B9532306-1D45-4C92-8690-C3616ADC0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讀取本身可能擾動狀態，需使用核准條件。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19C1BEC1-094F-4F4E-AE5C-B10949ED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初始狀態、forming 歷史與循環歷史也要一致或明列。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3AF6CB7F-DBF7-4595-A094-B53B525B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9CA957A1-1C9B-4FA4-AA69-8577AA96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82B78D60-E77A-40E9-8800-1DF21AFD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L11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C4BBCCB-BDB7-46BA-A823-A7D5A8C5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11 / 24</a:t>
            </a:r>
          </a:p>
        </p:txBody>
      </p:sp>
    </p:spTree>
    <p:extLst>
      <p:ext uri="{BB962C8B-B14F-4D97-AF65-F5344CB8AC3E}">
        <p14:creationId xmlns:p14="http://schemas.microsoft.com/office/powerpoint/2010/main" val="5405430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A9B1BDC-8D57-46C2-BBC7-88EDBDCB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半對數圖與量測下限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39E7D1C3-6A3B-41E6-BE35-D6B032B7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A656340A-BB6A-48E3-A095-1331FB5E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用 |I| 畫半對數圖時，另保留電流符號與原始有號圖。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E6AF3E66-DA1A-448F-A748-3621B6AE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普通 log 座標不能直接處理零或負值。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E70ECE58-1F91-4A81-9760-047CF612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低於有效量測範圍的讀值應標示限制。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67E1A4F0-9C4A-4CC2-B224-C9E66C7D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任意加一個小數讓資料能取 log，會改變低電流形狀。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73F1030E-FACA-4C2B-B17A-1336C10B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圖形漂亮與資料可信是兩件不同的事。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B5893DFD-4BE8-4B00-BE50-DAAE441A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7ABB5A00-9DCC-4007-9796-53A065E2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81BE1A27-9B13-47B5-987D-4B223D77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L12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D91256A-DA14-4249-9AD2-4EEC2194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12 / 24</a:t>
            </a:r>
          </a:p>
        </p:txBody>
      </p:sp>
    </p:spTree>
    <p:extLst>
      <p:ext uri="{BB962C8B-B14F-4D97-AF65-F5344CB8AC3E}">
        <p14:creationId xmlns:p14="http://schemas.microsoft.com/office/powerpoint/2010/main" val="22428287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5F051FD-D77B-41B4-B682-1C16B274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等待、積分與脈衝時間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1BCE500D-4056-4A59-994F-632D7F99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central-equation">
            <a:extLst xmlns:a="http://schemas.openxmlformats.org/drawingml/2006/main">
              <a:ext uri="{FF2B5EF4-FFF2-40B4-BE49-F238E27FC236}">
                <a16:creationId xmlns:a16="http://schemas.microsoft.com/office/drawing/2014/main" id="{49262828-90DA-4F06-B3AC-0C8F4697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defPPr>
            <a:lvl1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1pPr>
            <a:lvl2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2pPr>
            <a:lvl3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3pPr>
            <a:lvl4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4pPr>
            <a:lvl5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5pPr>
            <a:lvl6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6pPr>
            <a:lvl7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7pPr>
            <a:lvl8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8pPr>
            <a:lvl9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rPr>
              <a:t>P(t) = V(t) I(t)     E = ∫ V(t) I(t) dt</a:t>
            </a:r>
          </a:p>
        </p:txBody>
      </p:sp>
      <p:sp>
        <p:nvSpPr>
          <p:cNvPr id="4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0C57079C-FD0C-4F5A-A17D-E45233E0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9779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DC 掃描有步階、等待 delay 與積分 integration。</a:t>
            </a:r>
          </a:p>
        </p:txBody>
      </p:sp>
      <p:sp>
        <p:nvSpPr>
          <p:cNvPr id="5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B27E51F6-15E9-4B64-8107-DAEA1AF6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355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Delay 是輸出改變後到開始量測前的等待。</a:t>
            </a:r>
          </a:p>
        </p:txBody>
      </p:sp>
      <p:sp>
        <p:nvSpPr>
          <p:cNvPr id="6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B70C3B01-FA4D-47D1-9FC2-43B6A047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0931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積分在一段時間窗內累積或平均量測訊號。</a:t>
            </a:r>
          </a:p>
        </p:txBody>
      </p:sp>
      <p:sp>
        <p:nvSpPr>
          <p:cNvPr id="7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F20248E4-231F-4629-A65A-A4D12A20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6507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NPLC 以市電週期數表示積分時間。</a:t>
            </a:r>
          </a:p>
        </p:txBody>
      </p:sp>
      <p:sp>
        <p:nvSpPr>
          <p:cNvPr id="8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45B96C78-26E5-4F4E-A8AB-1A24CE88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20829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脈衝另需保存振幅、寬度、上升／下降及讀取時序。</a:t>
            </a:r>
          </a:p>
        </p:txBody>
      </p:sp>
      <p:sp>
        <p:nvSpPr>
          <p:cNvPr id="9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8B4B3CFD-8F6B-44BE-8A66-3BB234BA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DB4E9D04-E90A-44DB-86A1-5E6D3AC4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1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920E37AD-007C-4CA2-8896-40A73D27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L13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AC78898-5306-4A79-A698-B298EB4A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13 / 24</a:t>
            </a:r>
          </a:p>
        </p:txBody>
      </p:sp>
    </p:spTree>
    <p:extLst>
      <p:ext uri="{BB962C8B-B14F-4D97-AF65-F5344CB8AC3E}">
        <p14:creationId xmlns:p14="http://schemas.microsoft.com/office/powerpoint/2010/main" val="121495572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4674CC-0B77-4F5A-89CD-44C8A42F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每一個 Run 的紀錄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AC145E6A-3A20-487F-B08E-94512EA8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A5D31A5F-DC77-41CD-8F8F-C1CB0934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Run ID 連結 sample、device、batch 與操作歷史。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CBCAF1BA-0296-47EB-AED6-0E374AF1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記錄 SOP 版本、設備配置與實際執行條件。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B3781D10-8231-4944-B59D-69221052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保留 raw、metadata、設定檔與分析版本。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F5E7A350-7F90-47AA-9048-ADCEC514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當下寫事件與異常，事後解釋另外列。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E8F319B4-DC22-471D-BACD-7C13BA81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不知道的欄位填未知，不能補造完整性。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03E798FC-3A7B-41BC-BE7D-627EE3F4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58387926-8A2C-4484-966D-FD191A84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7B6AE36B-8AA8-4D72-8CE3-B90D4E6F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L14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875FD4E-AD43-4986-BF04-F72ECC03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14 / 24</a:t>
            </a:r>
          </a:p>
        </p:txBody>
      </p:sp>
    </p:spTree>
    <p:extLst>
      <p:ext uri="{BB962C8B-B14F-4D97-AF65-F5344CB8AC3E}">
        <p14:creationId xmlns:p14="http://schemas.microsoft.com/office/powerpoint/2010/main" val="163533293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07C2F5-59A1-400F-8CBC-A628A689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低電流與接觸的假象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60F866B3-9E51-4FB0-B2B3-688FE1CA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9607C0E3-1FAE-4C32-9A17-8120A084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漏電、零點漂移與干擾可能混入樣品訊號。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CC525612-6CA5-4E15-AFA9-F978E7A1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探針接觸與導線配置可能改變量得結果。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065DB575-B98B-4AD2-9FB6-51AE491B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量程切換也可能造成曲線的不連續。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890B6801-5B8E-40DA-9A3D-9B556CFA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先核對原始旗標與設定，再提出材料機制。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A579B90E-E666-4D37-BA98-F7751BC8A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故障檢查由合格人員按 SOP 進行。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A7AE58EF-CF5D-4418-9B45-6624390F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B3F9D861-190C-4F37-8495-18954109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DEB46342-4F55-4081-972A-390854CF7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L15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AEFEC36-7CEE-43EB-9733-35A3E651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15 / 24</a:t>
            </a:r>
          </a:p>
        </p:txBody>
      </p:sp>
    </p:spTree>
    <p:extLst>
      <p:ext uri="{BB962C8B-B14F-4D97-AF65-F5344CB8AC3E}">
        <p14:creationId xmlns:p14="http://schemas.microsoft.com/office/powerpoint/2010/main" val="17204619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1C0C11-F3D3-47F2-A5DF-3F5C26CA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第一份受監督標準量測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A475B795-C9DA-4CE9-8A22-72024259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259066DE-42E9-4D37-9553-B36E25B4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帶領者先確認工具、樣品與 SOP。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1CAB9604-E9CC-470F-A6D9-5F49879B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操作者複述當次範圍及停止條件。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10E270A5-4264-46F3-80E0-3523DF7F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以完整原始檔和紀錄判定是否成功。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C9CC2C1F-CAC3-4977-99EF-B54827A4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形成、改 recipe 與獨立操作各需另行授權。</a:t>
            </a:r>
          </a:p>
        </p:txBody>
      </p:sp>
      <p:sp>
        <p:nvSpPr>
          <p:cNvPr id="7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7E7ADD5C-5F54-4895-A46C-D84DC777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952500"/>
            <a:ext cx="38290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核對授權與樣品</a:t>
            </a:r>
          </a:p>
        </p:txBody>
      </p:sp>
      <p:sp>
        <p:nvSpPr>
          <p:cNvPr id="8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94C90CE2-579C-4FFF-8ABA-5C9C13E9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38290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複述範圍與停止條件</a:t>
            </a:r>
          </a:p>
        </p:txBody>
      </p:sp>
      <p:sp>
        <p:nvSpPr>
          <p:cNvPr id="9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A7583FFE-416F-4CB9-979F-EC3F4DB3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10525" y="1571625"/>
            <a:ext cx="9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0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8BD24802-0542-47F9-B9B3-17D26EC7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953375" y="172402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1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B7836D65-F156-4F98-BCEA-1CE749A8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010525" y="172402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2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1AF798A5-5C85-45F7-8453-398587DA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38290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受監督執行既定量測</a:t>
            </a:r>
          </a:p>
        </p:txBody>
      </p:sp>
      <p:sp>
        <p:nvSpPr>
          <p:cNvPr id="13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EFA55A63-5143-4610-AEA0-EA50D4F3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10525" y="2428875"/>
            <a:ext cx="9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4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933BA99D-8B22-4561-882B-E1EA524F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953375" y="258127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5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DFBA685E-5D46-4D87-A0AA-BAB8BE7A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010525" y="258127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6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F4C5213A-5080-49F2-AD87-FDDEA2720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24250"/>
            <a:ext cx="38290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驗收資料與安全收尾</a:t>
            </a:r>
          </a:p>
        </p:txBody>
      </p:sp>
      <p:sp>
        <p:nvSpPr>
          <p:cNvPr id="17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C602B5BC-591A-4BC8-B424-CF27A920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10525" y="3286125"/>
            <a:ext cx="9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8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708ECBF0-E5C1-4367-833E-217D8F37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953375" y="343852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9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A2875CE5-FEA9-495E-8D3E-293A6BCE6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010525" y="343852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20" name="figure-caption">
            <a:extLst xmlns:a="http://schemas.openxmlformats.org/drawingml/2006/main">
              <a:ext uri="{FF2B5EF4-FFF2-40B4-BE49-F238E27FC236}">
                <a16:creationId xmlns:a16="http://schemas.microsoft.com/office/drawing/2014/main" id="{DD03FE3D-766E-4B6A-8AE5-FBC8686E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62500"/>
            <a:ext cx="4400550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高層工作流程，非設備操作步驟</a:t>
            </a:r>
          </a:p>
        </p:txBody>
      </p:sp>
      <p:sp>
        <p:nvSpPr>
          <p:cNvPr id="21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050C6DE0-0CE3-462F-BC82-7A6AFEF3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22" name="footer">
            <a:extLst xmlns:a="http://schemas.openxmlformats.org/drawingml/2006/main">
              <a:ext uri="{FF2B5EF4-FFF2-40B4-BE49-F238E27FC236}">
                <a16:creationId xmlns:a16="http://schemas.microsoft.com/office/drawing/2014/main" id="{8814092C-DEE6-406E-9B20-C7E37672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23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5B13DB61-0D92-4443-AB5F-73A2D0B3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L16</a:t>
            </a:r>
          </a:p>
        </p:txBody>
      </p:sp>
      <p:sp>
        <p:nvSpPr>
          <p:cNvPr id="2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466113D-B74E-4126-92A3-C9CA8E10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16 / 24</a:t>
            </a:r>
          </a:p>
        </p:txBody>
      </p:sp>
    </p:spTree>
    <p:extLst>
      <p:ext uri="{BB962C8B-B14F-4D97-AF65-F5344CB8AC3E}">
        <p14:creationId xmlns:p14="http://schemas.microsoft.com/office/powerpoint/2010/main" val="49831275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C737ED9-1BFB-4599-9A6D-62881727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第三週的基線工作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2B233852-4D92-4868-9E51-58511654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1917E1EA-95B1-46C2-A33F-B0F1D702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第 15 天：看完整示範，練樣品核對與即時紀錄。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140E6C4E-2DB2-4B65-A451-74FFAD5B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第 16–17 天：按核准 SOP 做讀取或標準切換。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CA2AB078-4500-486F-9F13-24AE9FE1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第 18 天：查單位、缺列、時間順序與資料旗標。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A062AF38-5CA7-44CD-94F9-1DE21995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第 19 天：若獲准，換指定 device 重做相同流程。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5971E020-53B0-4F7A-A7B8-E529056E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第 20 天：還原一張圖的完整來源，向帶領者報告。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29FABC0E-D7A0-46C2-9B89-D83DED6B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D011908F-F777-4B8F-A25A-30752426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B569EC4E-65C3-4FF6-80D7-2B917826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L17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E9B42C2-0BD4-45B0-87FB-F9F769D0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17 / 24</a:t>
            </a:r>
          </a:p>
        </p:txBody>
      </p:sp>
    </p:spTree>
    <p:extLst>
      <p:ext uri="{BB962C8B-B14F-4D97-AF65-F5344CB8AC3E}">
        <p14:creationId xmlns:p14="http://schemas.microsoft.com/office/powerpoint/2010/main" val="65729963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A596EBF-7B96-4FBF-B87A-B5116C2E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製程與電測的資料鏈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6A0C069E-37CB-41ED-BB19-9A1E4FE2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7D16F42D-1C24-4F32-872E-FB8B27E2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材料批次與製程單決定樣品的來源。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4921B5CA-77C7-4F4B-BE14-E50B8524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薄膜厚度要區分名義值、校正估計與實測值。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F1484193-153F-4522-8FF1-DE1FF573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表徵位置需要對應電測的 device 位置。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8FCDF215-51E1-4562-903A-5B4AD076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任何一段缺失，都要限制後續的比較結論。</a:t>
            </a:r>
          </a:p>
        </p:txBody>
      </p:sp>
      <p:sp>
        <p:nvSpPr>
          <p:cNvPr id="7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5AAACC41-528E-449C-93FE-9A9D7400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952500"/>
            <a:ext cx="38290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材料與製程單</a:t>
            </a:r>
          </a:p>
        </p:txBody>
      </p:sp>
      <p:sp>
        <p:nvSpPr>
          <p:cNvPr id="8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A89DD593-4E0E-4878-9F20-38C838B4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38290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樣品與薄膜表徵</a:t>
            </a:r>
          </a:p>
        </p:txBody>
      </p:sp>
      <p:sp>
        <p:nvSpPr>
          <p:cNvPr id="9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5D1A1932-FE69-4ADC-8D49-C49022DD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10525" y="1571625"/>
            <a:ext cx="9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0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F8BC79B6-4EC9-4C86-9445-0D674D4E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953375" y="172402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1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7AAB02D9-50F9-4617-8041-648F067B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010525" y="172402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2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B26022A5-B304-4EF1-8FB4-89E3A2B0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38290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device 與電測 run</a:t>
            </a:r>
          </a:p>
        </p:txBody>
      </p:sp>
      <p:sp>
        <p:nvSpPr>
          <p:cNvPr id="13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4090E877-2EC8-4BE7-86AB-1787330F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10525" y="2428875"/>
            <a:ext cx="9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4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4953067E-B116-4CA0-8B67-DB9F8342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953375" y="258127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5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0FBC9878-361B-4E98-9794-DD2E6D43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010525" y="258127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6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10312B10-6097-423F-AE05-2BD6CFC6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24250"/>
            <a:ext cx="38290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原始資料與分析圖</a:t>
            </a:r>
          </a:p>
        </p:txBody>
      </p:sp>
      <p:sp>
        <p:nvSpPr>
          <p:cNvPr id="17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EDFB44F1-FE0A-4FF3-88B3-76F1B2B0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10525" y="3286125"/>
            <a:ext cx="9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8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295A912D-AACD-4995-BC7A-729539720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953375" y="343852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9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3CD5DAEF-35ED-4E6B-94BD-62428C72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010525" y="343852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20" name="figure-caption">
            <a:extLst xmlns:a="http://schemas.openxmlformats.org/drawingml/2006/main">
              <a:ext uri="{FF2B5EF4-FFF2-40B4-BE49-F238E27FC236}">
                <a16:creationId xmlns:a16="http://schemas.microsoft.com/office/drawing/2014/main" id="{D6423F0C-34C0-4594-9ACD-091003FF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62500"/>
            <a:ext cx="4400550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每一層保留唯一 ID 與版本</a:t>
            </a:r>
          </a:p>
        </p:txBody>
      </p:sp>
      <p:sp>
        <p:nvSpPr>
          <p:cNvPr id="21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613DE46E-F431-4544-909F-799D12CA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22" name="footer">
            <a:extLst xmlns:a="http://schemas.openxmlformats.org/drawingml/2006/main">
              <a:ext uri="{FF2B5EF4-FFF2-40B4-BE49-F238E27FC236}">
                <a16:creationId xmlns:a16="http://schemas.microsoft.com/office/drawing/2014/main" id="{3AC08B31-F70D-46B2-BE8C-E4F131FF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23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AFC5776E-467D-47DC-9B25-A82EA939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L18</a:t>
            </a:r>
          </a:p>
        </p:txBody>
      </p:sp>
      <p:sp>
        <p:nvSpPr>
          <p:cNvPr id="2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4F3B88E-C603-4FB2-8DA9-5CBFED19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18 / 24</a:t>
            </a:r>
          </a:p>
        </p:txBody>
      </p:sp>
    </p:spTree>
    <p:extLst>
      <p:ext uri="{BB962C8B-B14F-4D97-AF65-F5344CB8AC3E}">
        <p14:creationId xmlns:p14="http://schemas.microsoft.com/office/powerpoint/2010/main" val="160656378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3899806-428B-41AB-A74C-143E560C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小型單因子計畫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26A22D00-3F32-43DA-B787-F0F7C701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6833AE60-EF66-4183-88F9-B8700C1E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問題：一個核准因子如何影響一個主要指標？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52E5BBDA-C682-4C2F-83AA-2ED85F31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A/B 條件由帶領者選定，其他條件固定並記錄。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AE293489-9DF0-42C6-9AEA-C55362CC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事先寫樣品與循環預算、順序、停止及排除規則。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F473C54A-6A57-4BFD-9320-A1645E41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先做小 pilot 確認資料，再執行核准的比較。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08AC3DD5-5AF5-4A18-9B17-6B8EC081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新手可先研究穩定參考負載的量測重複性。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E6EE9301-6327-412A-BB70-45B91F47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2A921AC1-FAB3-4F5B-A635-BCB788ED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522BC179-C48C-4AB3-A5FC-2CD62262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L19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F7504CE-DA66-4EAF-A369-5B080306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19 / 24</a:t>
            </a:r>
          </a:p>
        </p:txBody>
      </p:sp>
    </p:spTree>
    <p:extLst>
      <p:ext uri="{BB962C8B-B14F-4D97-AF65-F5344CB8AC3E}">
        <p14:creationId xmlns:p14="http://schemas.microsoft.com/office/powerpoint/2010/main" val="47486893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F6B63AC-BDDE-4DDB-B508-DAB49247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元件差異與循環差異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9DD3CC48-B274-4713-9A19-E6C9346D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89A4569B-13F5-41FB-B93F-4A676050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N_devices 描述量過多少獨立元件。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0BBF402D-D0DA-4506-A4CF-9DF99D61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N_cycles/device 描述每個元件的循環數。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C0AAD6D0-E479-4969-9AC6-0E95437C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同元件的多次讀取通常不能當作多個獨立元件。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1BDA32D4-6815-40E2-B90E-6BB9D508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圖上保留個別軌跡、樣本量與未完成紀錄。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9CB9E4A8-B716-430C-BE0C-AF114944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失敗或不符合假說的結果也應保留。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A86B4FB5-2219-4A3D-B7F7-A9371469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37AE7335-58C7-4EF3-9B10-55A44C16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818689AC-7137-425D-8D80-D62915BC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L20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B4C464D-3474-4EDC-BC75-A78E9DE5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20 / 24</a:t>
            </a:r>
          </a:p>
        </p:txBody>
      </p:sp>
    </p:spTree>
    <p:extLst>
      <p:ext uri="{BB962C8B-B14F-4D97-AF65-F5344CB8AC3E}">
        <p14:creationId xmlns:p14="http://schemas.microsoft.com/office/powerpoint/2010/main" val="163358214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44A2C17-5353-43DD-B3A5-3530A11C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可靠度的三個問題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F24BC361-FE9B-45AA-AE0C-A6EC41C8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564CAC62-AC14-4BA4-A06F-9CE072AC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Endurance：重複寫入後，狀態還能否按判準區分？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DD2BC151-3FA1-4618-AF98-3343E906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Retention：經過時間後，寫入狀態還能否保持？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E3889C7C-592F-4347-A7B2-C6A3CC23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Read disturb：讀取本身是否改變狀態？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17C8A2C8-A371-4CEF-9512-5FC944F9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觀察窗內沒失效，不能寫成永久可靠。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9187B9A3-9774-4285-998D-8481A32D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短期資料不能直接外推十年壽命。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D994A818-F0F2-4658-897C-7837F630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EAF7B322-BEDA-4830-A4DF-455D610E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C820622D-1C2A-404C-8B8F-A12E57D6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L21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10217F4-AE1F-4F6F-9154-99456297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21 / 24</a:t>
            </a:r>
          </a:p>
        </p:txBody>
      </p:sp>
    </p:spTree>
    <p:extLst>
      <p:ext uri="{BB962C8B-B14F-4D97-AF65-F5344CB8AC3E}">
        <p14:creationId xmlns:p14="http://schemas.microsoft.com/office/powerpoint/2010/main" val="90167694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E1242FE-754A-4D76-BFD5-ECC22A55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資料判讀練習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3627E218-BD22-4F67-B303-9F1C4F25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2186F163-DC6E-481A-AB42-C41EF28A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紙上合成案例，以下數字不得用作實驗設定。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8D8F8AD9-EBD5-48DF-A630-F6124C03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A：命令 0.5 V，實測 0.1 V，電流 100 µA，compliance = true。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A03F4804-3CA8-4959-B9BC-9DE7C8546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問題 1：以量測端數值計算 V/I，結果是多少？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EDB376C1-1A11-4E7B-9579-D2BF3B57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B：一個 device 做 100 次循環。問題 2：獨立 device 數是多少？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BD0846B4-6B30-4EA7-AB1B-CC4E6321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C：HRS 看了 2 小時未失效。問題 3：能宣稱十年 retention 嗎？</a:t>
            </a:r>
          </a:p>
        </p:txBody>
      </p:sp>
      <p:sp>
        <p:nvSpPr>
          <p:cNvPr id="8" name="block-0-paragraph-5">
            <a:extLst xmlns:a="http://schemas.openxmlformats.org/drawingml/2006/main">
              <a:ext uri="{FF2B5EF4-FFF2-40B4-BE49-F238E27FC236}">
                <a16:creationId xmlns:a16="http://schemas.microsoft.com/office/drawing/2014/main" id="{6F6F1333-6ED3-4986-962B-D661939C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45569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問題 4：看到一次遲滯曲線，是否足以證明導電絲機制？</a:t>
            </a:r>
          </a:p>
        </p:txBody>
      </p:sp>
      <p:sp>
        <p:nvSpPr>
          <p:cNvPr id="9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BBE80B5D-3DAA-4FCF-820A-5D0DD26B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6BEF0658-8F49-4697-B702-97F5556A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1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3AD0E49C-41DD-4558-90A4-258E9FC7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L22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7F40BAE-8EE9-4711-B980-629E446C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22 / 24</a:t>
            </a:r>
          </a:p>
        </p:txBody>
      </p:sp>
    </p:spTree>
    <p:extLst>
      <p:ext uri="{BB962C8B-B14F-4D97-AF65-F5344CB8AC3E}">
        <p14:creationId xmlns:p14="http://schemas.microsoft.com/office/powerpoint/2010/main" val="127600926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0A87A88-E312-43EB-886B-50EE521E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練習解答與限制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0C819EB9-091E-4324-A5D8-EC7B384E5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4B90F927-823E-41CB-8416-43EB9ACF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1：100 µA = 10^(-4) A，0.1 V ÷ 10^(-4) A = 1 kΩ。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A74B3B63-B146-4C42-8CDF-5E15FF86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5 kΩ 是誤用命令電壓的結果。元件本體仍需接線資訊。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DABA3775-F1B9-408A-9F86-F30BFBD4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2：只有 1 個 device。100 次循環回答另一種變異問題。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96A3A5E2-2D6F-4266-8D81-7D173948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3：只能說這個觀察窗內未見失效，不能推出十年壽命。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B86752EC-23A0-472C-A2D2-1F734D55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4：不夠。仍需排除量測假象並取得能區分競爭機制的證據。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09069FBA-3501-4F6F-A280-0676E6FD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28A3A21E-A9E0-49C7-9BC6-B88CAED64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2BBC4925-C044-4129-A0EE-A41B970F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L23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7C20D6A-5F79-406B-864A-2D19FA21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23 / 24</a:t>
            </a:r>
          </a:p>
        </p:txBody>
      </p:sp>
    </p:spTree>
    <p:extLst>
      <p:ext uri="{BB962C8B-B14F-4D97-AF65-F5344CB8AC3E}">
        <p14:creationId xmlns:p14="http://schemas.microsoft.com/office/powerpoint/2010/main" val="7162546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2D526BE-837C-4AF2-ADD2-CA1AABD0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八週成果與能力檢查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344BCA46-19E1-4CC9-A954-A3C2BB69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BA4A8594-A4E3-4359-93A5-B770EB44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能解釋單位、source/measure、限流與極性。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D78AC20C-D514-489A-BCC6-A9011975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能指出自己目前的工具及樣品授權範圍。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A6AE02F1-DB34-4F4A-8BC7-3FCDC4D06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能從任一圖表追溯原始資料和分析版本。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99B8A7D1-30EE-4378-86A1-5A71BE3C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能區分觀察、假說、歷史分析與本人實測。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583C7D6A-6A4C-4D2D-BA43-BD6B87C8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交付一份完整 run、一個小比較和清楚的限制。</a:t>
            </a:r>
          </a:p>
        </p:txBody>
      </p:sp>
      <p:sp>
        <p:nvSpPr>
          <p:cNvPr id="8" name="block-0-paragraph-5">
            <a:extLst xmlns:a="http://schemas.openxmlformats.org/drawingml/2006/main">
              <a:ext uri="{FF2B5EF4-FFF2-40B4-BE49-F238E27FC236}">
                <a16:creationId xmlns:a16="http://schemas.microsoft.com/office/drawing/2014/main" id="{2454F276-AD4E-4225-98D9-305D86EA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45569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下一步由帶領者依能力與實驗需要核准。</a:t>
            </a:r>
          </a:p>
        </p:txBody>
      </p:sp>
      <p:sp>
        <p:nvSpPr>
          <p:cNvPr id="9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BBF5CF8A-D302-46E1-A55C-041AD2F1E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A2FE5E9A-3882-47CA-B34E-D38C9FD2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1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05CB3053-A8EE-4E17-9C04-D69216AE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L24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38089C9-8B38-4FFE-8573-DD86E0B0A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24 / 24</a:t>
            </a:r>
          </a:p>
        </p:txBody>
      </p:sp>
    </p:spTree>
    <p:extLst>
      <p:ext uri="{BB962C8B-B14F-4D97-AF65-F5344CB8AC3E}">
        <p14:creationId xmlns:p14="http://schemas.microsoft.com/office/powerpoint/2010/main" val="14935539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2026-10-29T04:59:22.3190000Z</dcterms:created>
  <dcterms:modified xsi:type="dcterms:W3CDTF">2026-10-29T04:59:22.3190000Z</dcterms:modified>
</coreProperties>
</file>