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c12133ec284777" /><Relationship Type="http://schemas.openxmlformats.org/officeDocument/2006/relationships/extended-properties" Target="/docProps/app.xml" Id="R257139989dba479b" /><Relationship Type="http://schemas.openxmlformats.org/officeDocument/2006/relationships/officeDocument" Target="/ppt/presentation.xml" Id="R44ce6741f567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13f94bcfdf484d"/>
  </p:sldMasterIdLst>
  <p:notesMasterIdLst>
    <p:notesMasterId xmlns:r="http://schemas.openxmlformats.org/officeDocument/2006/relationships" r:id="Re75ffa4f8a104491"/>
  </p:notesMasterIdLst>
  <p:sldIdLst>
    <p:sldId xmlns:r="http://schemas.openxmlformats.org/officeDocument/2006/relationships" id="256" r:id="Rf88c50f0a4e64e50"/>
    <p:sldId xmlns:r="http://schemas.openxmlformats.org/officeDocument/2006/relationships" id="257" r:id="R33ae128d407e4b1f"/>
    <p:sldId xmlns:r="http://schemas.openxmlformats.org/officeDocument/2006/relationships" id="258" r:id="R4431a9cb1d6147a4"/>
    <p:sldId xmlns:r="http://schemas.openxmlformats.org/officeDocument/2006/relationships" id="259" r:id="R4b23560943ee4c14"/>
    <p:sldId xmlns:r="http://schemas.openxmlformats.org/officeDocument/2006/relationships" id="260" r:id="R2de6dc9575d04a5d"/>
    <p:sldId xmlns:r="http://schemas.openxmlformats.org/officeDocument/2006/relationships" id="261" r:id="Rd1cc6815de124167"/>
    <p:sldId xmlns:r="http://schemas.openxmlformats.org/officeDocument/2006/relationships" id="262" r:id="R9051d4d535474f5e"/>
    <p:sldId xmlns:r="http://schemas.openxmlformats.org/officeDocument/2006/relationships" id="263" r:id="Rad2ecd0d66224d1b"/>
    <p:sldId xmlns:r="http://schemas.openxmlformats.org/officeDocument/2006/relationships" id="264" r:id="Rc5d4d91ce4aa4f64"/>
    <p:sldId xmlns:r="http://schemas.openxmlformats.org/officeDocument/2006/relationships" id="265" r:id="R9c551dff16c04f4c"/>
    <p:sldId xmlns:r="http://schemas.openxmlformats.org/officeDocument/2006/relationships" id="266" r:id="Rfee21f658df34c81"/>
    <p:sldId xmlns:r="http://schemas.openxmlformats.org/officeDocument/2006/relationships" id="267" r:id="R903c2eb19a2247ed"/>
    <p:sldId xmlns:r="http://schemas.openxmlformats.org/officeDocument/2006/relationships" id="268" r:id="R7d750b03fcd84ee9"/>
    <p:sldId xmlns:r="http://schemas.openxmlformats.org/officeDocument/2006/relationships" id="269" r:id="R78ce3f2121884286"/>
    <p:sldId xmlns:r="http://schemas.openxmlformats.org/officeDocument/2006/relationships" id="270" r:id="Rd842bccd2ba54811"/>
    <p:sldId xmlns:r="http://schemas.openxmlformats.org/officeDocument/2006/relationships" id="271" r:id="R90758fabf44941dd"/>
    <p:sldId xmlns:r="http://schemas.openxmlformats.org/officeDocument/2006/relationships" id="272" r:id="R2255b1f56da743c3"/>
    <p:sldId xmlns:r="http://schemas.openxmlformats.org/officeDocument/2006/relationships" id="273" r:id="R47f58df8abd84444"/>
    <p:sldId xmlns:r="http://schemas.openxmlformats.org/officeDocument/2006/relationships" id="274" r:id="Rc1181dd75a154021"/>
    <p:sldId xmlns:r="http://schemas.openxmlformats.org/officeDocument/2006/relationships" id="275" r:id="R0aa11b1862a34ee1"/>
    <p:sldId xmlns:r="http://schemas.openxmlformats.org/officeDocument/2006/relationships" id="276" r:id="Rfa51376447284e01"/>
    <p:sldId xmlns:r="http://schemas.openxmlformats.org/officeDocument/2006/relationships" id="277" r:id="Rfffbee4b1fb94df5"/>
    <p:sldId xmlns:r="http://schemas.openxmlformats.org/officeDocument/2006/relationships" id="278" r:id="Rbad88b862b0645ce"/>
    <p:sldId xmlns:r="http://schemas.openxmlformats.org/officeDocument/2006/relationships" id="279" r:id="R6162648be6f94300"/>
    <p:sldId xmlns:r="http://schemas.openxmlformats.org/officeDocument/2006/relationships" id="280" r:id="Ra88a470e8b484522"/>
    <p:sldId xmlns:r="http://schemas.openxmlformats.org/officeDocument/2006/relationships" id="281" r:id="R5a4f074ef56749f6"/>
    <p:sldId xmlns:r="http://schemas.openxmlformats.org/officeDocument/2006/relationships" id="282" r:id="Rd2f4de160fce4f1e"/>
    <p:sldId xmlns:r="http://schemas.openxmlformats.org/officeDocument/2006/relationships" id="283" r:id="R53d944a8d83c4517"/>
  </p:sldIdLst>
  <p:sldSz cx="10692384" cy="6019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429fa25f6847d4" /><Relationship Type="http://schemas.openxmlformats.org/officeDocument/2006/relationships/slideMaster" Target="/ppt/slideMasters/slideMaster1.xml" Id="R9013f94bcfdf484d" /><Relationship Type="http://schemas.openxmlformats.org/officeDocument/2006/relationships/notesMaster" Target="/ppt/notesMasters/notesMaster1.xml" Id="Re75ffa4f8a104491" /><Relationship Type="http://schemas.openxmlformats.org/officeDocument/2006/relationships/presProps" Target="/ppt/presProps.xml" Id="R62345dbdb9b94649" /><Relationship Type="http://schemas.openxmlformats.org/officeDocument/2006/relationships/tableStyles" Target="/ppt/tableStyles.xml" Id="R1290539ac8124144" /><Relationship Type="http://schemas.openxmlformats.org/officeDocument/2006/relationships/slide" Target="/ppt/slides/slide1.xml" Id="Rf88c50f0a4e64e50" /><Relationship Type="http://schemas.openxmlformats.org/officeDocument/2006/relationships/slide" Target="/ppt/slides/slide2.xml" Id="R33ae128d407e4b1f" /><Relationship Type="http://schemas.openxmlformats.org/officeDocument/2006/relationships/slide" Target="/ppt/slides/slide3.xml" Id="R4431a9cb1d6147a4" /><Relationship Type="http://schemas.openxmlformats.org/officeDocument/2006/relationships/slide" Target="/ppt/slides/slide4.xml" Id="R4b23560943ee4c14" /><Relationship Type="http://schemas.openxmlformats.org/officeDocument/2006/relationships/slide" Target="/ppt/slides/slide5.xml" Id="R2de6dc9575d04a5d" /><Relationship Type="http://schemas.openxmlformats.org/officeDocument/2006/relationships/slide" Target="/ppt/slides/slide6.xml" Id="Rd1cc6815de124167" /><Relationship Type="http://schemas.openxmlformats.org/officeDocument/2006/relationships/slide" Target="/ppt/slides/slide7.xml" Id="R9051d4d535474f5e" /><Relationship Type="http://schemas.openxmlformats.org/officeDocument/2006/relationships/slide" Target="/ppt/slides/slide8.xml" Id="Rad2ecd0d66224d1b" /><Relationship Type="http://schemas.openxmlformats.org/officeDocument/2006/relationships/slide" Target="/ppt/slides/slide9.xml" Id="Rc5d4d91ce4aa4f64" /><Relationship Type="http://schemas.openxmlformats.org/officeDocument/2006/relationships/slide" Target="/ppt/slides/slide10.xml" Id="R9c551dff16c04f4c" /><Relationship Type="http://schemas.openxmlformats.org/officeDocument/2006/relationships/slide" Target="/ppt/slides/slide11.xml" Id="Rfee21f658df34c81" /><Relationship Type="http://schemas.openxmlformats.org/officeDocument/2006/relationships/slide" Target="/ppt/slides/slide12.xml" Id="R903c2eb19a2247ed" /><Relationship Type="http://schemas.openxmlformats.org/officeDocument/2006/relationships/slide" Target="/ppt/slides/slide13.xml" Id="R7d750b03fcd84ee9" /><Relationship Type="http://schemas.openxmlformats.org/officeDocument/2006/relationships/slide" Target="/ppt/slides/slide14.xml" Id="R78ce3f2121884286" /><Relationship Type="http://schemas.openxmlformats.org/officeDocument/2006/relationships/slide" Target="/ppt/slides/slide15.xml" Id="Rd842bccd2ba54811" /><Relationship Type="http://schemas.openxmlformats.org/officeDocument/2006/relationships/slide" Target="/ppt/slides/slide16.xml" Id="R90758fabf44941dd" /><Relationship Type="http://schemas.openxmlformats.org/officeDocument/2006/relationships/slide" Target="/ppt/slides/slide17.xml" Id="R2255b1f56da743c3" /><Relationship Type="http://schemas.openxmlformats.org/officeDocument/2006/relationships/slide" Target="/ppt/slides/slide18.xml" Id="R47f58df8abd84444" /><Relationship Type="http://schemas.openxmlformats.org/officeDocument/2006/relationships/slide" Target="/ppt/slides/slide19.xml" Id="Rc1181dd75a154021" /><Relationship Type="http://schemas.openxmlformats.org/officeDocument/2006/relationships/slide" Target="/ppt/slides/slide20.xml" Id="R0aa11b1862a34ee1" /><Relationship Type="http://schemas.openxmlformats.org/officeDocument/2006/relationships/slide" Target="/ppt/slides/slide21.xml" Id="Rfa51376447284e01" /><Relationship Type="http://schemas.openxmlformats.org/officeDocument/2006/relationships/slide" Target="/ppt/slides/slide22.xml" Id="Rfffbee4b1fb94df5" /><Relationship Type="http://schemas.openxmlformats.org/officeDocument/2006/relationships/slide" Target="/ppt/slides/slide23.xml" Id="Rbad88b862b0645ce" /><Relationship Type="http://schemas.openxmlformats.org/officeDocument/2006/relationships/slide" Target="/ppt/slides/slide24.xml" Id="R6162648be6f94300" /><Relationship Type="http://schemas.openxmlformats.org/officeDocument/2006/relationships/slide" Target="/ppt/slides/slide25.xml" Id="Ra88a470e8b484522" /><Relationship Type="http://schemas.openxmlformats.org/officeDocument/2006/relationships/slide" Target="/ppt/slides/slide26.xml" Id="R5a4f074ef56749f6" /><Relationship Type="http://schemas.openxmlformats.org/officeDocument/2006/relationships/slide" Target="/ppt/slides/slide27.xml" Id="Rd2f4de160fce4f1e" /><Relationship Type="http://schemas.openxmlformats.org/officeDocument/2006/relationships/slide" Target="/ppt/slides/slide28.xml" Id="R53d944a8d83c45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6eb7a0a3d646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940263c342461c" /><Relationship Type="http://schemas.openxmlformats.org/officeDocument/2006/relationships/notesMaster" Target="/ppt/notesMasters/notesMaster1.xml" Id="R14b8361d5ca8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54581f720e4d1f" /><Relationship Type="http://schemas.openxmlformats.org/officeDocument/2006/relationships/notesMaster" Target="/ppt/notesMasters/notesMaster1.xml" Id="Rd98d92549ec74e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3b3aaaad6541de" /><Relationship Type="http://schemas.openxmlformats.org/officeDocument/2006/relationships/notesMaster" Target="/ppt/notesMasters/notesMaster1.xml" Id="R79654774ea6344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58d3bde0dc4f59" /><Relationship Type="http://schemas.openxmlformats.org/officeDocument/2006/relationships/notesMaster" Target="/ppt/notesMasters/notesMaster1.xml" Id="R2e7a7b6e5fef48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6af72fcb904c6b" /><Relationship Type="http://schemas.openxmlformats.org/officeDocument/2006/relationships/notesMaster" Target="/ppt/notesMasters/notesMaster1.xml" Id="Rf6461ed5bb9b45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d83fda39944b26" /><Relationship Type="http://schemas.openxmlformats.org/officeDocument/2006/relationships/notesMaster" Target="/ppt/notesMasters/notesMaster1.xml" Id="R3cf8283c96d843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20618fa5d14942" /><Relationship Type="http://schemas.openxmlformats.org/officeDocument/2006/relationships/notesMaster" Target="/ppt/notesMasters/notesMaster1.xml" Id="Reb91dae31f9d45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3ed3a1c46c45d2" /><Relationship Type="http://schemas.openxmlformats.org/officeDocument/2006/relationships/notesMaster" Target="/ppt/notesMasters/notesMaster1.xml" Id="Rfc64acf869774b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d0e06b0ad24776" /><Relationship Type="http://schemas.openxmlformats.org/officeDocument/2006/relationships/notesMaster" Target="/ppt/notesMasters/notesMaster1.xml" Id="R1568edea480b41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1ed6c812f14ee3" /><Relationship Type="http://schemas.openxmlformats.org/officeDocument/2006/relationships/notesMaster" Target="/ppt/notesMasters/notesMaster1.xml" Id="Rbbea5520288c4a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33459341f34085" /><Relationship Type="http://schemas.openxmlformats.org/officeDocument/2006/relationships/notesMaster" Target="/ppt/notesMasters/notesMaster1.xml" Id="Rdc833926048a43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5dcc56d0d64a55" /><Relationship Type="http://schemas.openxmlformats.org/officeDocument/2006/relationships/notesMaster" Target="/ppt/notesMasters/notesMaster1.xml" Id="Rc33312cd31a94c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08b0ebdc354352" /><Relationship Type="http://schemas.openxmlformats.org/officeDocument/2006/relationships/notesMaster" Target="/ppt/notesMasters/notesMaster1.xml" Id="Rce77f94a50d64c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839aa4d9dd4ecd" /><Relationship Type="http://schemas.openxmlformats.org/officeDocument/2006/relationships/notesMaster" Target="/ppt/notesMasters/notesMaster1.xml" Id="Rbfcae851b5254a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b6a35a158a4eee" /><Relationship Type="http://schemas.openxmlformats.org/officeDocument/2006/relationships/notesMaster" Target="/ppt/notesMasters/notesMaster1.xml" Id="Rdd5e4e98deaf43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017add518a4c2a" /><Relationship Type="http://schemas.openxmlformats.org/officeDocument/2006/relationships/notesMaster" Target="/ppt/notesMasters/notesMaster1.xml" Id="R33ec444aab9243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1405fd62724d10" /><Relationship Type="http://schemas.openxmlformats.org/officeDocument/2006/relationships/notesMaster" Target="/ppt/notesMasters/notesMaster1.xml" Id="R644f7256a2c34c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4a8207ecbea4fcc" /><Relationship Type="http://schemas.openxmlformats.org/officeDocument/2006/relationships/notesMaster" Target="/ppt/notesMasters/notesMaster1.xml" Id="Refe55ecc2d7344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d58508ff754cb9" /><Relationship Type="http://schemas.openxmlformats.org/officeDocument/2006/relationships/notesMaster" Target="/ppt/notesMasters/notesMaster1.xml" Id="R89739af38b4442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90c606de20f467a" /><Relationship Type="http://schemas.openxmlformats.org/officeDocument/2006/relationships/notesMaster" Target="/ppt/notesMasters/notesMaster1.xml" Id="R1c82ed6fff5440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be5e3f171f4997" /><Relationship Type="http://schemas.openxmlformats.org/officeDocument/2006/relationships/notesMaster" Target="/ppt/notesMasters/notesMaster1.xml" Id="R47a42473884145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d3523cebee440f" /><Relationship Type="http://schemas.openxmlformats.org/officeDocument/2006/relationships/notesMaster" Target="/ppt/notesMasters/notesMaster1.xml" Id="R2224ca2dd8104bc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2d493e746194f48" /><Relationship Type="http://schemas.openxmlformats.org/officeDocument/2006/relationships/notesMaster" Target="/ppt/notesMasters/notesMaster1.xml" Id="R919084c733f844d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1148ddc3164a85" /><Relationship Type="http://schemas.openxmlformats.org/officeDocument/2006/relationships/notesMaster" Target="/ppt/notesMasters/notesMaster1.xml" Id="R47ad9a7c822f45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4ce36f00b254f6b" /><Relationship Type="http://schemas.openxmlformats.org/officeDocument/2006/relationships/notesMaster" Target="/ppt/notesMasters/notesMaster1.xml" Id="R987f4f08a2eb483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bcc523635744d6" /><Relationship Type="http://schemas.openxmlformats.org/officeDocument/2006/relationships/notesMaster" Target="/ppt/notesMasters/notesMaster1.xml" Id="R60ef4b10c11648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87b88e83048449c" /><Relationship Type="http://schemas.openxmlformats.org/officeDocument/2006/relationships/notesMaster" Target="/ppt/notesMasters/notesMaster1.xml" Id="R3cd1155762d2423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f2a5772ef444a43" /><Relationship Type="http://schemas.openxmlformats.org/officeDocument/2006/relationships/notesMaster" Target="/ppt/notesMasters/notesMaster1.xml" Id="R5eaede0e586943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讀完後應能解釋：同樣在熱力學上可行的變化，為何可能很慢，以及為何一張顯微照片不能直接證明切換機制。建議分四次閱讀，每次至少自己重算一個例題。完整材料學還包含力學、聚合物、複合材料、磁性與光學，後續總覽另列學習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3.00：相平衡與相圖講義</a:t>
            </a:r>
          </a:p>
          <a:p xmlns:a="http://schemas.openxmlformats.org/drawingml/2006/main">
            <a:r>
              <a:t>https://ocw.mit.edu/courses/3-00-thermodynamics-of-materials-fall-2002/pages/lecture-notes/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「薄膜含有多少熱」不是嚴謹說法，因為熱是傳遞方式而非儲存的狀態量。不同教科書可能定義系統對外做功為正，公式就會寫成 ΔU=Q-Wby。每次先檢查符號慣例。RRAM 的熱源往往局域，不應把載台溫度自動等同於導電路徑溫度。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L4：狀態變數與狀態函數</a:t>
            </a:r>
          </a:p>
          <a:p xmlns:a="http://schemas.openxmlformats.org/drawingml/2006/main">
            <a:r>
              <a:t>https://ocw.mit.edu/courses/3-00-thermodynamics-of-materials-fall-2002/117bfb9da78477aa6a646bca60e32ff8_lecture_04_oneside.PDF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 在本頁代表體積，單位 m^(3)，與第05章的電位單位 V不同。判定 ΔG 時必須指定反應、組成、溫度與壓力，不能隨意把標準反應自由能當成所有條件下的自由能。外加電壓做功時，必須把電學邊界條件及環境也納入。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L15：吉布斯自由能</a:t>
            </a:r>
          </a:p>
          <a:p xmlns:a="http://schemas.openxmlformats.org/drawingml/2006/main">
            <a:r>
              <a:t>https://ocw.mit.edu/courses/3-00-thermodynamics-of-materials-fall-2002/1fb4763fc08414825c7d7c8f7c40c9fb_lecture_15_oneside.PDF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偏微分可理解為只改一個輸入，其他控制條件固定，看輸出 G 的斜率。若使用單粒子數 Ni，μ 的單位就改成 J/particle或eV/particle。後面帶電缺陷頁採每粒子形式，避免混用阿伏加德羅常數。化學勢低不代表該相的所有原子能量都低。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L20：化學勢</a:t>
            </a:r>
          </a:p>
          <a:p xmlns:a="http://schemas.openxmlformats.org/drawingml/2006/main">
            <a:r>
              <a:t>https://ocw.mit.edu/courses/3-00-thermodynamics-of-materials-fall-2002/8791023a80525e69c7dfe17898cadaf5_lecture_20_oneside.PDF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這是抽象反應的教學數字，不是建議退火或操作溫度。假設忽略熱容量差，所以 ΔH、ΔS 不隨溫度改變。ΔG=0表示這個指定比較的平衡條件，不能推論任意混合物在400 K都完成反應。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L15：吉布斯自由能</a:t>
            </a:r>
          </a:p>
          <a:p xmlns:a="http://schemas.openxmlformats.org/drawingml/2006/main">
            <a:r>
              <a:t>https://ocw.mit.edu/courses/3-00-thermodynamics-of-materials-fall-2002/1fb4763fc08414825c7d7c8f7c40c9fb_lecture_15_oneside.PDF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成分軸可能是重量百分比、原子百分比或莫耳分率，必須先確認。不要把同溫連結線兩端的相成分與整體樣品成分混在一起。薄膜的應力、表面及介面能也可能使塊材相圖不足以直接預測穩定性。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L27：自由能與相圖</a:t>
            </a:r>
          </a:p>
          <a:p xmlns:a="http://schemas.openxmlformats.org/drawingml/2006/main">
            <a:r>
              <a:t>https://ocw.mit.edu/courses/3-00-thermodynamics-of-materials-fall-2002/755a1b8d70544d1bc3433a7b2223bb7f_lecture_27_oneside.PDF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3.00：相平衡與相圖講義</a:t>
            </a:r>
          </a:p>
          <a:p xmlns:a="http://schemas.openxmlformats.org/drawingml/2006/main">
            <a:r>
              <a:t>https://ocw.mit.edu/courses/3-00-thermodynamics-of-materials-fall-2002/pages/lecture-notes/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此處份額以與莫耳分率相容的組分莫耳基準定義。這是假想兩相計算，不對應任何材料的相圖。圖僅為固定溫度的假想連結線，不代表特定材料相圖。若成分用重量分率，求出的也應是重量份額。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L27：自由能與相圖</a:t>
            </a:r>
          </a:p>
          <a:p xmlns:a="http://schemas.openxmlformats.org/drawingml/2006/main">
            <a:r>
              <a:t>https://ocw.mit.edu/courses/3-00-thermodynamics-of-materials-fall-2002/755a1b8d70544d1bc3433a7b2223bb7f_lecture_27_oneside.PDF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3.00：相平衡與相圖講義</a:t>
            </a:r>
          </a:p>
          <a:p xmlns:a="http://schemas.openxmlformats.org/drawingml/2006/main">
            <a:r>
              <a:t>https://ocw.mit.edu/courses/3-00-thermodynamics-of-materials-fall-2002/pages/lecture-notes/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 是泛指速率量，實際反應級數可能讓速率常數與反應速率不同。D=D0 exp(-Ea/kBT)也屬相同數學形式。實驗擬合得到的常是多步驟綜合的有效活化能，不能直接指定成一種原子的單次跳躍能障。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這是模型的數學示例，不是任何元件的升溫建議。第三步括號的正確意思是0.50除以整個8.617×10^(-5)。相同 A及相同機制是此比較的核心條件。若局域溫度未知，不能把載台溫度直接代入後聲稱得出實際速率。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NIST：SI 定義常數</a:t>
            </a:r>
          </a:p>
          <a:p xmlns:a="http://schemas.openxmlformats.org/drawingml/2006/main">
            <a:r>
              <a:t>https://www.nist.gov/si-redefinition/meet-constants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ΔG 和 Ea互相替代。ΔG比較起點與終點的自由能差，Ea描述跨越路徑上的障礙。兩個量在同一反應中都可能重要，但對應的問題不同。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L15：吉布斯自由能</a:t>
            </a:r>
          </a:p>
          <a:p xmlns:a="http://schemas.openxmlformats.org/drawingml/2006/main">
            <a:r>
              <a:t>https://ocw.mit.edu/courses/3-00-thermodynamics-of-materials-fall-2002/1fb4763fc08414825c7d7c8f7c40c9fb_lecture_15_oneside.PDF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兩題的溫度只是算式輸入。對真實反應還需指定實際成分與反應商、熱容量及可能的相變。對實際速率還需量測，不能只知道活化能便求絕對速率，因為前因子也不可缺少。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L15：吉布斯自由能</a:t>
            </a:r>
          </a:p>
          <a:p xmlns:a="http://schemas.openxmlformats.org/drawingml/2006/main">
            <a:r>
              <a:t>https://ocw.mit.edu/courses/3-00-thermodynamics-of-materials-fall-2002/1fb4763fc08414825c7d7c8f7c40c9fb_lecture_15_oneside.PDF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熱運動並不是粒子有目的地追求平均濃度。它是統計結果。若D為常數並且沒有反應或源項，配合粒子守恆得到Fick第二定律 ∂c/∂t=D∂^(2)c/∂x^(2)。非理想系統可能出現逆濃度梯度的上坡擴散，這時化學勢是更根本的描述。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3.205 L2：連續體擴散與 Fick 定律</a:t>
            </a:r>
          </a:p>
          <a:p xmlns:a="http://schemas.openxmlformats.org/drawingml/2006/main">
            <a:r>
              <a:t>https://ocw.mit.edu/courses/3-205-thermodynamics-and-kinetics-of-materials-fall-2006/dd4e2a11a931f6728ca6836f0a6a4f32_lecture02_slides.pdf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&lt; &gt;表示對很多粒子或很多重複實現取平均。無偏擴散的平均位移可為0，但平均平方位移仍增加。三維自由擴散的總均方位移為6Dt，因此使用公式前必須說清楚維度。實際薄膜還有邊界、陷阱、各向異性及濃度依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3.205 L2：連續體擴散與 Fick 定律</a:t>
            </a:r>
          </a:p>
          <a:p xmlns:a="http://schemas.openxmlformats.org/drawingml/2006/main">
            <a:r>
              <a:t>https://ocw.mit.edu/courses/3-205-thermodynamics-and-kinetics-of-materials-fall-2006/dd4e2a11a931f6728ca6836f0a6a4f32_lecture02_slides.pdf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μchem與μmob是完全不同的量：前者是化學勢，後者是遷移率。空缺的有效電荷相對於完整晶格定義，不是把缺少的原子當成帶電小球。遷移率符號採正值，因此速度v=sgn(z)μmobE_field。不帶電的缺陷也會擴散，但不直接受到此電力項驅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L34：帶電物種平衡</a:t>
            </a:r>
          </a:p>
          <a:p xmlns:a="http://schemas.openxmlformats.org/drawingml/2006/main">
            <a:r>
              <a:t>https://ocw.mit.edu/courses/3-00-thermodynamics-of-materials-fall-2002/756c0954ea937547db69e17a396622fc_lecture_34_oneside.PDF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第一式把熱擴散與受力漂移連起來，不等於任意條件下可由示蹤D精確預測集體導電率。粒子相關會使示蹤擴散與電荷集體運輸不同。低場可用 |z|qE_fielda遠小於kBT作概念判斷，a為跳躍距離。RRAM寫入常是強驅動，需檢驗此條件。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L34：帶電物種平衡</a:t>
            </a:r>
          </a:p>
          <a:p xmlns:a="http://schemas.openxmlformats.org/drawingml/2006/main">
            <a:r>
              <a:t>https://ocw.mit.edu/courses/3-00-thermodynamics-of-materials-fall-2002/756c0954ea937547db69e17a396622fc_lecture_34_oneside.PDF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France-Lanord &amp; Grossman, PRL 122, 136001 (2019)</a:t>
            </a:r>
          </a:p>
          <a:p xmlns:a="http://schemas.openxmlformats.org/drawingml/2006/main">
            <a:r>
              <a:t>https://gg.mit.edu/wp-content/uploads/2019/04/PhysRevLett.122.136001.pdf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指數式中的ΔGf不把位點混合的組態熵再算一次，該組態熵已在導出濃度式時處理。濃度高時缺陷交互作用、團簇與多種電荷態都可能重要。氧空缺的電荷態不能一律指定為+2，需要材料與費米能階資訊。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3.205 L5：離子晶體與點缺陷</a:t>
            </a:r>
          </a:p>
          <a:p xmlns:a="http://schemas.openxmlformats.org/drawingml/2006/main">
            <a:r>
              <a:t>https://ocw.mit.edu/courses/3-205-thermodynamics-and-kinetics-of-materials-fall-2006/d6fd4e0d7f52dd71563f89514645b830_lecture05_slides.pdf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3.00 L20：化學勢</a:t>
            </a:r>
          </a:p>
          <a:p xmlns:a="http://schemas.openxmlformats.org/drawingml/2006/main">
            <a:r>
              <a:t>https://ocw.mit.edu/courses/3-00-thermodynamics-of-materials-fall-2002/8791023a80525e69c7dfe17898cadaf5_lecture_20_oneside.PDF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μ°O_2是標準態每個氧分子的化學勢，此頁使用每粒子的kB版本。以莫耳表示需改用R。可選讀的Kröger–Vink示例為 O_O^× ⇌ V_O^{••} + ½O_2 + 2e′。它是一種假設氧空缺雙正電的守恆式，不表示所有材料與條件都只存在此電荷態。本頁不提供任何氣體操作設定。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3.00 L20：化學勢</a:t>
            </a:r>
          </a:p>
          <a:p xmlns:a="http://schemas.openxmlformats.org/drawingml/2006/main">
            <a:r>
              <a:t>https://ocw.mit.edu/courses/3-00-thermodynamics-of-materials-fall-2002/8791023a80525e69c7dfe17898cadaf5_lecture_20_oneside.PDF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3.205 L5：離子晶體與點缺陷</a:t>
            </a:r>
          </a:p>
          <a:p xmlns:a="http://schemas.openxmlformats.org/drawingml/2006/main">
            <a:r>
              <a:t>https://ocw.mit.edu/courses/3-205-thermodynamics-and-kinetics-of-materials-fall-2006/d6fd4e0d7f52dd71563f89514645b830_lecture05_slides.pdf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3.00 L34：帶電物種平衡</a:t>
            </a:r>
          </a:p>
          <a:p xmlns:a="http://schemas.openxmlformats.org/drawingml/2006/main">
            <a:r>
              <a:t>https://ocw.mit.edu/courses/3-00-thermodynamics-of-materials-fall-2002/756c0954ea937547db69e17a396622fc_lecture_34_oneside.PDF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這是一個分析框架，不主張所有RRAM都由同一物種或同一導電絲控制。氧化物VCM與金屬離子ECM的化學邊界條件不同。第05章的靜態電子能帶有助於讀取分析，本章則提醒寫入時材料狀態也在變。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Yang et al., Nature Nanotechnology 3, 429–433 (2008)</a:t>
            </a:r>
          </a:p>
          <a:p xmlns:a="http://schemas.openxmlformats.org/drawingml/2006/main">
            <a:r>
              <a:t>https://www.nature.com/articles/nnano.2008.160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3.205 L4：原子擴散機制與溫度依賴</a:t>
            </a:r>
          </a:p>
          <a:p xmlns:a="http://schemas.openxmlformats.org/drawingml/2006/main">
            <a:r>
              <a:t>https://ocw.mit.edu/courses/3-205-thermodynamics-and-kinetics-of-materials-fall-2006/48fa40fa1298230d445991e2325d132d_lecture04_slides.pdf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一張漂亮圖片可能只代表一個視野。平均光譜可能把局域導電絲訊號稀釋。量測前先決定想辨識的是平均組成、表面吸附、局域結構還是電活性，才能選擇適合的取樣方法。不要在看到結果後才反過來挑選主張。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NIST／Powell et al. (2019)：XPS 量測規劃與報告</a:t>
            </a:r>
          </a:p>
          <a:p xmlns:a="http://schemas.openxmlformats.org/drawingml/2006/main">
            <a:r>
              <a:t>https://www.nist.gov/publications/practical-guides-x-ray-photoelectron-spectroscopy-first-steps-planning-conducting-and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Melbourne：SEM 樣品與充電假影</a:t>
            </a:r>
          </a:p>
          <a:p xmlns:a="http://schemas.openxmlformats.org/drawingml/2006/main">
            <a:r>
              <a:t>https://eng.unimelb.edu.au/nanomaterials/learning-centre/courses/scanning-electron-microscopy/getting-good-images/sample-preparation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JEOL：TEM 原理、樣品製備與損傷</a:t>
            </a:r>
          </a:p>
          <a:p xmlns:a="http://schemas.openxmlformats.org/drawingml/2006/main">
            <a:r>
              <a:t>https://www.jeolusa.com/RESOURCES/Electron-Optics/transmission-electron-microscopy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是與晶域形狀及峰寬定義有關的無因次因子。Dcryst通常不等於SEM看到的顆粒尺寸，更不等於薄膜厚度。相分析需比較多個峰和背景，並考慮基板訊號與擇優取向。要推論氧空缺也需要其他直接或間接證據，XRD峰位本身無法唯一分離所有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NIST：Bragg 方程定義</a:t>
            </a:r>
          </a:p>
          <a:p xmlns:a="http://schemas.openxmlformats.org/drawingml/2006/main">
            <a:r>
              <a:t>https://www.nist.gov/glossary-term/37281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Rigaku Journal 39(2), 18–22 (2023)：晶域尺寸</a:t>
            </a:r>
          </a:p>
          <a:p xmlns:a="http://schemas.openxmlformats.org/drawingml/2006/main">
            <a:r>
              <a:t>https://resources.rigaku.com/hubfs/2024%20Rigaku%20Global%20Site/Resource%20Hub/Knowledge%20Library/Rigaku%20Journals/Volume%2039%282%29%20-%20Summer%202023/Rigaku%20Journal%2039-2_18.pdf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ν是光的頻率，並非波長。束縛能公式的能量基準需儀器校準與良好電接觸，絕緣樣品常另需處理充電。XPS偵測的是仍存在原子的電子，空缺本身沒有可逸出的氧1s電子。化學態或化學計量可間接約束缺陷模型，但單個肩峰不能唯一辨認或定量氧空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Toray Research Center：XPS 原理</a:t>
            </a:r>
          </a:p>
          <a:p xmlns:a="http://schemas.openxmlformats.org/drawingml/2006/main">
            <a:r>
              <a:t>https://www.toray-research.co.jp/en/technical-info/analysis/XPS.html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NIST／Powell et al. (2019)：XPS 量測規劃與報告</a:t>
            </a:r>
          </a:p>
          <a:p xmlns:a="http://schemas.openxmlformats.org/drawingml/2006/main">
            <a:r>
              <a:t>https://www.nist.gov/publications/practical-guides-x-ray-photoelectron-spectroscopy-first-steps-planning-conducting-and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Idriss, Surface Science 712, 121894 (2021)</a:t>
            </a:r>
          </a:p>
          <a:p xmlns:a="http://schemas.openxmlformats.org/drawingml/2006/main">
            <a:r>
              <a:t>https://doi.org/10.1016/j.susc.2021.121894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Rq也常寫RMS roughness。原始曲面去斜率、去彎曲或濾波都會改變數值，所以要保留處理方式。導電AFM屬另一種量測通道，局域電流還受接觸力、探針塗層與表面污染影響，不能與一般高度圖混為一談。 h、h_mean與Rq使用相同長度單位，例如nm。h_mean是在所分析區域內的平均高度；公式中的平均也在同一區域進行。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NIST 作者研究：Spatial Dimensions in AFM (2018)</a:t>
            </a:r>
          </a:p>
          <a:p xmlns:a="http://schemas.openxmlformats.org/drawingml/2006/main">
            <a:r>
              <a:t>https://pmc.ncbi.nlm.nih.gov/articles/PMC11404149/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SEM可看表面裂縫、顆粒或截面形貌，但不能僅由灰階證明氧空缺或原子級通道。EDS對輕元素、薄層與重疊訊號的定量有條件限制，報告時應交代取樣體積與背景。不要把漂亮表面影像當成整片薄膜的統計代表。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ETH Zürich ScopeM：SEM 訊號來源</a:t>
            </a:r>
          </a:p>
          <a:p xmlns:a="http://schemas.openxmlformats.org/drawingml/2006/main">
            <a:r>
              <a:t>https://scopem.ethz.ch/education/EM-ken/basics_theory/SEM_image-formation.html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University of Melbourne：SEM 樣品與充電假影</a:t>
            </a:r>
          </a:p>
          <a:p xmlns:a="http://schemas.openxmlformats.org/drawingml/2006/main">
            <a:r>
              <a:t>https://eng.unimelb.edu.au/nanomaterials/learning-centre/courses/scanning-electron-microscopy/getting-good-images/sample-preparation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張TEM圖是投影與成像條件共同作用的結果。若研究導電絲，需要把電性狀態、定位、切片位置與化學證據連結起來。可用多顆器件、不同視野與對照樣品增加代表性。解析度很高不代表樣品無損，也不代表觀察具唯一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JEOL：TEM 原理、樣品製備與損傷</a:t>
            </a:r>
          </a:p>
          <a:p xmlns:a="http://schemas.openxmlformats.org/drawingml/2006/main">
            <a:r>
              <a:t>https://www.jeolusa.com/RESOURCES/Electron-Optics/transmission-electron-microscopy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所有數值都是計算假設，不是器件設定。μmob = D/(kBT/q)可直接使用題目給的熱電壓，避免重複換算eV與J。題目指定單正電有效物種，只為簡化符號，不代表真實氧空缺必為+1。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3.205 L2：連續體擴散與 Fick 定律</a:t>
            </a:r>
          </a:p>
          <a:p xmlns:a="http://schemas.openxmlformats.org/drawingml/2006/main">
            <a:r>
              <a:t>https://ocw.mit.edu/courses/3-205-thermodynamics-and-kinetics-of-materials-fall-2006/dd4e2a11a931f6728ca6836f0a6a4f32_lecture02_slides.pdf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France-Lanord &amp; Grossman, PRL 122, 136001 (2019)</a:t>
            </a:r>
          </a:p>
          <a:p xmlns:a="http://schemas.openxmlformats.org/drawingml/2006/main">
            <a:r>
              <a:t>https://gg.mit.edu/wp-content/uploads/2019/04/PhysRevLett.122.136001.pdf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連續體算出的平均位移小於原子間距仍有統計意義，因為是許多隨機實現的平均偏移，不表示單一原子每次真的只跳0.0774 nm。若少數離散跳躍主導單顆器件，則須使用離散或隨機描述而非直接把平均值當確定路徑。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MIT 3.205 L2：連續體擴散與 Fick 定律</a:t>
            </a:r>
          </a:p>
          <a:p xmlns:a="http://schemas.openxmlformats.org/drawingml/2006/main">
            <a:r>
              <a:t>https://ocw.mit.edu/courses/3-205-thermodynamics-and-kinetics-of-materials-fall-2006/dd4e2a11a931f6728ca6836f0a6a4f32_lecture02_slides.pdf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France-Lanord &amp; Grossman, PRL 122, 136001 (2019)</a:t>
            </a:r>
          </a:p>
          <a:p xmlns:a="http://schemas.openxmlformats.org/drawingml/2006/main">
            <a:r>
              <a:t>https://gg.mit.edu/wp-content/uploads/2019/04/PhysRevLett.122.136001.pdf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這道題評量你能否避免把不同尺度的訊號拼成過度確定的故事。答案不必否定所有結果，而是把每一種訊號實際能支持的結論寫窄。請將替代解釋和可排除它的對照一一配對。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Rigaku Journal 39(2), 18–22 (2023)：晶域尺寸</a:t>
            </a:r>
          </a:p>
          <a:p xmlns:a="http://schemas.openxmlformats.org/drawingml/2006/main">
            <a:r>
              <a:t>https://resources.rigaku.com/hubfs/2024%20Rigaku%20Global%20Site/Resource%20Hub/Knowledge%20Library/Rigaku%20Journals/Volume%2039%282%29%20-%20Summer%202023/Rigaku%20Journal%2039-2_18.pdf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Idriss, Surface Science 712, 121894 (2021)</a:t>
            </a:r>
          </a:p>
          <a:p xmlns:a="http://schemas.openxmlformats.org/drawingml/2006/main">
            <a:r>
              <a:t>https://doi.org/10.1016/j.susc.2021.121894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作者研究：Spatial Dimensions in AFM (2018)</a:t>
            </a:r>
          </a:p>
          <a:p xmlns:a="http://schemas.openxmlformats.org/drawingml/2006/main">
            <a:r>
              <a:t>https://pmc.ncbi.nlm.nih.gov/articles/PMC11404149/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JEOL：TEM 原理、樣品製備與損傷</a:t>
            </a:r>
          </a:p>
          <a:p xmlns:a="http://schemas.openxmlformats.org/drawingml/2006/main">
            <a:r>
              <a:t>https://www.jeolusa.com/RESOURCES/Electron-Optics/transmission-electron-microscopy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標準：能逐步重算自由能、槓桿定則、Arrhenius與擴散例題，說明Nernst–Einstein的前提，並對XRD、XPS、AFM、SEM、TEM各寫一個可支持結論與一個限制。下一步讀真實論文時，建立「主張、量測、假設、替代解釋」四欄筆記。高分答案是精確界定不確定性，而非堆疊儀器名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 Sources</a:t>
            </a:r>
          </a:p>
          <a:p xmlns:a="http://schemas.openxmlformats.org/drawingml/2006/main">
            <a:r>
              <a:t>Rigaku Journal 39(2), 18–22 (2023)：晶域尺寸</a:t>
            </a:r>
          </a:p>
          <a:p xmlns:a="http://schemas.openxmlformats.org/drawingml/2006/main">
            <a:r>
              <a:t>https://resources.rigaku.com/hubfs/2024%20Rigaku%20Global%20Site/Resource%20Hub/Knowledge%20Library/Rigaku%20Journals/Volume%2039%282%29%20-%20Summer%202023/Rigaku%20Journal%2039-2_18.pdf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Idriss, Surface Science 712, 121894 (2021)</a:t>
            </a:r>
          </a:p>
          <a:p xmlns:a="http://schemas.openxmlformats.org/drawingml/2006/main">
            <a:r>
              <a:t>https://doi.org/10.1016/j.susc.2021.121894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作者研究：Spatial Dimensions in AFM (2018)</a:t>
            </a:r>
          </a:p>
          <a:p xmlns:a="http://schemas.openxmlformats.org/drawingml/2006/main">
            <a:r>
              <a:t>https://pmc.ncbi.nlm.nih.gov/articles/PMC11404149/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JEOL：TEM 原理、樣品製備與損傷</a:t>
            </a:r>
          </a:p>
          <a:p xmlns:a="http://schemas.openxmlformats.org/drawingml/2006/main">
            <a:r>
              <a:t>https://www.jeolusa.com/RESOURCES/Electron-Optics/transmission-electron-microscopy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e008c33f544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ac726e16847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0cdf67a844e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0b033702a45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f5a8068864e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9536613ee47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345D65-5C83-4D78-8DDC-5509ECF76A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274147"/>
            <a:ext cx="8553907" cy="8695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14FE3D-8A71-4F4B-9E2F-EB07A94A90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58" y="3310890"/>
            <a:ext cx="7484669" cy="668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9192EF-A95D-49E4-BAFB-92A166E671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38" y="2508250"/>
            <a:ext cx="8553907" cy="100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78B9D1-064A-4E96-B687-4282B11FE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4DFE13-23BB-4453-8A4B-51B1963A73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9489491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01E701-812C-48A9-8A1D-CF61BF3CA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C0A282-2A4C-4252-844D-D1B36E28B8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20883F-8E41-4D79-8BD6-D6CF474622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329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B52FA0-9B39-4D72-9E16-4F600D07D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47" y="468207"/>
            <a:ext cx="9489491" cy="735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F41143-C2BA-4C3F-B7AA-42689CF7AA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47" y="1672167"/>
            <a:ext cx="4410608" cy="374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8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7792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510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241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9721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703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4340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7164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8959" indent="-200482" algn="l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17fe5b3d39411b" /><Relationship Type="http://schemas.openxmlformats.org/officeDocument/2006/relationships/slideLayout" Target="/ppt/slideLayouts/slideLayout1.xml" Id="R4e66d5ebb00c4336" /><Relationship Type="http://schemas.openxmlformats.org/officeDocument/2006/relationships/slideLayout" Target="/ppt/slideLayouts/slideLayout2.xml" Id="R884ea78ec78e4e1d" /><Relationship Type="http://schemas.openxmlformats.org/officeDocument/2006/relationships/slideLayout" Target="/ppt/slideLayouts/slideLayout3.xml" Id="Rb580d3367aea47fb" /><Relationship Type="http://schemas.openxmlformats.org/officeDocument/2006/relationships/slideLayout" Target="/ppt/slideLayouts/slideLayout4.xml" Id="R5554faead4c849b5" /><Relationship Type="http://schemas.openxmlformats.org/officeDocument/2006/relationships/slideLayout" Target="/ppt/slideLayouts/slideLayout5.xml" Id="R5c437c62fff04ab3" /><Relationship Type="http://schemas.openxmlformats.org/officeDocument/2006/relationships/slideLayout" Target="/ppt/slideLayouts/slideLayout6.xml" Id="R10c71fc1b3ea40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6d5ebb00c4336"/>
    <p:sldLayoutId xmlns:r="http://schemas.openxmlformats.org/officeDocument/2006/relationships" id="2147483650" r:id="R884ea78ec78e4e1d"/>
    <p:sldLayoutId xmlns:r="http://schemas.openxmlformats.org/officeDocument/2006/relationships" id="2147483651" r:id="Rb580d3367aea47fb"/>
    <p:sldLayoutId xmlns:r="http://schemas.openxmlformats.org/officeDocument/2006/relationships" id="2147483652" r:id="R5554faead4c849b5"/>
    <p:sldLayoutId xmlns:r="http://schemas.openxmlformats.org/officeDocument/2006/relationships" id="2147483653" r:id="R5c437c62fff04ab3"/>
    <p:sldLayoutId xmlns:r="http://schemas.openxmlformats.org/officeDocument/2006/relationships" id="2147483654" r:id="R10c71fc1b3ea40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1423f6e984ef9" /><Relationship Type="http://schemas.openxmlformats.org/officeDocument/2006/relationships/notesSlide" Target="/ppt/notesSlides/notesSlide1.xml" Id="Ra1e89a5d8dc3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224738cc04d0d" /><Relationship Type="http://schemas.openxmlformats.org/officeDocument/2006/relationships/notesSlide" Target="/ppt/notesSlides/notesSlide2.xml" Id="Rfc120ed1f6dd4e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0363fa08c4fa1" /><Relationship Type="http://schemas.openxmlformats.org/officeDocument/2006/relationships/notesSlide" Target="/ppt/notesSlides/notesSlide3.xml" Id="R6aad5f7c3b544d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579d33c10846fd" /><Relationship Type="http://schemas.openxmlformats.org/officeDocument/2006/relationships/notesSlide" Target="/ppt/notesSlides/notesSlide4.xml" Id="Rca6dcaff033249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9c7070f36941db" /><Relationship Type="http://schemas.openxmlformats.org/officeDocument/2006/relationships/notesSlide" Target="/ppt/notesSlides/notesSlide5.xml" Id="R093a74cf2079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b416d95b84068" /><Relationship Type="http://schemas.openxmlformats.org/officeDocument/2006/relationships/notesSlide" Target="/ppt/notesSlides/notesSlide6.xml" Id="R5b666fc9c49f4f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df9a897bb4a71" /><Relationship Type="http://schemas.openxmlformats.org/officeDocument/2006/relationships/notesSlide" Target="/ppt/notesSlides/notesSlide7.xml" Id="Rc442c386df644b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88845195846b7" /><Relationship Type="http://schemas.openxmlformats.org/officeDocument/2006/relationships/notesSlide" Target="/ppt/notesSlides/notesSlide8.xml" Id="R4155e819dce6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02d097b154feb" /><Relationship Type="http://schemas.openxmlformats.org/officeDocument/2006/relationships/notesSlide" Target="/ppt/notesSlides/notesSlide9.xml" Id="R27d68a05122d46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7530e40cc43f9" /><Relationship Type="http://schemas.openxmlformats.org/officeDocument/2006/relationships/notesSlide" Target="/ppt/notesSlides/notesSlide10.xml" Id="Rf2bc864c7c0744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669d93013b4a33" /><Relationship Type="http://schemas.openxmlformats.org/officeDocument/2006/relationships/notesSlide" Target="/ppt/notesSlides/notesSlide11.xml" Id="R408ff8d4bd6c4a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56e59e46a344ce" /><Relationship Type="http://schemas.openxmlformats.org/officeDocument/2006/relationships/notesSlide" Target="/ppt/notesSlides/notesSlide12.xml" Id="Rb18117e0598942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a44b1494284a35" /><Relationship Type="http://schemas.openxmlformats.org/officeDocument/2006/relationships/notesSlide" Target="/ppt/notesSlides/notesSlide13.xml" Id="Ra125640e746746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f4ae191c64fe6" /><Relationship Type="http://schemas.openxmlformats.org/officeDocument/2006/relationships/notesSlide" Target="/ppt/notesSlides/notesSlide14.xml" Id="R8e9f0a6943d745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6c78fe8164ef1" /><Relationship Type="http://schemas.openxmlformats.org/officeDocument/2006/relationships/notesSlide" Target="/ppt/notesSlides/notesSlide15.xml" Id="R54c2889478ec44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e65a59919483a" /><Relationship Type="http://schemas.openxmlformats.org/officeDocument/2006/relationships/notesSlide" Target="/ppt/notesSlides/notesSlide16.xml" Id="R5017e5b8e16449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9db3460d643d4" /><Relationship Type="http://schemas.openxmlformats.org/officeDocument/2006/relationships/notesSlide" Target="/ppt/notesSlides/notesSlide17.xml" Id="R62874b26cdbc4e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9bfa61fea1432e" /><Relationship Type="http://schemas.openxmlformats.org/officeDocument/2006/relationships/notesSlide" Target="/ppt/notesSlides/notesSlide18.xml" Id="Rec0e2604400a42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a1e7a2e4d4bef" /><Relationship Type="http://schemas.openxmlformats.org/officeDocument/2006/relationships/notesSlide" Target="/ppt/notesSlides/notesSlide19.xml" Id="Rd7732582b3c143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f8a06a2374283" /><Relationship Type="http://schemas.openxmlformats.org/officeDocument/2006/relationships/notesSlide" Target="/ppt/notesSlides/notesSlide20.xml" Id="R1867a0d06b964c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1433f3b8a459e" /><Relationship Type="http://schemas.openxmlformats.org/officeDocument/2006/relationships/notesSlide" Target="/ppt/notesSlides/notesSlide21.xml" Id="R3a38e9e2c2d241d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e0ca1f6c744e5" /><Relationship Type="http://schemas.openxmlformats.org/officeDocument/2006/relationships/notesSlide" Target="/ppt/notesSlides/notesSlide22.xml" Id="R21dbe7315068468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de969775949d8" /><Relationship Type="http://schemas.openxmlformats.org/officeDocument/2006/relationships/notesSlide" Target="/ppt/notesSlides/notesSlide23.xml" Id="R5db5635aab9b4f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53233c9b644194" /><Relationship Type="http://schemas.openxmlformats.org/officeDocument/2006/relationships/notesSlide" Target="/ppt/notesSlides/notesSlide24.xml" Id="R76c12058921c42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14d95020b84945" /><Relationship Type="http://schemas.openxmlformats.org/officeDocument/2006/relationships/notesSlide" Target="/ppt/notesSlides/notesSlide25.xml" Id="Rc6fe657693884b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05cf4ea0342fc" /><Relationship Type="http://schemas.openxmlformats.org/officeDocument/2006/relationships/notesSlide" Target="/ppt/notesSlides/notesSlide26.xml" Id="R62f1aa106fac4ff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903b63559402d" /><Relationship Type="http://schemas.openxmlformats.org/officeDocument/2006/relationships/notesSlide" Target="/ppt/notesSlides/notesSlide27.xml" Id="Rbf7f05601bb64d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fe6bc1c2343bc" /><Relationship Type="http://schemas.openxmlformats.org/officeDocument/2006/relationships/notesSlide" Target="/ppt/notesSlides/notesSlide28.xml" Id="Rf04f5fdaea5c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5CD732-8726-4192-99DF-2C81135A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材料熱力學、動力學與證據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303E1D3-FA70-4D81-B327-2D82AE32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52A1F81-2A13-4AB3-AAC3-C003635D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目標：分清變化的驅動力與速度，並知道哪些量測能檢驗材料假說。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E2A027D-A8AA-48BE-A6E9-9150D77B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先備：能量與溫度、原子與缺陷、電子與離子的差別，以及第05章的能態。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8E8B8743-355E-4A37-8DC7-D183B3E7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自學順序：1–11頁自由能與速率，12–18頁缺陷輸運，19–28頁材料分析。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EAF3F742-F571-485B-B4F4-8D465C72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所有數值均為明示假設的計算練習，不是材料資料庫或設備設定。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D74B413-B7FF-44CB-BCFD-361F7FC8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5468710-BF29-404C-8B82-1AFDDC99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AD40F45-B2AD-421D-A2E6-77348C16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06-01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00C295-FC9A-4129-827D-3711B988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 / 28</a:t>
            </a:r>
          </a:p>
        </p:txBody>
      </p:sp>
    </p:spTree>
    <p:extLst>
      <p:ext uri="{BB962C8B-B14F-4D97-AF65-F5344CB8AC3E}">
        <p14:creationId xmlns:p14="http://schemas.microsoft.com/office/powerpoint/2010/main" val="10133733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B13647-97EB-4F9B-AE55-BD03B91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系統、狀態與能量守恆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CA43137-4AB4-401D-B27D-F9FA474B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B3815D0-89F2-4B81-9E7F-79A27B34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先圈定系統：例如薄膜本身。電極、氣體與基板可以是周圍環境。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7B31A95-AE4F-4F82-8EE6-CA3F2EC4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溫度 T、壓力 p、組成及缺陷配置描述狀態，必要時還要加入應變。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D99F165-653C-4541-9A6C-EED922FD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內能 U 是狀態函數。熱 Q 與功 W 描述跨越邊界的能量傳遞。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AA0CE00-C269-4674-BAE6-6D9FE77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若定義 Won 為外界對系統做功，第一定律寫成 ΔU = Q + Won。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09F2E904-C8C6-461C-89B2-74344381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電流輸入能量後，材料可能升溫、散熱或改變結構，須看完整能量收支。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31FFB87-5394-4D14-B8A9-3B8B615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41D7ED1-2B09-43F3-A53D-1A5B2117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A13A8276-06DD-4808-8CDD-61A1C45D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5B5402-441A-4291-ABB7-BD188A6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 / 28</a:t>
            </a:r>
          </a:p>
        </p:txBody>
      </p:sp>
    </p:spTree>
    <p:extLst>
      <p:ext uri="{BB962C8B-B14F-4D97-AF65-F5344CB8AC3E}">
        <p14:creationId xmlns:p14="http://schemas.microsoft.com/office/powerpoint/2010/main" val="1864948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657D57-EDA4-4945-8A3E-41D6D914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吉布斯自由能與變化方向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12DFC11-8BE6-4274-828B-079AE32F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23BA5C3-95E7-4157-B7F3-B24FEE83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焓 H = U + pV。熵 S 描述可達微觀狀態數與能量分散，單位 J/K。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FE62BBF-EAAD-4E5A-B640-3FB4EE46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吉布斯自由能 G = H - TS，單位 J。它結合能量代價與熵的貢獻。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0F034B9-0012-40AA-BD73-CBCB3756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固定 T、p，且沒有外加非體積功的自發過程，會使總 G 降低。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06A581F-2184-49BF-8E47-AAF56465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比較指定兩狀態：ΔG = ΔH - TΔS。負值表示該方向有熱力學驅動力。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29A36A33-9E68-4BDF-A24C-8A8D6D0B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ΔG 不給出變化所需時間，活化障礙仍可能使過程很慢。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CDCC358-2446-4F20-80ED-D1C65D25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2D57BD8-6888-4BDF-A231-94FAE5E7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60EC936-6B5C-4791-B25F-1A0DD86A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153568-BEF8-4319-84C7-F525DBDC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 / 28</a:t>
            </a:r>
          </a:p>
        </p:txBody>
      </p:sp>
    </p:spTree>
    <p:extLst>
      <p:ext uri="{BB962C8B-B14F-4D97-AF65-F5344CB8AC3E}">
        <p14:creationId xmlns:p14="http://schemas.microsoft.com/office/powerpoint/2010/main" val="72431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9CB0DC-90E5-4A95-B726-6E5E0AAB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化學勢與物質交換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2B0AAAD-D31C-462A-8B32-88A28B6B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0F8B1AFC-BC6F-4B82-840A-7B018C2A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化學勢 μi 表示在固定 T、p 與其他物種量時，加入一點 i 物種造成的 G 改變。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254946A-9819-433B-9FEF-D619A746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以莫耳數 ni 表示：μi = (∂G/∂ni)，單位 J/mol。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6B79A902-8FB5-4E1C-B55E-05ED4085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小變化可寫 dG = Σ μi dni。相同物種會傾向由較高化學勢移向較低處。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91099FD-AF3C-40A9-B298-1703E613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若兩相可以交換 i 物種，平衡要求 μi 在兩相相等。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868FA74-45C8-4823-A10E-913CCA5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濃度只是化學勢的一個因素。非理想互作用也能改變移動方向。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043CA8C-56BA-4F07-ACB8-9C9A92F0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93E5E06-FBD2-4C35-999F-300F9FE0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C3F1085-1821-43C6-88F3-837A6036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15DAE60-C893-4E7A-894A-4F8F932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 / 28</a:t>
            </a:r>
          </a:p>
        </p:txBody>
      </p:sp>
    </p:spTree>
    <p:extLst>
      <p:ext uri="{BB962C8B-B14F-4D97-AF65-F5344CB8AC3E}">
        <p14:creationId xmlns:p14="http://schemas.microsoft.com/office/powerpoint/2010/main" val="68137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D21694-BB0A-4893-8E09-731EFB36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例題1：自由能的溫度比較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971F9F0-E87B-4D47-A9D7-70936BAB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D154D7D-EA0C-4373-B612-AED3FA9F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假設某反應 ΔH = 12.0 kJ/mol，ΔS = 30.0 J/(mol·K)，且兩者近似不變。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53D3AF8-FE40-483A-A0AF-9EA87B7A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步驟1：先統一單位，ΔH = 12,000 J/mol。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C825A17-37C9-4014-9820-73F259CC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步驟2：300 K 時 ΔG = 12,000 - 300 × 30 = +3,000 J/mol。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9ECEF8DB-5912-4A35-A1A5-703EB44D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步驟3：500 K 時 ΔG = 12,000 - 500 × 30 = -3,000 J/mol。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8416FAD-8EB0-4C6A-B20E-4D3D2F0C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臨界值為 T = ΔH/ΔS = 400 K。這只比較驅動方向，未給反應速度。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7D9BD79-6A90-4189-9C7D-88F162D5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3D704EF-FB6F-4102-8B76-A18C3E0B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A76BE5B-E405-468D-BC5F-87DC0DB2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E52532-C608-49F1-9AAD-82AB1AB2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5 / 28</a:t>
            </a:r>
          </a:p>
        </p:txBody>
      </p:sp>
    </p:spTree>
    <p:extLst>
      <p:ext uri="{BB962C8B-B14F-4D97-AF65-F5344CB8AC3E}">
        <p14:creationId xmlns:p14="http://schemas.microsoft.com/office/powerpoint/2010/main" val="1662349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799AF5-F843-4E8F-BDA3-1C8939B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相、相圖與平衡範圍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FBD7BFE1-621F-45DD-85F5-4DF5E807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6167208D-72A3-4BA2-A4EB-66FAE39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相是具有一致結構與性質的區域，例如不同晶體結構的固相。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9D0BFB9-E34D-4459-9FF8-43B55CDE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二元相圖常用溫度與組成作座標，並先固定壓力。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3EA6163-3DC5-4215-91A7-04F79826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單相區對應一種平衡相。兩相區則需要兩種相共同滿足總組成。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90FA97D-375F-44B4-9CF0-CE044E44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同一溫度的連結線兩端給出兩相組成，相的份額另由物質守恆求得。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79DFBDD-2E1B-4C3D-9201-C7C95B39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相圖描述平衡。快速沉積的薄膜可能保留非平衡結構或亞穩態。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BB763B7D-A56A-416B-8BEB-25DEB846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3D09CD9-4A18-48B1-827F-5ED6210A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D7D7CDC-9441-43D5-A57C-F6199FB9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D40405-E94C-45B3-A2EF-B6119C89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670982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2E8517-8CDE-4434-87E1-0CB26489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例題2：槓桿定則來自守恆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0A5D630-3570-40E7-97C4-3A86E284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79E0B156-3516-4E4C-8EC6-E62A34B3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假設二元兩相區內，B莫耳分率 xα = 0.20、xβ = 0.70，整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體 x0 = 0.40。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B50DBB41-CBE5-4A62-A46C-ED86CDB2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步驟1：兩相份額 fα + fβ = 1。B守恆：x0 = fαxα + fβxβ。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0A09B8E9-49E0-49CE-9B68-0A23176E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48326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步驟2：代入 fα = 1 - fβ，得到 x0 - xα = fβ(xβ - xα)。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52D9C68-D7E9-4935-8C48-650F963A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408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步驟3：fβ = (0.40 - 0.20)/(0.70 - 0.20) = 0.40，fα = 0.60。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A84BE2F-B6F6-4C8C-8C59-54E07693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9844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檢查：0.60 × 0.20 + 0.40 × 0.70 = 0.40。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AC9E722-809B-4D4F-9708-6E74A291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4311" y="3048000"/>
            <a:ext cx="3476434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BDF7EE0F-C2C7-4912-9820-206310A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4311" y="2897981"/>
            <a:ext cx="95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AEF77CA-9B84-4AC8-93DB-023F9E0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84884" y="2855119"/>
            <a:ext cx="95" cy="3857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6732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B1ADC17-CEEB-43C8-880D-988FD635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0745" y="2897981"/>
            <a:ext cx="95" cy="300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6B71"/>
            </a:solidFill>
            <a:prstDash val="solid"/>
          </a:ln>
        </p:spPr>
      </p:sp>
      <p:sp>
        <p:nvSpPr>
          <p:cNvPr id="12" name="figure-label-4">
            <a:extLst xmlns:a="http://schemas.openxmlformats.org/drawingml/2006/main">
              <a:ext uri="{FF2B5EF4-FFF2-40B4-BE49-F238E27FC236}">
                <a16:creationId xmlns:a16="http://schemas.microsoft.com/office/drawing/2014/main" id="{DFE9F6BA-505C-4CEB-9936-BD2ABB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289" y="3348038"/>
            <a:ext cx="114414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xα = 0.20</a:t>
            </a:r>
          </a:p>
        </p:txBody>
      </p:sp>
      <p:sp>
        <p:nvSpPr>
          <p:cNvPr id="13" name="figure-label-5">
            <a:extLst xmlns:a="http://schemas.openxmlformats.org/drawingml/2006/main">
              <a:ext uri="{FF2B5EF4-FFF2-40B4-BE49-F238E27FC236}">
                <a16:creationId xmlns:a16="http://schemas.microsoft.com/office/drawing/2014/main" id="{CC2C27A0-FEE0-40BF-9FE5-C097E64B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432" y="2405063"/>
            <a:ext cx="132016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x_0 = 0.40</a:t>
            </a:r>
          </a:p>
        </p:txBody>
      </p:sp>
      <p:sp>
        <p:nvSpPr>
          <p:cNvPr id="14" name="figure-label-6">
            <a:extLst xmlns:a="http://schemas.openxmlformats.org/drawingml/2006/main">
              <a:ext uri="{FF2B5EF4-FFF2-40B4-BE49-F238E27FC236}">
                <a16:creationId xmlns:a16="http://schemas.microsoft.com/office/drawing/2014/main" id="{BF954741-BC5A-4690-8CB2-CB1D3AA3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646" y="3348038"/>
            <a:ext cx="1188149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xβ = 0.70</a:t>
            </a:r>
          </a:p>
        </p:txBody>
      </p:sp>
      <p:sp>
        <p:nvSpPr>
          <p:cNvPr id="15" name="figure-label-7">
            <a:extLst xmlns:a="http://schemas.openxmlformats.org/drawingml/2006/main">
              <a:ext uri="{FF2B5EF4-FFF2-40B4-BE49-F238E27FC236}">
                <a16:creationId xmlns:a16="http://schemas.microsoft.com/office/drawing/2014/main" id="{8734DAE6-ECD8-4B92-9777-BE73F8DF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316" y="4119563"/>
            <a:ext cx="3344418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固定溫度的兩相連結線</a:t>
            </a:r>
          </a:p>
        </p:txBody>
      </p:sp>
      <p:sp>
        <p:nvSpPr>
          <p:cNvPr id="16" name="native-figure-caption">
            <a:extLst xmlns:a="http://schemas.openxmlformats.org/drawingml/2006/main">
              <a:ext uri="{FF2B5EF4-FFF2-40B4-BE49-F238E27FC236}">
                <a16:creationId xmlns:a16="http://schemas.microsoft.com/office/drawing/2014/main" id="{93E40315-3B5E-4C70-9432-420311E0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假想兩相教學例。線段長度對應組成差，不是量測相圖</a:t>
            </a:r>
          </a:p>
        </p:txBody>
      </p:sp>
      <p:sp>
        <p:nvSpPr>
          <p:cNvPr id="1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8E5FD25-EA85-4AA7-B56B-A067A0AE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C043481-4DDC-45F0-B2AB-5DA37F5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584F357-95B4-4560-9853-BFF07F1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06-07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B2C4FE-62FA-4A04-AC1A-328AA1E1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15492687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3D358D-1D2E-40AC-9F2E-AF0C875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活化障礙與 Arrhenius 式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0454F78-DD8B-4B98-8485-1602E66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FC3A651E-2528-4379-9764-100BE6DE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活化障礙 Ea 控制跨越路徑的難易，低自由能終點仍可能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很難抵達。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BAF85FF-05E7-448A-B8AF-E9BCE92F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單一熱活化模型：r = A exp[-Ea/(kBT)]。A 與速率量 r 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單位相同。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5D19BD77-808E-4A8E-A82C-5179252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8360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Ea 用 eV/粒子時採 kB。若用 J/mol，則改採氣體常數 R。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8439BFA-ED16-4A15-965E-A0D2BAA5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4119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取對數：ln(r/A) = -(Ea/kB)(1/T)，對 1/T 為直線。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48F54E0-7315-4A9D-A46E-773BCD20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9878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若溫區內機制或前因子改變，單一直線外推可能失準。</a:t>
            </a:r>
          </a:p>
        </p:txBody>
      </p:sp>
      <p:sp>
        <p:nvSpPr>
          <p:cNvPr id="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0140D80-4019-4926-ADEC-E046A41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36385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C79119A0-7DC8-4DC9-9BDA-61C848F7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57375"/>
            <a:ext cx="9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57889"/>
            </a:solidFill>
            <a:prstDash val="solid"/>
          </a:ln>
        </p:spPr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7A77821-B0E8-4184-8814-CF79CFEB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34125" y="181927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1F4A88E1-7BE9-4BE9-8B50-DEFCB6DC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33575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</a:t>
            </a:r>
          </a:p>
        </p:txBody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219585C-820F-47C1-88AD-74B0A3A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181927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CA1CE83-F061-477E-9010-851C10FB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33575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3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2EEA18C-AF30-4E45-9718-C3E1CE8D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1819275"/>
            <a:ext cx="9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1BA4336-AAF3-4D79-B803-2BB8952D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33575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4</a:t>
            </a:r>
          </a:p>
        </p:txBody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586B27E-988D-479E-862C-DEEAFF40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286250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EE61A7C3-FD09-46D1-924B-A158C327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1910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-24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7A8D67CA-C33D-4B50-9B5A-5857CA9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071813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FC995FE8-7D48-42FA-817C-3C9A7E15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976563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-17</a:t>
            </a:r>
          </a:p>
        </p:txBody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3DD2515-0948-4031-A2E5-2FD907B0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1857375"/>
            <a:ext cx="76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7889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6BD41A18-E390-406C-9FA0-71ECDF63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7621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7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-10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D33B2E4A-1B2D-47C5-91F4-BDD58A78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8630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1000 K / T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31AB76C3-BAE7-401C-8D1E-6BFE3B36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ln(r/A)</a:t>
            </a:r>
          </a:p>
        </p:txBody>
      </p:sp>
      <p:sp>
        <p:nvSpPr>
          <p:cNvPr id="24" name="Ea = 0.50 eV">
            <a:extLst xmlns:a="http://schemas.openxmlformats.org/drawingml/2006/main">
              <a:ext uri="{FF2B5EF4-FFF2-40B4-BE49-F238E27FC236}">
                <a16:creationId xmlns:a16="http://schemas.microsoft.com/office/drawing/2014/main" id="{519C8FB7-BE9E-458B-B226-F58C44B1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35745"/>
            <a:ext cx="3638550" cy="2013280"/>
          </a:xfrm>
          <a:custGeom xmlns:a="http://schemas.openxmlformats.org/drawingml/2006/main">
            <a:pathLst>
              <a:path w="3638550" h="2013280">
                <a:moveTo>
                  <a:pt x="0" y="0"/>
                </a:moveTo>
                <a:lnTo>
                  <a:pt x="90964" y="50332"/>
                </a:lnTo>
                <a:lnTo>
                  <a:pt x="181928" y="100664"/>
                </a:lnTo>
                <a:lnTo>
                  <a:pt x="272891" y="150996"/>
                </a:lnTo>
                <a:lnTo>
                  <a:pt x="363855" y="201328"/>
                </a:lnTo>
                <a:lnTo>
                  <a:pt x="454819" y="251660"/>
                </a:lnTo>
                <a:lnTo>
                  <a:pt x="545782" y="301992"/>
                </a:lnTo>
                <a:lnTo>
                  <a:pt x="636746" y="352324"/>
                </a:lnTo>
                <a:lnTo>
                  <a:pt x="727710" y="402656"/>
                </a:lnTo>
                <a:lnTo>
                  <a:pt x="818674" y="452988"/>
                </a:lnTo>
                <a:lnTo>
                  <a:pt x="909638" y="503320"/>
                </a:lnTo>
                <a:lnTo>
                  <a:pt x="1000601" y="553652"/>
                </a:lnTo>
                <a:lnTo>
                  <a:pt x="1091565" y="603984"/>
                </a:lnTo>
                <a:lnTo>
                  <a:pt x="1182529" y="654316"/>
                </a:lnTo>
                <a:lnTo>
                  <a:pt x="1273493" y="704648"/>
                </a:lnTo>
                <a:lnTo>
                  <a:pt x="1364456" y="754980"/>
                </a:lnTo>
                <a:lnTo>
                  <a:pt x="1455420" y="805312"/>
                </a:lnTo>
                <a:lnTo>
                  <a:pt x="1546384" y="855644"/>
                </a:lnTo>
                <a:lnTo>
                  <a:pt x="1637347" y="905976"/>
                </a:lnTo>
                <a:lnTo>
                  <a:pt x="1728311" y="956308"/>
                </a:lnTo>
                <a:lnTo>
                  <a:pt x="1819275" y="1006640"/>
                </a:lnTo>
                <a:lnTo>
                  <a:pt x="1910239" y="1056972"/>
                </a:lnTo>
                <a:lnTo>
                  <a:pt x="2001203" y="1107304"/>
                </a:lnTo>
                <a:lnTo>
                  <a:pt x="2092166" y="1157636"/>
                </a:lnTo>
                <a:lnTo>
                  <a:pt x="2183130" y="1207968"/>
                </a:lnTo>
                <a:lnTo>
                  <a:pt x="2274094" y="1258300"/>
                </a:lnTo>
                <a:lnTo>
                  <a:pt x="2365057" y="1308632"/>
                </a:lnTo>
                <a:lnTo>
                  <a:pt x="2456021" y="1358964"/>
                </a:lnTo>
                <a:lnTo>
                  <a:pt x="2546985" y="1409296"/>
                </a:lnTo>
                <a:lnTo>
                  <a:pt x="2637949" y="1459628"/>
                </a:lnTo>
                <a:lnTo>
                  <a:pt x="2728913" y="1509960"/>
                </a:lnTo>
                <a:lnTo>
                  <a:pt x="2819876" y="1560292"/>
                </a:lnTo>
                <a:lnTo>
                  <a:pt x="2910840" y="1610624"/>
                </a:lnTo>
                <a:lnTo>
                  <a:pt x="3001804" y="1660956"/>
                </a:lnTo>
                <a:lnTo>
                  <a:pt x="3092768" y="1711288"/>
                </a:lnTo>
                <a:lnTo>
                  <a:pt x="3183731" y="1761620"/>
                </a:lnTo>
                <a:lnTo>
                  <a:pt x="3274695" y="1811952"/>
                </a:lnTo>
                <a:lnTo>
                  <a:pt x="3365659" y="1862284"/>
                </a:lnTo>
                <a:lnTo>
                  <a:pt x="3456623" y="1912616"/>
                </a:lnTo>
                <a:lnTo>
                  <a:pt x="3547586" y="1962948"/>
                </a:lnTo>
                <a:lnTo>
                  <a:pt x="3638550" y="201328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06B71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EF97829E-12F8-4F12-97E9-EC8AF003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92392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206B71"/>
                </a:solidFill>
                <a:latin typeface="Noto Sans CJK TC"/>
                <a:ea typeface="Noto Sans CJK TC"/>
                <a:cs typeface="Noto Sans CJK TC"/>
              </a:rPr>
              <a:t>Ea = 0.50 eV</a:t>
            </a:r>
          </a:p>
        </p:txBody>
      </p:sp>
      <p:sp>
        <p:nvSpPr>
          <p:cNvPr id="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F4231718-7B4B-4B79-95A0-BB7CC6B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29225"/>
            <a:ext cx="4400550" cy="199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0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Arrhenius解析示意，A視為常數，非材料實測資料</a:t>
            </a:r>
          </a:p>
        </p:txBody>
      </p:sp>
      <p:sp>
        <p:nvSpPr>
          <p:cNvPr id="2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2AEACC2-1E56-4BD1-ACE7-06BFC0D1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916FAF4D-F2D5-463A-AC03-DB37416B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6B632F8-5D34-414C-95D7-E651443C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06-08</a:t>
            </a:r>
          </a:p>
        </p:txBody>
      </p:sp>
      <p:sp>
        <p:nvSpPr>
          <p:cNvPr id="3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3FEE2D-7E83-45E1-A2CF-B5960D43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8 / 28</a:t>
            </a:r>
          </a:p>
        </p:txBody>
      </p:sp>
    </p:spTree>
    <p:extLst>
      <p:ext uri="{BB962C8B-B14F-4D97-AF65-F5344CB8AC3E}">
        <p14:creationId xmlns:p14="http://schemas.microsoft.com/office/powerpoint/2010/main" val="1544339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7F705-3B37-4B4C-8264-119FB14B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例題3：溫度對速率的影響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2F38209-4082-4228-8BB7-AA080111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BEF01CC-CED0-4BA9-80A5-912292B3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 Ea = 0.50 eV，兩溫度300 K與330 K，前因子 A相同。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573ED1C-2DCC-4617-AE58-FEC12CCC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步驟1：相除消去 A，r330/r300 = exp[(Ea/kB)(1/300 - 1/330)]。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DBC644A-A351-4458-AD5D-B5A98ECB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步驟2：1/300 - 1/330 = 3.03 × 10^(-4) K^(-1)。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70F49CA-AD53-42D7-A303-A24E1FC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步驟3：[0.50/(8.617 × 10^(-5))] × 3.03 × 10^(-4) ≈ 1.76。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D0C5ABB-F2A1-46AF-A305-4F2CBA3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因此比值約 exp(1.76) = 5.80。升高10%的絕對溫度可有非線性效果。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A5A3D3C-877E-4B61-8FF9-AC928DF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086759C-489D-4733-8ED6-26F12258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E71404ED-D6F6-46FF-A3AF-CFA97AB3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06-09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7B1039-A211-4B62-AC5C-4CEA9880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9 / 28</a:t>
            </a:r>
          </a:p>
        </p:txBody>
      </p:sp>
    </p:spTree>
    <p:extLst>
      <p:ext uri="{BB962C8B-B14F-4D97-AF65-F5344CB8AC3E}">
        <p14:creationId xmlns:p14="http://schemas.microsoft.com/office/powerpoint/2010/main" val="1598939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5600F7-4882-429C-A978-5D75AA1C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練習1與2：方向與時間尺度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659AB52-F303-4C7E-90F1-449330DB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B0EECC2-E88D-4532-81F2-78867E14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練習1：ΔH = 20 kJ/mol、ΔS = 50 J/(mol·K)，求300 K的 ΔG 與 ΔG = 0 的溫度。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A07014BE-6023-416A-BA83-F16A4083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再回答：負 ΔG 是否足以保證在一秒內完成反應？理由是什麼？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818F386-ECAC-4842-AD2A-D673A399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練習2：假設 Ea = 0.40 eV且 A不變，求 r330/r300。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355F913C-C4CD-4C4A-9B64-691963A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請先寫公式再代值，並指出兩題各自忽略了哪些條件。</a:t>
            </a:r>
          </a:p>
        </p:txBody>
      </p:sp>
      <p:sp>
        <p:nvSpPr>
          <p:cNvPr id="7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1E75FAD-3B32-477B-AEFF-B3DF544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FBBC2FD-B0B7-4FBE-B9FC-DCA9D53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9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01969D5-331B-4DC1-880C-01593A9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06-10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865EF7-F5FD-4A88-AED8-F952F8F4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20212643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EC74F3-A538-4CC5-8B37-34AC6CF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解答1與2：單位與模型條件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428E5CB-36F7-4CA9-B2CC-2C7FAA52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EE5D8F5-C1CB-497C-BA44-7A38FD41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1．20 kJ/mol = 20,000 J/mol。ΔG300 = 20,000 - 300 × 50 = +5,000 J/mol。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F8630BB-E3DA-41A7-8F1D-36D3F7B5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令 ΔG = 0，T = 20,000/50 = 400 K。這假設 ΔH、ΔS在比較溫區近似不變。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77E975F-CFA8-43D9-AAEC-9910023B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即使 ΔG &lt; 0，仍可能存在很高的活化障礙，因此不能保證一秒完成。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5CFB517B-CE10-4B16-AE1E-DF0A63A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2．指數 = (0.40/[8.617 × 10^(-5)]) × (1/300 - 1/330) ≈ 1.407。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FFFF8D8-CF9F-4D24-A279-C231A0FD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r330/r300 ≈ exp(1.407) = 4.08，前提為同一機制且 A不變。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7BF4DD3-9BCB-4DCC-8AD8-FE7DBF60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B099B03-52DA-436E-9D19-EB491D0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051B82BA-8EA8-46C4-AA41-3412DC22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50ADE5-5DDE-4105-8FB1-62E50CB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1865803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9AA1B4-9A49-48A9-8A2A-1B981BEE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擴散與 Fick 第一定律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DCFD2B8-D270-4138-8E16-02D58015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C3E96F5D-5A5C-4CA2-B107-1DBB4C49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沒有外加偏向時，原子仍可隨機跳動。濃度高處往低處的跳出數通常較多。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ECE14DE-0319-4D83-B082-D4E157A9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一維粒子通量 J = -D dc/dx，J單位為 particles/(m^(2)·s)。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B8DEB8A-A323-40F3-A818-798FC28A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 是粒子數濃度，單位 m^(-3)。D是擴散係數，單位 m^(2)/s。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C7E305E-DC5D-4633-BBDD-D5940A82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負號表示淨通量沿濃度下降方向。梯度 dc/dx 表示濃度隨位置的變化率。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DD873CC0-D593-483D-9263-490A3626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這是簡化的均勻介質模型。一般驅動力還包括化學勢、應力或電場梯度。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EF1766C-67F2-46F6-9886-4230F7E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106603E-2F77-43C7-BF4E-249DAD61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A49B9A7-845A-4F05-875E-44C1C074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EEA029-948A-468C-88FB-05243E0F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12908970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E77A9E-4FA2-4D48-9A74-0AED46D3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例題4：一維擴散長度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469821E-5608-461B-ADC9-F1298A3D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DD22F25-145C-4D06-8D0C-DED3ECA1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自由一維擴散的均方位移為 &lt;Δx^(2)&gt; = 2Dt，均方根長度 Lrms = √(2Dt)。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8628CE38-9C51-40A8-9FFE-6BBF761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教學假設 D = 1.0 × 10^(-18) m^(2)/s，經過 t = 50 s。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957AE33A-83D7-44AE-957F-B1DA2E05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步驟1：2Dt = 2 × 10^(-18) × 50 = 1.0 × 10^(-16) m^(2)。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B029887D-2F41-4636-B0F0-D67E613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步驟2：Lrms = 1.0 × 10^(-8) m = 10 nm。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F5B80D56-C6AE-4401-9119-033F3D9E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這是分布寬度尺度，不代表每個粒子都移動10 nm，也不是固定邊界的穿越時間。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DDB0CEA-3659-45ED-A177-BE0E6480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A5792E5-E94E-4A59-B812-8381CA12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95EC124-9A14-456A-8CC3-6195C811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626454-7D0A-453E-A471-0CD78108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19570349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934951-32AB-41CA-8DA6-374F7F88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帶電缺陷的漂移與電化學勢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478BC003-0474-4678-B7E0-D9DFC8E4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63F4233-7145-48A0-83E5-483C1F80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設物種有效電荷為 zq。z可正可負，q = 1.602 × 10^(-19) C。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2273276-8F4B-4CE4-B517-9B3509B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每粒子的電化學勢 μ_tilde = μchem + zqφ，其中 φ 是靜電位，單位 V。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DADE558-9704-4FD6-9E08-1AD82E0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電場 E_field = -dφ/dx。正電荷受力沿電場，負電荷反向。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8A0D3B0-83C9-4583-AEF1-E0E290F6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低場下，正的遷移率 μmob 定義速度大小與電場大小的比例，單位 m^(2)/(V·s)。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AC2D75AB-7E2F-4FEF-83D4-068D2224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固定電場與 μmob時，平均漂移距離隨 t成正比，擴散寬度則隨 √t增長。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92B5E8F-BB3A-4F28-9E65-6E4E0A4E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B4D3C90-F6C3-48CE-97BE-F42567F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D5A4E0C-8C2A-4AC0-B884-CDBFE914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CE52E1-6A36-46FB-AE19-297F8CAA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12737167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D9BD3D-3E2F-4CF3-95FA-445CE79F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Nernst–Einstein 關係與前提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7FF5694-DA84-4C82-B638-D53284D2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EE0C00EA-6BC5-4A06-BF3E-1C400EB3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對稀薄、弱相關且近局部平衡的帶電粒子，μmob = |z|qD/(kBT)。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33AA3E5-9102-4089-9ABE-F2EA0925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此時粒子通量 J = -D dc/dx + [zqDc/(kBT)]E_field。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F3BA96D0-76ED-4DD0-A49D-6644DF4F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單一物種的導電率 σ ≈ c(zq)^(2)D/(kBT)，單位 S/m。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CFB482AC-8CB3-4009-BA91-7480917F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條件包含線性低場、合適的擴散係數，以及可忽略的粒子間相關。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9116EB7-6E18-4914-9A9F-AFD94B9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強場跳躍、密集缺陷、陷阱與關聯運動，可能使這些簡式失準。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F6CCA48-561A-490E-BFEA-D07D22F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43158FB-89B0-4AB6-9FC1-73FD300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96EE41A-DF9C-430B-B1EB-FC3C568F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935F32-2799-4F39-9311-44EBFDC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16913422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9B1000-33A1-41BD-9DDC-749EC8C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點缺陷的形成與平衡濃度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F23EEF0-4FC1-4809-9B86-809855F3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4F4531B3-754D-4E12-9A49-B58BC465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缺陷形成自由能 ΔGf 是建立指定缺陷、並與指定原子及電子庫交換的代價。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042D3D36-6ADE-41EF-8875-393420D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最簡稀薄獨立缺陷模型：cdef/Nsite ≈ exp[-ΔGf/(kBT)]。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6AD30B8-0AFB-4089-9C3D-18B2E28D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Nsite 是可用位點數密度。ΔGf越低，模型中的平衡缺陷比例越高。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4C73601-DA7B-4B65-BA40-0CAD64D2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帶電缺陷的形成能還取決於電子化學勢，並須滿足整體電荷中性。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60ABD19-8C29-4D8B-9733-88E91A3F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沉積或寫入可能留下非平衡缺陷，因此量測濃度不必等於平衡預測。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BD02E80-1701-4715-BAE5-EE78457E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AFA9769-9A2E-41B8-88A8-264132A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4A0085C-F873-4705-837F-F663ED5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2304A8-D834-4C95-8769-B84471B8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9481178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561C73-23D3-489F-B693-3F9A020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氧交換與化學勢邊界條件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DB75777-8B4B-499C-B7BC-2ECB4674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D8EC87F-B03B-4027-80D3-2E056399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氧化物可與電極或外界交換氧。哪一側可當氧庫，屬於模型邊界條件。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41DC86FD-23B7-4860-AAAB-B9E116C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理想氧氣庫中，每個氧原子的 μO = ½μ°O_2 + ½kBT ln(pO_2/p°)。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377A386D-BBFB-4907-944C-BC3B16A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pO_2/p°必須無單位。式子表示氧化學勢可隨氧分壓改變。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2AB6A57D-8968-4DC3-AEB1-E86062F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形成氧空缺常伴隨電子或其他缺陷補償，必須同時檢查原子與電荷守恆。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1273919-745C-4B48-9A8B-7BBC8BC2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氣相平衡關係不能自動代替密封器件內、受偏壓驅動的真實狀態。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7367E70A-C969-4C64-ACAD-669D4A02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BD77ECDF-6F42-4554-B145-C2AAFF8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79E5BE82-6032-4788-8753-755079FE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ED26495-97A1-44E5-87AD-A5FB8149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2261540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0032D-E691-4D54-B8B3-485C0494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RRAM 的耦合過程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0E89705-7A02-4A48-9FF3-26681241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D38BBCF-C1B6-4A82-BBDC-5B52569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電子電流可造成局域焦耳熱，溫度又會改變缺陷移動速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率。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B96681D-A7AE-401B-A170-29F02791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缺陷移動或氧化還原會改變導電路徑，進而重新分配電場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與熱源。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C0F888D2-E5E4-46E2-9B28-CD55EF47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83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因此溫度、電場、組成與電流可能互相影響，不能各自視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為固定常數。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72621450-F036-4674-BF87-CF254CD9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41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自由能回答方向，動力學回答時間尺度，電子傳輸模型回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答當下電流。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58019E91-CD2E-4039-880D-CCD99154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994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機制推論須對應實際材料與操作歷史，避免把單一理想模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型當成完整器件。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3E005F6-A3C1-4D23-B1AF-3CFFC539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電子電流與局域功率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53667EF-0439-4DFE-A26B-EB1CDEAB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溫度與缺陷移動速率</a:t>
            </a:r>
          </a:p>
        </p:txBody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F304C705-3A7A-46A3-A835-4724CFF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D8323AB-660D-4120-B1CB-C009DC12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093D0F0-6E95-42F9-BF49-7689071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2C62D6AC-EC87-4E03-8442-D470F356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缺陷／氧化還原配置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C3BA68F-5C7A-4C70-90CD-B6601B60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BA9A2E5-0E3C-4650-9E07-C61F48ED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1ADA5587-52C3-4A2A-A4D7-C412B5B5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68494BB0-17EC-4DB9-AC07-A7877C03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新的電場與電子電流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0791A04-E0CE-42EE-8D46-B87F2ABE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D0E28B90-5482-4F1C-B7F8-0931BA68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92A21C50-1B39-4186-9F66-17601AD9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1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B410C491-F97E-4B85-95DB-BD223237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可能形成回饋的物理量，箭頭只代表待檢驗的耦合關係</a:t>
            </a:r>
          </a:p>
        </p:txBody>
      </p:sp>
      <p:sp>
        <p:nvSpPr>
          <p:cNvPr id="22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62C16B5-8398-49C8-B4AF-4FEBD156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BBB93D79-D849-4791-B184-868A6C31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4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3D207678-29D4-40E7-9BA6-6D101C05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06-18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639B3D-2005-4F5B-BFAC-D39AC867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9175604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AAECD9-4F4A-4169-A9A1-8D526E9F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材料分析的證據鏈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5239BF4-AC3A-4F2D-BD29-61D878A1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D234C4A1-E99F-4771-926A-C929D7A4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先寫欲檢驗的主張，例如「薄膜結晶相改變」或「介面化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學態改變」。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D5D0479C-C361-4C00-9E3F-FFD8D858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2568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再選對應訊號：繞射探測週期結構，光電子探測表面化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學，顯微鏡探測局部影像。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193C9BA-67C1-4ADC-B093-AD23E7D9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8360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每次都問取樣深度、橫向範圍、解析度，以及樣品製備是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否改變原貌。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011F17EC-AF89-477F-88DE-CE8D078C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4152"/>
            <a:ext cx="509587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同批對照與多個位置可檢查代表性。互補技術可縮小替代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解釋。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451850B-0253-4765-B77E-F49B1A3C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69945"/>
            <a:ext cx="509587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報告分開寫觀察、模型解釋與未能排除的限制。</a:t>
            </a:r>
          </a:p>
        </p:txBody>
      </p:sp>
      <p:sp>
        <p:nvSpPr>
          <p:cNvPr id="8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46812418-902E-45A9-8869-19F24C78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25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可反駁的材料主張</a:t>
            </a:r>
          </a:p>
        </p:txBody>
      </p:sp>
      <p:sp>
        <p:nvSpPr>
          <p:cNvPr id="9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1DAB63DE-0694-41B9-8877-CBBE8948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與主張相符的量測</a:t>
            </a:r>
          </a:p>
        </p:txBody>
      </p:sp>
      <p:sp>
        <p:nvSpPr>
          <p:cNvPr id="1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E7972F03-8F2E-4D55-927F-59783F5E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15716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1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8BAF036E-E16C-4806-ADAB-E8107E0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2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D58C597-055A-4B34-85C4-5199992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17240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3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A19C04F9-65F2-4054-81AE-D721A840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對照與取樣範圍</a:t>
            </a:r>
          </a:p>
        </p:txBody>
      </p:sp>
      <p:sp>
        <p:nvSpPr>
          <p:cNvPr id="14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AC95D788-14AD-4DBD-B086-AA34B42C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242887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5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620B9733-99F6-46C3-B1A7-EA21A871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6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2284077C-8A51-413B-936C-B519F177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258127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7" name="diagram-component">
            <a:extLst xmlns:a="http://schemas.openxmlformats.org/drawingml/2006/main">
              <a:ext uri="{FF2B5EF4-FFF2-40B4-BE49-F238E27FC236}">
                <a16:creationId xmlns:a16="http://schemas.microsoft.com/office/drawing/2014/main" id="{C5B021BF-7C4B-4E91-8C3F-E44182A0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3829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7A86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35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支持程度及剩餘解釋</a:t>
            </a:r>
          </a:p>
        </p:txBody>
      </p:sp>
      <p:sp>
        <p:nvSpPr>
          <p:cNvPr id="18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3E756610-2FD8-485D-814B-C3F4E304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3286125"/>
            <a:ext cx="9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19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40A41235-82D0-4428-8A49-9B06F89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5337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0" name="diagram-line">
            <a:extLst xmlns:a="http://schemas.openxmlformats.org/drawingml/2006/main">
              <a:ext uri="{FF2B5EF4-FFF2-40B4-BE49-F238E27FC236}">
                <a16:creationId xmlns:a16="http://schemas.microsoft.com/office/drawing/2014/main" id="{5B580972-E2B8-427C-9869-7AB68B0D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10525" y="3438525"/>
            <a:ext cx="5715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47A86"/>
            </a:solidFill>
            <a:prstDash val="solid"/>
          </a:ln>
        </p:spPr>
      </p:sp>
      <p:sp>
        <p:nvSpPr>
          <p:cNvPr id="21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0B7B4F48-F878-4C1A-94AB-8D8AF40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400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125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研究推論流程，非任何儀器的操作流程</a:t>
            </a:r>
          </a:p>
        </p:txBody>
      </p:sp>
      <p:sp>
        <p:nvSpPr>
          <p:cNvPr id="22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BF0F1F9-DA32-4F8D-8431-EE30C39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C2BA4B49-E370-4771-8473-5B8D72D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24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B5237BBE-5AE9-48D8-BF71-E443D3A3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06-19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A645BD-7B5D-4A17-905D-AC7D659C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2812789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DB87BC-8B5E-445B-9850-81EF7AA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XRD：週期結構與繞射峰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831A640-8E23-4A0C-B81C-1CB46243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11BF25D-78B9-451D-BA00-A9B79426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X光繞射 XRD利用晶格散射的干涉。Bragg條件為 nλ = 2d sinθ。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A972AA4-5CDE-49FC-BF71-C5B08823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λ是波長，d是晶面間距，n是整數繞射階數，θ是Bragg角。儀器常畫2θ。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0E60A3A-771F-4D1C-B501-83B74BD2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峰位置與相及晶格有關。強度也受織構影響，不能只看單峰就定相。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4A69EA5-C151-43E1-95A1-FD49026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Scherrer式 Dcryst = Kλ/(β cosθ)估計相干晶域尺寸，β須用弧度並校正儀器展寬。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EEA2098B-0D0D-4118-9771-A150502C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峰寬也受微應變影響。沒有明顯峰不等於完全無晶體，薄膜訊號可能很弱。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059B0AB6-197E-4A9C-AC15-39C8CD2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AFA999F-37C6-47A9-936A-7604C598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1170374-D66C-4B2D-B999-4372D76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06-20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61E295-F6F2-4AE0-993D-FABC1F2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4018923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94CFA2-AF03-4EBC-8FE0-506E9FB6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XPS：表面化學與缺陷推論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4A34F13-1FD0-4B02-A4FA-7178F633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81FD173A-7D84-4ED7-892B-32D3F9BA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X光光電子能譜 XPS量測逸出電子動能。校準後 EB = hν - EK - W分析器。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BF68891-8E89-443B-AB36-F56E4E99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EB是束縛能，hν是光子能量，EK是動能。常規XPS對表面數奈米特別敏感。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2A6C88B4-A0FA-4F89-94C2-BA3B4C0D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元素峰與化學位移可支持化學態分析，但充電、污染與峰擬合都會影響解讀。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875FBC12-7823-41AC-9B54-E7FCAABC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O 1s肩峰可能包含羥基或吸附物，不能直接把該峰面積命名為氧空缺濃度。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35FE16A-C22F-455B-A56C-153EC513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深度剖析也可能因離子濺射改變化學態，須保留校準、擬合與製備紀錄。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63FF1F6A-34DC-4925-BD47-D0BA406F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A9D2E99-D083-4943-AC55-0590F21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6355E8C-9B28-4F04-A974-98F3AD6F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06-21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229D0B-D172-4A18-B0D8-A5D4A1AF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9789974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AEFFA6-6CDE-4B50-A2F6-F1835A61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AFM：表面高度與探針效應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96F491F-160D-426B-B959-5531703D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F262A19-9FAB-4E91-BB2F-38EFFB2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原子力顯微鏡 AFM以探針與樣品的作用力控制掃描，得到高度 h 的分布。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5C91A706-4573-4543-B26F-90E6DB2A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均方根粗糙度 Rq = √[平均 (h - h_mean)^(2)]；h_mean是平均高度。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79B9D14A-702C-48EA-9D5D-6212BFE8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有限探針尺寸會讓突起顯得更寬、窄溝難以量到底，並限制橫向形貌。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4A46D22-BE5B-4555-B6AD-117990F7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比較粗糙度必須交代掃描面積、像素、平整化處理與取樣位置。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4D2543CA-9E1E-45E7-80A9-739E1178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一般高度圖不能直接證明化學成分、氧空缺濃度或導電絲。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82B186A-0E0D-49BA-B70E-1C64B96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D19DBAB-0242-4C62-9EAB-A9B430CD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62599D02-6187-4F44-A618-9FD6612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06-22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DD22A1-879C-4CF8-9A30-3D6F3853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5654754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8B2A9A-66A9-41C1-9338-39B31298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SEM：訊號決定影像意義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7579D42-9DB4-42EA-9A78-89D6700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205A1873-5635-4677-BCC5-CDF8969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掃描電子顯微鏡 SEM用聚焦電子束逐點掃描，偵測訊號形成影像。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99C9C5A0-CF13-47E4-8A71-0E23A6F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二次電子常提供近表面的形貌對比。背向散射也可提供平均原子序差異。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A5679D4A-521A-4A40-83ED-0A0EE39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對比同時可能受幾何、晶向與充電影響。亮區不必然是某個指定元素。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D9F30CE-75D5-4E6C-841F-EB6B70AD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能量色散X光能譜（EDS）可提供元素資訊，其交互作用體積常大於電子束斑。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3DA9BA5-2F1E-48B4-8727-BA6C5FAF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鍍膜、充電與束流損傷會改變觀察。需記錄訊號通道與樣品製備。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9BAFA448-078E-4951-A82E-27E5D60C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22ABF68-23AA-42F7-8FAF-EEE426FF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56B27BDD-2B64-4E07-A16E-0B66985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06-23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6B3813-B540-4FD7-9466-0E1F7D2A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17618468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31206-9589-4836-93D1-9B1D6291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TEM：局部內部結構與製樣限制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48A5CC5-65B4-44B3-B723-4AAE42B9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B3637274-2A47-4AD7-A6A8-57C484D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穿透式電子顯微鏡 TEM讓電子通過薄樣品，可觀察局部內部結構與繞射。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ED26F82F-4708-489D-A0F4-2515E95F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高解析影像或繞射可支持晶格與相判定，解讀仍依賴厚度、取向及成像條件。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1F82BB8-5BC2-47C9-851C-FAAAE946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局部元素或能量損失分析可補充化學訊息，但須和影像位置對上。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DA914477-8F76-40F1-ACA9-2162124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聚焦離子束 FIB製樣與電子束都可能造成損傷、污染或結構改變。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8E65981B-F666-45A1-BD59-4AE1018A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單一切片中的線狀對比不能自動稱為導電絲，也可能錯過真正活性區。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6E66E3F-E6F1-44D0-B822-6C45D8D5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449849E-7FED-41DC-8893-F68E754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14ABF8C9-55DA-4ED0-8A8A-2ED5D385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06-24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37E81F-7DD3-4A02-A318-22646594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3160034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C8BF1B-0C10-4445-8B28-7B1CB021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練習3：擴散與漂移估計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DF38F69-8415-46E5-BE1B-53F8BCE7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1AEA963A-F83E-43A0-AEE8-C9340647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假設一維 D = 2.0 × 10^(-19) m^(2)/s，t = 100 s，先忽略邊界與陷阱。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434568A-81D3-4889-A21D-008C7AC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問題a：計算 Lrms = √(2Dt)，答案用 nm。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DB01C61C-FB8D-4C76-AB0A-04EB28D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另假設單正電物種 z = +1，T = 300 K，且符合 Nernst–Einstein條件。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FB7D0F85-8462-425B-AB10-5EF8ADF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問題b：用 kBT/q = 0.02585 V求 μmob，再以均勻 E_field = 1.0 × 10^(5) V/m求漂移距離。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5F0791F-9D71-4A77-B904-3CC2F555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問題c：可否據此預測真實RRAM的寫入時間？說明還缺什麼。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21CC7846-3803-40DC-8178-011C798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75C27781-742F-43EA-955A-F9A8791F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2E278014-C9E8-439C-865E-7FF1594C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06-25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901EBF-35AF-4CF6-A12B-D6687050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10493848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F2D2BD-21B3-480B-95BD-432E99B4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解答3：統計寬度與平均位移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61EDF9E-B847-4C13-AF5F-23C9E2E2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552E4BFB-A914-4490-9AD7-13B84F8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a．2Dt = 4.0 × 10^(-17) m^(2)，所以 Lrms = 6.32 × 10^(-9) m = 6.32 nm。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2C4F917A-85B9-4E35-9F83-C5C1CFA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b．μmob = D/(kBT/q) = (2.0 × 10^(-19))/0.02585 = 7.74 × 10^(-18) m^(2)/(V·s)。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9546991-44C1-4832-980F-C49DCD04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v = μmobE_field = 7.74 × 10^(-13) m/s，平均漂移距離 vt = 0.0774 nm。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7650D75-452C-4154-84EF-70F4BA42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擴散給出分布寬度，漂移給出平均偏移，兩者不能當成同一種距離。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93E2D5AE-D8F6-452A-B63B-10336FC7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c．還需電荷態、局域溫度與電場、邊界反應及切換判準，並驗證低場模型。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9EC42F7-03D7-4E38-943F-DA5C6A8F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6AF5653-9135-4380-B588-5BEDD718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F94FAC38-7B37-4CAB-AF04-1A8D7DBF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06-26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324517-3BA0-4F8A-ACFB-AB22EA95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5937449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56A685-0922-4078-8532-12047939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練習4：多技術的證據界線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B492B56-A834-4542-9B60-F05FA042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90028D5-4BCE-421F-8E31-8B937785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以下為假想觀察，不是實驗資料：XRD未見清楚薄膜峰，AFM表面平滑。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1FCAF425-3DE7-4339-8576-504E997B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另見XPS O 1s高束縛能肩峰，且一張TEM切片有細長對比。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E5133ACD-DF40-494F-8639-CFBC6832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問題a：是否足以宣稱「完全非晶、富氧空缺，且已直接看到導電絲」？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43BDC4D2-F6DE-41B8-BAF4-D978AC7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問題b：逐項寫出至少一個替代解釋。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1AD1859D-53CC-4ABE-964C-1007C2F6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問題c：提出兩個能增加證據力的對照，並寫出各自要檢驗的主張。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3B83A44A-0255-430C-BD56-CEACF9B4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346D3734-001B-4F13-BBEB-F706266B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C9DFD2F0-46D2-453E-8DBF-19D928A4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06-27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7BC4BA-08FF-4B14-9F95-8BCC29C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19697963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B1CFED-E664-4AA1-B5C1-A1F4A662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368"/>
            <a:ext cx="976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193F50"/>
                </a:solidFill>
                <a:latin typeface="Noto Sans CJK TC"/>
                <a:ea typeface="Noto Sans CJK TC"/>
                <a:cs typeface="Noto Sans CJK TC"/>
              </a:rPr>
              <a:t>解答4：觀察與機制之間</a:t>
            </a:r>
          </a:p>
        </p:txBody>
      </p:sp>
      <p:sp>
        <p:nvSpPr>
          <p:cNvPr id="2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EEF64F61-3D83-4EFE-A249-1E9BE0DB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638175"/>
            <a:ext cx="9782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D9D7"/>
            </a:solidFill>
            <a:prstDash val="solid"/>
          </a:ln>
        </p:spPr>
      </p:sp>
      <p:sp>
        <p:nvSpPr>
          <p:cNvPr id="3" name="block-0-paragraph-0">
            <a:extLst xmlns:a="http://schemas.openxmlformats.org/drawingml/2006/main">
              <a:ext uri="{FF2B5EF4-FFF2-40B4-BE49-F238E27FC236}">
                <a16:creationId xmlns:a16="http://schemas.microsoft.com/office/drawing/2014/main" id="{3A1BC70C-E202-41AF-83C8-344C8C10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a．證據不足。XRD弱訊號可能來自薄膜太薄、織構或晶域太小。</a:t>
            </a:r>
          </a:p>
        </p:txBody>
      </p:sp>
      <p:sp>
        <p:nvSpPr>
          <p:cNvPr id="4" name="block-0-paragraph-1">
            <a:extLst xmlns:a="http://schemas.openxmlformats.org/drawingml/2006/main">
              <a:ext uri="{FF2B5EF4-FFF2-40B4-BE49-F238E27FC236}">
                <a16:creationId xmlns:a16="http://schemas.microsoft.com/office/drawing/2014/main" id="{387CD948-BCA4-41F9-AC94-441ED347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22534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b．AFM平滑只描述取樣表面。O 1s肩峰也可能來自羥基、吸附物或充電處理。</a:t>
            </a:r>
          </a:p>
        </p:txBody>
      </p:sp>
      <p:sp>
        <p:nvSpPr>
          <p:cNvPr id="5" name="block-0-paragraph-2">
            <a:extLst xmlns:a="http://schemas.openxmlformats.org/drawingml/2006/main">
              <a:ext uri="{FF2B5EF4-FFF2-40B4-BE49-F238E27FC236}">
                <a16:creationId xmlns:a16="http://schemas.microsoft.com/office/drawing/2014/main" id="{B46EA666-6797-469C-A8D8-4EC9EE0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78293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TEM線狀對比可能來自投影、製樣損傷或其他結構，且未證明它承載電流。</a:t>
            </a:r>
          </a:p>
        </p:txBody>
      </p:sp>
      <p:sp>
        <p:nvSpPr>
          <p:cNvPr id="6" name="block-0-paragraph-3">
            <a:extLst xmlns:a="http://schemas.openxmlformats.org/drawingml/2006/main">
              <a:ext uri="{FF2B5EF4-FFF2-40B4-BE49-F238E27FC236}">
                <a16:creationId xmlns:a16="http://schemas.microsoft.com/office/drawing/2014/main" id="{1969118B-2700-4ADC-A99E-DD72C41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4051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c．同批不同電性狀態搭配多位置定位分析，可檢查線狀結構是否和切換一致。</a:t>
            </a:r>
          </a:p>
        </p:txBody>
      </p:sp>
      <p:sp>
        <p:nvSpPr>
          <p:cNvPr id="7" name="block-0-paragraph-4">
            <a:extLst xmlns:a="http://schemas.openxmlformats.org/drawingml/2006/main">
              <a:ext uri="{FF2B5EF4-FFF2-40B4-BE49-F238E27FC236}">
                <a16:creationId xmlns:a16="http://schemas.microsoft.com/office/drawing/2014/main" id="{6AFA42D7-BC29-4DDF-BAC3-46C121A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9810"/>
            <a:ext cx="97155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75" b="0">
                <a:solidFill>
                  <a:srgbClr val="283B47"/>
                </a:solidFill>
                <a:latin typeface="Noto Sans CJK TC"/>
                <a:ea typeface="Noto Sans CJK TC"/>
                <a:cs typeface="Noto Sans CJK TC"/>
              </a:rPr>
              <a:t>受控表面歷史、校準與互補化學分析，可檢查XPS肩峰是否支持特定缺陷假說。</a:t>
            </a:r>
          </a:p>
        </p:txBody>
      </p:sp>
      <p:sp>
        <p:nvSpPr>
          <p:cNvPr id="8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6ADA3C7-1C09-4BF4-931C-13765AB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5300" y="5634038"/>
            <a:ext cx="970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B64BADE-D32D-4153-9E69-05F4916A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435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l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RRAM 材料自學 · xinhi6716/computer-science-self-study</a:t>
            </a:r>
          </a:p>
        </p:txBody>
      </p:sp>
      <p:sp>
        <p:nvSpPr>
          <p:cNvPr id="10" name="source-slide-id">
            <a:extLst xmlns:a="http://schemas.openxmlformats.org/drawingml/2006/main">
              <a:ext uri="{FF2B5EF4-FFF2-40B4-BE49-F238E27FC236}">
                <a16:creationId xmlns:a16="http://schemas.microsoft.com/office/drawing/2014/main" id="{407AF3F0-2B03-454E-BE15-B9F5B7A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435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06-28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CCBF5C-AE47-41FC-AACA-28200718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43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defPPr>
            <a:lvl1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1pPr>
            <a:lvl2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2pPr>
            <a:lvl3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3pPr>
            <a:lvl4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4pPr>
            <a:lvl5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5pPr>
            <a:lvl6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6pPr>
            <a:lvl7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7pPr>
            <a:lvl8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8pPr>
            <a:lvl9pPr algn="r"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750" b="0">
                <a:solidFill>
                  <a:srgbClr val="657889"/>
                </a:solidFill>
                <a:latin typeface="Noto Sans CJK TC"/>
                <a:ea typeface="Noto Sans CJK TC"/>
                <a:cs typeface="Noto Sans CJK TC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542781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2026-10-29T04:49:16.1450000Z</dcterms:created>
  <dcterms:modified xsi:type="dcterms:W3CDTF">2026-10-29T04:49:16.1450000Z</dcterms:modified>
</coreProperties>
</file>