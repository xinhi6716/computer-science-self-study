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431ececf94195" /><Relationship Type="http://schemas.openxmlformats.org/officeDocument/2006/relationships/extended-properties" Target="/docProps/app.xml" Id="Rd174bc0df20f4c76" /><Relationship Type="http://schemas.openxmlformats.org/officeDocument/2006/relationships/officeDocument" Target="/ppt/presentation.xml" Id="Re52332135b17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fb19b457b4057"/>
  </p:sldMasterIdLst>
  <p:notesMasterIdLst>
    <p:notesMasterId xmlns:r="http://schemas.openxmlformats.org/officeDocument/2006/relationships" r:id="R98fa77b0b72a4128"/>
  </p:notesMasterIdLst>
  <p:sldIdLst>
    <p:sldId xmlns:r="http://schemas.openxmlformats.org/officeDocument/2006/relationships" id="256" r:id="Ra3cb0f571fc14c9a"/>
    <p:sldId xmlns:r="http://schemas.openxmlformats.org/officeDocument/2006/relationships" id="257" r:id="R3909f0742f114b9c"/>
    <p:sldId xmlns:r="http://schemas.openxmlformats.org/officeDocument/2006/relationships" id="258" r:id="Rbfafb1344e02478d"/>
    <p:sldId xmlns:r="http://schemas.openxmlformats.org/officeDocument/2006/relationships" id="259" r:id="R696161737e7b4619"/>
    <p:sldId xmlns:r="http://schemas.openxmlformats.org/officeDocument/2006/relationships" id="260" r:id="R5d87820fa4244287"/>
    <p:sldId xmlns:r="http://schemas.openxmlformats.org/officeDocument/2006/relationships" id="261" r:id="Rc266056e5faa4fb8"/>
    <p:sldId xmlns:r="http://schemas.openxmlformats.org/officeDocument/2006/relationships" id="262" r:id="Rb5da66113c2e439e"/>
    <p:sldId xmlns:r="http://schemas.openxmlformats.org/officeDocument/2006/relationships" id="263" r:id="Rd7b07f80e5bc42e4"/>
    <p:sldId xmlns:r="http://schemas.openxmlformats.org/officeDocument/2006/relationships" id="264" r:id="R05c1c3cd66ac44e5"/>
    <p:sldId xmlns:r="http://schemas.openxmlformats.org/officeDocument/2006/relationships" id="265" r:id="Rbb6aae08163d4672"/>
    <p:sldId xmlns:r="http://schemas.openxmlformats.org/officeDocument/2006/relationships" id="266" r:id="Rf6f8d28aa1d24b3e"/>
    <p:sldId xmlns:r="http://schemas.openxmlformats.org/officeDocument/2006/relationships" id="267" r:id="Rf4937543a90041a0"/>
    <p:sldId xmlns:r="http://schemas.openxmlformats.org/officeDocument/2006/relationships" id="268" r:id="R176304966fb3477d"/>
    <p:sldId xmlns:r="http://schemas.openxmlformats.org/officeDocument/2006/relationships" id="269" r:id="Rf92c12435781421e"/>
    <p:sldId xmlns:r="http://schemas.openxmlformats.org/officeDocument/2006/relationships" id="270" r:id="R61eba15beac44fd9"/>
    <p:sldId xmlns:r="http://schemas.openxmlformats.org/officeDocument/2006/relationships" id="271" r:id="Rc8408f4a00b2459a"/>
    <p:sldId xmlns:r="http://schemas.openxmlformats.org/officeDocument/2006/relationships" id="272" r:id="R19148e8fc6374345"/>
    <p:sldId xmlns:r="http://schemas.openxmlformats.org/officeDocument/2006/relationships" id="273" r:id="Rda2fbb0fead74e7a"/>
    <p:sldId xmlns:r="http://schemas.openxmlformats.org/officeDocument/2006/relationships" id="274" r:id="Re62d4f703d554dd5"/>
    <p:sldId xmlns:r="http://schemas.openxmlformats.org/officeDocument/2006/relationships" id="275" r:id="Rae3e4cc3d1cf4cd2"/>
    <p:sldId xmlns:r="http://schemas.openxmlformats.org/officeDocument/2006/relationships" id="276" r:id="R175e1d7ea3064999"/>
    <p:sldId xmlns:r="http://schemas.openxmlformats.org/officeDocument/2006/relationships" id="277" r:id="Rfaa583ffb9ea474a"/>
    <p:sldId xmlns:r="http://schemas.openxmlformats.org/officeDocument/2006/relationships" id="278" r:id="R2590487ce3494219"/>
    <p:sldId xmlns:r="http://schemas.openxmlformats.org/officeDocument/2006/relationships" id="279" r:id="Rc011ff230da646f2"/>
    <p:sldId xmlns:r="http://schemas.openxmlformats.org/officeDocument/2006/relationships" id="280" r:id="R1024da5cc8904d40"/>
    <p:sldId xmlns:r="http://schemas.openxmlformats.org/officeDocument/2006/relationships" id="281" r:id="Rb0fa7aa9b6a54606"/>
    <p:sldId xmlns:r="http://schemas.openxmlformats.org/officeDocument/2006/relationships" id="282" r:id="R6ff75df39bbb419b"/>
    <p:sldId xmlns:r="http://schemas.openxmlformats.org/officeDocument/2006/relationships" id="283" r:id="Rc78e9233eaac4b65"/>
    <p:sldId xmlns:r="http://schemas.openxmlformats.org/officeDocument/2006/relationships" id="284" r:id="R71dccf9f88d549be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97fcda3884f74" /><Relationship Type="http://schemas.openxmlformats.org/officeDocument/2006/relationships/slideMaster" Target="/ppt/slideMasters/slideMaster1.xml" Id="Refdfb19b457b4057" /><Relationship Type="http://schemas.openxmlformats.org/officeDocument/2006/relationships/notesMaster" Target="/ppt/notesMasters/notesMaster1.xml" Id="R98fa77b0b72a4128" /><Relationship Type="http://schemas.openxmlformats.org/officeDocument/2006/relationships/presProps" Target="/ppt/presProps.xml" Id="Reaae83121ad54a35" /><Relationship Type="http://schemas.openxmlformats.org/officeDocument/2006/relationships/tableStyles" Target="/ppt/tableStyles.xml" Id="R590f5f2e97334472" /><Relationship Type="http://schemas.openxmlformats.org/officeDocument/2006/relationships/slide" Target="/ppt/slides/slide1.xml" Id="Ra3cb0f571fc14c9a" /><Relationship Type="http://schemas.openxmlformats.org/officeDocument/2006/relationships/slide" Target="/ppt/slides/slide2.xml" Id="R3909f0742f114b9c" /><Relationship Type="http://schemas.openxmlformats.org/officeDocument/2006/relationships/slide" Target="/ppt/slides/slide3.xml" Id="Rbfafb1344e02478d" /><Relationship Type="http://schemas.openxmlformats.org/officeDocument/2006/relationships/slide" Target="/ppt/slides/slide4.xml" Id="R696161737e7b4619" /><Relationship Type="http://schemas.openxmlformats.org/officeDocument/2006/relationships/slide" Target="/ppt/slides/slide5.xml" Id="R5d87820fa4244287" /><Relationship Type="http://schemas.openxmlformats.org/officeDocument/2006/relationships/slide" Target="/ppt/slides/slide6.xml" Id="Rc266056e5faa4fb8" /><Relationship Type="http://schemas.openxmlformats.org/officeDocument/2006/relationships/slide" Target="/ppt/slides/slide7.xml" Id="Rb5da66113c2e439e" /><Relationship Type="http://schemas.openxmlformats.org/officeDocument/2006/relationships/slide" Target="/ppt/slides/slide8.xml" Id="Rd7b07f80e5bc42e4" /><Relationship Type="http://schemas.openxmlformats.org/officeDocument/2006/relationships/slide" Target="/ppt/slides/slide9.xml" Id="R05c1c3cd66ac44e5" /><Relationship Type="http://schemas.openxmlformats.org/officeDocument/2006/relationships/slide" Target="/ppt/slides/slide10.xml" Id="Rbb6aae08163d4672" /><Relationship Type="http://schemas.openxmlformats.org/officeDocument/2006/relationships/slide" Target="/ppt/slides/slide11.xml" Id="Rf6f8d28aa1d24b3e" /><Relationship Type="http://schemas.openxmlformats.org/officeDocument/2006/relationships/slide" Target="/ppt/slides/slide12.xml" Id="Rf4937543a90041a0" /><Relationship Type="http://schemas.openxmlformats.org/officeDocument/2006/relationships/slide" Target="/ppt/slides/slide13.xml" Id="R176304966fb3477d" /><Relationship Type="http://schemas.openxmlformats.org/officeDocument/2006/relationships/slide" Target="/ppt/slides/slide14.xml" Id="Rf92c12435781421e" /><Relationship Type="http://schemas.openxmlformats.org/officeDocument/2006/relationships/slide" Target="/ppt/slides/slide15.xml" Id="R61eba15beac44fd9" /><Relationship Type="http://schemas.openxmlformats.org/officeDocument/2006/relationships/slide" Target="/ppt/slides/slide16.xml" Id="Rc8408f4a00b2459a" /><Relationship Type="http://schemas.openxmlformats.org/officeDocument/2006/relationships/slide" Target="/ppt/slides/slide17.xml" Id="R19148e8fc6374345" /><Relationship Type="http://schemas.openxmlformats.org/officeDocument/2006/relationships/slide" Target="/ppt/slides/slide18.xml" Id="Rda2fbb0fead74e7a" /><Relationship Type="http://schemas.openxmlformats.org/officeDocument/2006/relationships/slide" Target="/ppt/slides/slide19.xml" Id="Re62d4f703d554dd5" /><Relationship Type="http://schemas.openxmlformats.org/officeDocument/2006/relationships/slide" Target="/ppt/slides/slide20.xml" Id="Rae3e4cc3d1cf4cd2" /><Relationship Type="http://schemas.openxmlformats.org/officeDocument/2006/relationships/slide" Target="/ppt/slides/slide21.xml" Id="R175e1d7ea3064999" /><Relationship Type="http://schemas.openxmlformats.org/officeDocument/2006/relationships/slide" Target="/ppt/slides/slide22.xml" Id="Rfaa583ffb9ea474a" /><Relationship Type="http://schemas.openxmlformats.org/officeDocument/2006/relationships/slide" Target="/ppt/slides/slide23.xml" Id="R2590487ce3494219" /><Relationship Type="http://schemas.openxmlformats.org/officeDocument/2006/relationships/slide" Target="/ppt/slides/slide24.xml" Id="Rc011ff230da646f2" /><Relationship Type="http://schemas.openxmlformats.org/officeDocument/2006/relationships/slide" Target="/ppt/slides/slide25.xml" Id="R1024da5cc8904d40" /><Relationship Type="http://schemas.openxmlformats.org/officeDocument/2006/relationships/slide" Target="/ppt/slides/slide26.xml" Id="Rb0fa7aa9b6a54606" /><Relationship Type="http://schemas.openxmlformats.org/officeDocument/2006/relationships/slide" Target="/ppt/slides/slide27.xml" Id="R6ff75df39bbb419b" /><Relationship Type="http://schemas.openxmlformats.org/officeDocument/2006/relationships/slide" Target="/ppt/slides/slide28.xml" Id="Rc78e9233eaac4b65" /><Relationship Type="http://schemas.openxmlformats.org/officeDocument/2006/relationships/slide" Target="/ppt/slides/slide29.xml" Id="R71dccf9f88d549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3958e7e1c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17bf6615a436f" /><Relationship Type="http://schemas.openxmlformats.org/officeDocument/2006/relationships/notesMaster" Target="/ppt/notesMasters/notesMaster1.xml" Id="Rffb34c1d7e7a4e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dff3055a2c464a" /><Relationship Type="http://schemas.openxmlformats.org/officeDocument/2006/relationships/notesMaster" Target="/ppt/notesMasters/notesMaster1.xml" Id="R71adf4b42c84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f6feba5e184d28" /><Relationship Type="http://schemas.openxmlformats.org/officeDocument/2006/relationships/notesMaster" Target="/ppt/notesMasters/notesMaster1.xml" Id="R5b3044a2385546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85e9f9a92497a" /><Relationship Type="http://schemas.openxmlformats.org/officeDocument/2006/relationships/notesMaster" Target="/ppt/notesMasters/notesMaster1.xml" Id="Rc4b949dc687a4b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88b6cc3824cf1" /><Relationship Type="http://schemas.openxmlformats.org/officeDocument/2006/relationships/notesMaster" Target="/ppt/notesMasters/notesMaster1.xml" Id="Raf3abb7258a846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aca925f6f497b" /><Relationship Type="http://schemas.openxmlformats.org/officeDocument/2006/relationships/notesMaster" Target="/ppt/notesMasters/notesMaster1.xml" Id="Rd5e5c3edc7e1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764ae4f1c4de0" /><Relationship Type="http://schemas.openxmlformats.org/officeDocument/2006/relationships/notesMaster" Target="/ppt/notesMasters/notesMaster1.xml" Id="R0beecb050e0843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f92bad33d4cf2" /><Relationship Type="http://schemas.openxmlformats.org/officeDocument/2006/relationships/notesMaster" Target="/ppt/notesMasters/notesMaster1.xml" Id="R04a11facc3844c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49758e058648a3" /><Relationship Type="http://schemas.openxmlformats.org/officeDocument/2006/relationships/notesMaster" Target="/ppt/notesMasters/notesMaster1.xml" Id="R286ad70d523a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534afca14492a" /><Relationship Type="http://schemas.openxmlformats.org/officeDocument/2006/relationships/notesMaster" Target="/ppt/notesMasters/notesMaster1.xml" Id="R6e40258fc57c43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b676bc850544f9" /><Relationship Type="http://schemas.openxmlformats.org/officeDocument/2006/relationships/notesMaster" Target="/ppt/notesMasters/notesMaster1.xml" Id="R16b4efa0944149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4734547b0b4e87" /><Relationship Type="http://schemas.openxmlformats.org/officeDocument/2006/relationships/notesMaster" Target="/ppt/notesMasters/notesMaster1.xml" Id="R1f0158ae249440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6c0a5cafd4444b" /><Relationship Type="http://schemas.openxmlformats.org/officeDocument/2006/relationships/notesMaster" Target="/ppt/notesMasters/notesMaster1.xml" Id="R77119fd9632347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30ca7b5a5046bf" /><Relationship Type="http://schemas.openxmlformats.org/officeDocument/2006/relationships/notesMaster" Target="/ppt/notesMasters/notesMaster1.xml" Id="R02f72444a16e4b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450a6e61584fec" /><Relationship Type="http://schemas.openxmlformats.org/officeDocument/2006/relationships/notesMaster" Target="/ppt/notesMasters/notesMaster1.xml" Id="R0d6ce0b6b0224c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337b49f37d4268" /><Relationship Type="http://schemas.openxmlformats.org/officeDocument/2006/relationships/notesMaster" Target="/ppt/notesMasters/notesMaster1.xml" Id="R7efa6247ffd047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59e12d520a4ca5" /><Relationship Type="http://schemas.openxmlformats.org/officeDocument/2006/relationships/notesMaster" Target="/ppt/notesMasters/notesMaster1.xml" Id="R9e14f31c58c149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d4eeb7f79d447e" /><Relationship Type="http://schemas.openxmlformats.org/officeDocument/2006/relationships/notesMaster" Target="/ppt/notesMasters/notesMaster1.xml" Id="Rb34065e8d1e34e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48ed2b0a4b4721" /><Relationship Type="http://schemas.openxmlformats.org/officeDocument/2006/relationships/notesMaster" Target="/ppt/notesMasters/notesMaster1.xml" Id="Ra4af213a06f84c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e1561820944f77" /><Relationship Type="http://schemas.openxmlformats.org/officeDocument/2006/relationships/notesMaster" Target="/ppt/notesMasters/notesMaster1.xml" Id="Rc3e96ff3e4024b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47f2fe6a7d41b7" /><Relationship Type="http://schemas.openxmlformats.org/officeDocument/2006/relationships/notesMaster" Target="/ppt/notesMasters/notesMaster1.xml" Id="R61866d83777542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40f06045494a2c" /><Relationship Type="http://schemas.openxmlformats.org/officeDocument/2006/relationships/notesMaster" Target="/ppt/notesMasters/notesMaster1.xml" Id="R19c61a52eadf43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27910ca83b4aa8" /><Relationship Type="http://schemas.openxmlformats.org/officeDocument/2006/relationships/notesMaster" Target="/ppt/notesMasters/notesMaster1.xml" Id="R458635e6572d4f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4717ac5cdb499e" /><Relationship Type="http://schemas.openxmlformats.org/officeDocument/2006/relationships/notesMaster" Target="/ppt/notesMasters/notesMaster1.xml" Id="R539448701dd6439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876a6f57794705" /><Relationship Type="http://schemas.openxmlformats.org/officeDocument/2006/relationships/notesMaster" Target="/ppt/notesMasters/notesMaster1.xml" Id="R7e2204fc67d84d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0327b1eb514369" /><Relationship Type="http://schemas.openxmlformats.org/officeDocument/2006/relationships/notesMaster" Target="/ppt/notesMasters/notesMaster1.xml" Id="R536ee7241e0742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b0129cc03e4e05" /><Relationship Type="http://schemas.openxmlformats.org/officeDocument/2006/relationships/notesMaster" Target="/ppt/notesMasters/notesMaster1.xml" Id="R7aa0849ad3da42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56d74a10cd4b89" /><Relationship Type="http://schemas.openxmlformats.org/officeDocument/2006/relationships/notesMaster" Target="/ppt/notesMasters/notesMaster1.xml" Id="Raf378a2e0a254d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0d8afeaa07472b" /><Relationship Type="http://schemas.openxmlformats.org/officeDocument/2006/relationships/notesMaster" Target="/ppt/notesMasters/notesMaster1.xml" Id="Rc59f8a1808e74e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週用於整合與口頭輸出。八週包含48個學習日、每天6小時核心，共288小時，實驗室觀摩與核准練習也計入，不能再疊加成無限工時。額外每日最多2小時只作選讀。此課程是資工背景的材料入門地圖，不等同材料系完整學位或獨立操作資格。 本課規劃權重中，原子／鍵結／缺陷14%、量子／固態／界面13%、熱力學／動力學12%、製程10%、表徵10%、RRAM14%，屬較深入核心。廣義材料類別與力學2%、光磁鐵電熱能概覽1%、計算材料與電化學等概覽1%。這是學習時數配置，並非入學審查比例，也不另加於288小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3.012｜結構、鍵結與熱力學課綱</a:t>
            </a:r>
          </a:p>
          <a:p xmlns:a="http://schemas.openxmlformats.org/drawingml/2006/main">
            <a:r>
              <a:t>https://ocw.mit.edu/courses/3-012-fundamentals-of-materials-science-fall-2005/pages/syllabus/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3.024｜電子、光學與磁性材料課綱</a:t>
            </a:r>
          </a:p>
          <a:p xmlns:a="http://schemas.openxmlformats.org/drawingml/2006/main">
            <a:r>
              <a:t>https://ocw.mit.edu/courses/3-024-electronic-optical-and-magnetic-properties-of-materials-spring-2013/pages/syllabus/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本頁的深度標記為課程配置，並非材料重要性的排名。高分子可導電，陶瓷也可能具電子或離子導電，不能將類別當作固定性質清單。與RRAM最直接的連結是成分、相、缺陷及界面如何改變載子與離子的行為。 本頁所屬廣義材料類別與力學概覽共2%約5.76小時，需與本週閱讀和面試活動整合，而非把本投影片全部列為額外時數。電極與氧化物的深入部分則計入核心缺陷、界面、製程與RRAM時數。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Washington｜材料類別教學</a:t>
            </a:r>
          </a:p>
          <a:p xmlns:a="http://schemas.openxmlformats.org/drawingml/2006/main">
            <a:r>
              <a:t>https://depts.washington.edu/matseed/ces_guide/materialclasses.htm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函數是把電子從材料費米能階帶到真空能階所需的能量。只靠功函數差通常不足以預測實際金屬／氧化物接觸。ECM研究顯示活性金屬離子形成導電細絲的可能性，具體是否發生仍需結構、組成或電化學證據。附著與擴散屬本週概覽，實際材料相容性需查實驗室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Washington｜金屬材料</a:t>
            </a:r>
          </a:p>
          <a:p xmlns:a="http://schemas.openxmlformats.org/drawingml/2006/main">
            <a:r>
              <a:t>https://depts.washington.edu/matseed/ces_guide/metals.htm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2012｜導電細絲原位觀察</a:t>
            </a:r>
          </a:p>
          <a:p xmlns:a="http://schemas.openxmlformats.org/drawingml/2006/main">
            <a:r>
              <a:t>https://www.nature.com/articles/ncomms1737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陶瓷常具高硬度與較低塑性，但這些是概括趨勢，不能取代對特定材料、溫度與微結構的測試。RRAM中的氧空缺並非唯一可能缺陷，也可能有金屬空缺、間隙原子、雜質與界面態。成分量測、結構量測及電性需要彼此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Washington｜陶瓷材料</a:t>
            </a:r>
          </a:p>
          <a:p xmlns:a="http://schemas.openxmlformats.org/drawingml/2006/main">
            <a:r>
              <a:t>https://depts.washington.edu/matseed/ces_guide/ceramics.htm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6.152J｜濺鍍與薄膜成分</a:t>
            </a:r>
          </a:p>
          <a:p xmlns:a="http://schemas.openxmlformats.org/drawingml/2006/main">
            <a:r>
              <a:t>https://www.ocw.mit.edu/courses/6-152j-micro-nano-processing-technology-fall-2005/8a19f6228fc08e9f9fb07393eabe5d67_pvd_1.pdf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g為玻璃轉移溫度，Tm為熔點。高分子可能兼具非晶與結晶區，測試頻率、溫度與歷史會影響觀察到的力學回應。2021年聚合物記憶體研究提供分子設計、形貌與切換關聯的案例，不能將其性能視為所有聚合物的通性。此處不提供溶劑、合成或製程操作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Washington｜高分子材料</a:t>
            </a:r>
          </a:p>
          <a:p xmlns:a="http://schemas.openxmlformats.org/drawingml/2006/main">
            <a:r>
              <a:t>https://depts.washington.edu/matseed/ces_guide/polymers.htm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Zhang et al. 2021｜聚合物奈米記憶體原始研究</a:t>
            </a:r>
          </a:p>
          <a:p xmlns:a="http://schemas.openxmlformats.org/drawingml/2006/main">
            <a:r>
              <a:t>https://www.nature.com/articles/s41467-021-22243-8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3.091｜高分子玻璃轉移與熔融</a:t>
            </a:r>
          </a:p>
          <a:p xmlns:a="http://schemas.openxmlformats.org/drawingml/2006/main">
            <a:r>
              <a:t>https://ocw.mit.edu/courses/3-091-introduction-to-solid-state-chemistry-fall-2018/iPzRbK3wApI_transcript.pdf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滲流（percolation）描述連通網路形成。體積分率相同而形狀或分布不同時，形成跨越樣品的通路機率可能不同。金屬／聚合物原始研究同時比較電性與熱性，提醒我們不同傳輸機制不必共享相同門檻。本課不推導臨界指數，也不將靜態滲流模型直接等同於動態細絲切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Washington｜複合材料</a:t>
            </a:r>
          </a:p>
          <a:p xmlns:a="http://schemas.openxmlformats.org/drawingml/2006/main">
            <a:r>
              <a:t>https://depts.washington.edu/matseed/ces_guide/composites.htm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Mamunya et al. 2002｜金屬／聚合物複材滲流研究</a:t>
            </a:r>
          </a:p>
          <a:p xmlns:a="http://schemas.openxmlformats.org/drawingml/2006/main">
            <a:r>
              <a:t>https://doi.org/10.1002/pen.10930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概覽公式：小應變單軸線彈性區有σ=Yε，σ為應力、Y為Young模數、ε為應變。不要將應變ε與電性中的介電常數ε混淆。熱流密度的一維傅立葉式為j_Q=-κ dT/dx，在指定過程與近似常熱容量區間，C≈ΔQ/ΔT，Q為熱量、T為溫度，須避開相變與未計入的做功。上述公式各有假設，本課只要求知道量綱與物理問題，不要求完整連續體力學或傳熱求解。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16.01｜材料韌性與類別教學</a:t>
            </a:r>
          </a:p>
          <a:p xmlns:a="http://schemas.openxmlformats.org/drawingml/2006/main">
            <a:r>
              <a:t>https://ocw.mit.edu/courses/16-01-unified-engineering-i-ii-iii-iv-fall-2005-spring-2006/a6dca6c164b1701c7e666c3964a9c6c4_gm14_18notes2.pdf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6.777J｜薄膜熱應力講義</a:t>
            </a:r>
          </a:p>
          <a:p xmlns:a="http://schemas.openxmlformats.org/drawingml/2006/main">
            <a:r>
              <a:t>https://ocw.mit.edu/courses/6-777j-design-and-fabrication-of-microelectromechanical-devices-spring-2007/1654337d7c64fdb073b2ab3b4aac7688_07lecture06split.pdf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4.401｜熱容量與熱傳導</a:t>
            </a:r>
          </a:p>
          <a:p xmlns:a="http://schemas.openxmlformats.org/drawingml/2006/main">
            <a:r>
              <a:t>https://ocw.mit.edu/courses/4-401-environmental-technologies-in-buildings-fall-2018/c03cdb9ea591216d81a3f2febd616a3c_MIT4_401F18_lec12.pdf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折射率n與第07份的載子濃度n是不同物理量，文獻閱讀時需看定義。光譜可以協助了解電子態，但不能只憑吸收邊就斷言低偏壓導電機制。磁性與氧化態可能在特定氧化物中耦合，仍需個別驗證。本頁沒有宣稱傳統兩端RRAM皆以磁性儲存資訊。 光、磁、鐵電、熱與能源等概覽合計1%約2.88小時。深入熱力學與RRAM局部發熱仍歸入核心對應單元，不應誤解為所有熱學只讀1%。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3.024｜電子、光學與磁性材料課綱</a:t>
            </a:r>
          </a:p>
          <a:p xmlns:a="http://schemas.openxmlformats.org/drawingml/2006/main">
            <a:r>
              <a:t>https://ocw.mit.edu/courses/3-024-electronic-optical-and-magnetic-properties-of-materials-spring-2013/pages/syllabus/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3.024｜光學與磁性講義索引</a:t>
            </a:r>
          </a:p>
          <a:p xmlns:a="http://schemas.openxmlformats.org/drawingml/2006/main">
            <a:r>
              <a:t>https://ocw.mit.edu/courses/3-024-electronic-optical-and-magnetic-properties-of-materials-spring-2013/pages/lecture-notes/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數值是教學假設，並非加熱或退火建議。α差以絕對值表示，因此只算不匹配量，不判定張應力或壓應力方向。對理想薄膜／厚基板、均勻等向線彈性等條件，可使用雙軸模數估計應力，但真實薄膜可能塑性鬆弛、開裂或剝離。若ΔT以K或攝氏度溫差表示，數值相同，絕對溫度則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6.777J｜薄膜熱應力講義</a:t>
            </a:r>
          </a:p>
          <a:p xmlns:a="http://schemas.openxmlformats.org/drawingml/2006/main">
            <a:r>
              <a:t>https://ocw.mit.edu/courses/6-777j-design-and-fabrication-of-microelectromechanical-devices-spring-2007/1654337d7c64fdb073b2ab3b4aac7688_07lecture06split.pdf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允許使用前面的材料概覽。先區分元件層的功能與化學類別，再提可檢驗的因果路徑。實際彎曲量測需專門治具、核准程序及接觸穩定性評估，此題不要求實際操作。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Washington｜材料類別教學</a:t>
            </a:r>
          </a:p>
          <a:p xmlns:a="http://schemas.openxmlformats.org/drawingml/2006/main">
            <a:r>
              <a:t>https://depts.washington.edu/matseed/ces_guide/materialclasses.htm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6.777J｜薄膜熱應力講義</a:t>
            </a:r>
          </a:p>
          <a:p xmlns:a="http://schemas.openxmlformats.org/drawingml/2006/main">
            <a:r>
              <a:t>https://ocw.mit.edu/courses/6-777j-design-and-fabrication-of-microelectromechanical-devices-spring-2007/1654337d7c64fdb073b2ab3b4aac7688_07lecture06split.pdf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答案不排除缺陷或界面能態改變，而是避免在沒有證據時優先採納最吸引人的故事。若學生提出電極局部脫層、有效接觸面積或環境吸附等替代解釋，也屬合理。進一步實驗應先確認可逆性與量測接觸，再規劃材料表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University of Washington｜金屬材料</a:t>
            </a:r>
          </a:p>
          <a:p xmlns:a="http://schemas.openxmlformats.org/drawingml/2006/main">
            <a:r>
              <a:t>https://depts.washington.edu/matseed/ces_guide/metals.htm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Washington｜陶瓷材料</a:t>
            </a:r>
          </a:p>
          <a:p xmlns:a="http://schemas.openxmlformats.org/drawingml/2006/main">
            <a:r>
              <a:t>https://depts.washington.edu/matseed/ces_guide/ceramics.htm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Washington｜高分子材料</a:t>
            </a:r>
          </a:p>
          <a:p xmlns:a="http://schemas.openxmlformats.org/drawingml/2006/main">
            <a:r>
              <a:t>https://depts.washington.edu/matseed/ces_guide/polymers.htm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6.777J｜薄膜熱應力講義</a:t>
            </a:r>
          </a:p>
          <a:p xmlns:a="http://schemas.openxmlformats.org/drawingml/2006/main">
            <a:r>
              <a:t>https://ocw.mit.edu/courses/6-777j-design-and-fabrication-of-microelectromechanical-devices-spring-2007/1654337d7c64fdb073b2ab3b4aac7688_07lecture06split.pdf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創閱讀框架。建議先看問題與主要圖，再回方法及補充資料，最後重新閱讀摘要。以TiO_2原始研究為例，可區分介面角色、局部切換、氧空缺配置控制等不同證據層級，不必把所有圖都視為同一種證明。無法取得全文時，明確標示只讀到摘要，不能聲稱已審閱完整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SD是standard deviation，SEM是standard error of the mean。對n個獨立同分布觀察，SEM≈SD/√n，但序列相關循環不能直接代入獨立假設。信賴區間、標準不確定度與個體分布區間是不同概念。誤差棒重疊與否不能取代事先選定且適合設計的統計比較。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NIST｜Type A 標準不確定度</a:t>
            </a:r>
          </a:p>
          <a:p xmlns:a="http://schemas.openxmlformats.org/drawingml/2006/main">
            <a:r>
              <a:t>https://physics.nist.gov/cuu/Uncertainty/typea.html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數據自編，沒有實驗意義。A組平方偏差和為1+0+1=2，除以2再開根號得1。B組為16+0+16=32，除以2再開根號得4。SEM計算為SD/√3。三點估計相當不穩定，此算例只練習概念，不能推論母體常態或統計顯著。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NIST｜Type A 標準不確定度</a:t>
            </a:r>
          </a:p>
          <a:p xmlns:a="http://schemas.openxmlformats.org/drawingml/2006/main">
            <a:r>
              <a:t>https://physics.nist.gov/cuu/Uncertainty/typea.html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先別急著計算p值。題目沒有足夠資訊判斷變化來自處理、老化、接觸或讀取擾動。請明確指出100個循環並不是100個獨立元件，也不要把下降自動等同改善，因為改善需依功能門檻定義。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Garbin et al. 2016｜OxRAM 變異模型原始研究</a:t>
            </a:r>
          </a:p>
          <a:p xmlns:a="http://schemas.openxmlformats.org/drawingml/2006/main">
            <a:r>
              <a:t>https://doi.org/10.1016/j.sse.2015.09.004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NIST｜Type A 標準不確定度</a:t>
            </a:r>
          </a:p>
          <a:p xmlns:a="http://schemas.openxmlformats.org/drawingml/2006/main">
            <a:r>
              <a:t>https://physics.nist.gov/cuu/Uncertainty/typea.html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可接受的缺失資訊包括誤差棒意義、原始資料、循環順序、量測極性、限流與環境。重點是挑能改變推論的資訊，而不是無限加清單。若下降發生在高阻態，反而可能縮小記憶窗，因此不能只看某一數字變小。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Garbin et al. 2016｜OxRAM 變異模型原始研究</a:t>
            </a:r>
          </a:p>
          <a:p xmlns:a="http://schemas.openxmlformats.org/drawingml/2006/main">
            <a:r>
              <a:t>https://doi.org/10.1016/j.sse.2015.09.004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NIST｜Type A 標準不確定度</a:t>
            </a:r>
          </a:p>
          <a:p xmlns:a="http://schemas.openxmlformats.org/drawingml/2006/main">
            <a:r>
              <a:t>https://physics.nist.gov/cuu/Uncertainty/typea.html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為自編面試專題，不能冒稱已執行。濺鍍是此課主線，但具體製程條件必須由實驗室安全訓練、設備狀態與指導者核准。組成可影響缺陷，但XPS表面訊號與體相缺陷不能直接畫等號。若只有電性改變，結論先限定於電性，機制留作待驗假說。 製程處理以整批施加時，批次是獨立實驗單位，片上多顆元件屬巢狀抽樣。每個日期區集盡可能包含兩種條件的獨立批次。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6.152J｜濺鍍與薄膜成分</a:t>
            </a:r>
          </a:p>
          <a:p xmlns:a="http://schemas.openxmlformats.org/drawingml/2006/main">
            <a:r>
              <a:t>https://www.ocw.mit.edu/courses/6-152j-micro-nano-processing-technology-fall-2005/8a19f6228fc08e9f9fb07393eabe5d67_pvd_1.pdf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Morgan 2023｜Ceria XPS 與氧空缺指派原始分析</a:t>
            </a:r>
          </a:p>
          <a:p xmlns:a="http://schemas.openxmlformats.org/drawingml/2006/main">
            <a:r>
              <a:t>https://doi.org/10.1002/sia.7254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這是自編邏輯算例，不包含真實量測。XPS量測電子能量，缺少氧原子的空位不會直接產生其自身O 1s光電子峰。化學環境改變可能影響附近原子的訊號，但需考慮吸附、羥基、充電與多個核心能級的自洽性。對特定氧化物的研究結論不可泛化為所有材料的固定峰位置。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Morgan 2023｜Ceria XPS 與氧空缺指派原始分析</a:t>
            </a:r>
          </a:p>
          <a:p xmlns:a="http://schemas.openxmlformats.org/drawingml/2006/main">
            <a:r>
              <a:t>https://doi.org/10.1002/sia.7254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JVST A 2020｜XPS 峰擬合實務指南</a:t>
            </a:r>
          </a:p>
          <a:p xmlns:a="http://schemas.openxmlformats.org/drawingml/2006/main">
            <a:r>
              <a:t>https://doi.org/10.1116/6.0000377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可先使用現有原始資料做完整報告、稽核程式與重建分析，這些不需要新增設備操作。若需額外樣品或實驗，應明確寫成待核准計畫。研究批判聚焦於可改善的方法，不推測作者動機或誠信。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確答案應承認探索性小樣本也有價值，問題在於主張超出資料。若觀測本身只包括單次I–V，連可重複切換都未確認，結論還需改為「出現切換樣訊號」。技術面可先檢查接觸、限流、狀態歷史與程式輸出，避免新增大量實驗卻沿用錯誤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1模型：我想把資料管線與模型驗證能力用在元件變異問題，同時補上固態物理與安全操作。追問陷阱是「你已做過嗎」；未實作就說這是計畫，證據可展示實際完成的自編分析，不冒稱研究經驗。Q2模型：大能隙抑制理想本徵熱激發，但缺陷態、電極注入與穿隧仍可導電。追問陷阱是只靠能隙推導總漏電；需要溫度、厚度與界面證據。Q3模型：氧空缺是缺失氧的結構缺陷，其電荷態取決於電子佔據與環境。追問陷阱是固定寫成每個空缺都提供兩個自由電子；需材料及費米能階條件。Q4模型：自由能影響驅動方向，能障與傳輸控制時間尺度。追問陷阱是把平衡預測當作瞬間反應；需要時間與溫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3.012｜結構、鍵結與熱力學課綱</a:t>
            </a:r>
          </a:p>
          <a:p xmlns:a="http://schemas.openxmlformats.org/drawingml/2006/main">
            <a:r>
              <a:t>https://ocw.mit.edu/courses/3-012-fundamentals-of-materials-science-fall-2005/pages/syllabus/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3.024｜電子、光學與磁性材料課綱</a:t>
            </a:r>
          </a:p>
          <a:p xmlns:a="http://schemas.openxmlformats.org/drawingml/2006/main">
            <a:r>
              <a:t>https://ocw.mit.edu/courses/3-024-electronic-optical-and-magnetic-properties-of-materials-spring-2013/pages/syllabus/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5模型：濺鍍產額、傳輸、再濺鍍與反應可能造成成分差異，需獨立量測及位置資訊。追問陷阱是保證任何化合物靶都完全轉移，邊界是設備與條件依賴。Q6模型：HRS與LRS分別是高低阻態，需指定讀取電壓和歷史；傳導機制與切換機制另行驗證。追問陷阱是把LRS自動等同金屬細絲，需局部或成分證據。Q7模型：斜率2與理想SCLC相容，但接觸、陷阱和壓降假設要成立。追問陷阱是只報R^(2)，需要原尺度殘差與厚度等控制。Q8模型：循環存活與靜置保留是不同終點，寫入強度與讀取也可能影響結果。追問陷阱是短時間外推多年，需加速模型、失效一致性與不確定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6.152J｜濺鍍與薄膜成分</a:t>
            </a:r>
          </a:p>
          <a:p xmlns:a="http://schemas.openxmlformats.org/drawingml/2006/main">
            <a:r>
              <a:t>https://www.ocw.mit.edu/courses/6-152j-micro-nano-processing-technology-fall-2005/8a19f6228fc08e9f9fb07393eabe5d67_pvd_1.pdf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8.4.3｜可靠度外推限制</a:t>
            </a:r>
          </a:p>
          <a:p xmlns:a="http://schemas.openxmlformats.org/drawingml/2006/main">
            <a:r>
              <a:t>https://www.itl.nist.gov/div898/handbook/apr/section4/apr43.htm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9模型：循環共享同一元件並可能老化，需分開元件內與元件間分散。追問陷阱是把總點數直接代入SEM，需獨立樣本與階層資訊。Q10模型：先建立條件對照表，再找能同時解釋差異的假設。追問陷阱是依期刊或引用數選勝者，證據需來自方法與原始圖。Q11模型：先確認操作資格和資料流程，重建基準，再提出可控的小實驗。追問陷阱是承諾一月內成功或高性能，邊界是設備、時間與核准條件。Q12模型：例如「我知道可能有注入與陷阱兩類限制，但缺少溫度和接觸資料，目前無法判定；我會先查模型假設並比較相應控制。」追問陷阱是用術語掩飾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Garbin et al. 2016｜OxRAM 變異模型原始研究</a:t>
            </a:r>
          </a:p>
          <a:p xmlns:a="http://schemas.openxmlformats.org/drawingml/2006/main">
            <a:r>
              <a:t>https://doi.org/10.1016/j.sse.2015.09.004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法：先獨立閱讀原文圖2–5及其方法，再進行20分鐘開卷問答。閱讀原文圖說與方法，區分直接觀察及作者推論。主持追問1「這張圖實際量到什麼」：答案應區分量測電流與推論細絲。追問2「為什麼其他模型不適合」：可討論擬合參數、溫度趨勢與作者固定參數的假設。追問3「長期保留結論憑什麼」：需分清觀察與外推，並檢查模型。最後以觀察正確、假設明確、替代解釋、下一步合理各0–2分自評，不設錄取判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8.4.3｜可靠度外推限制</a:t>
            </a:r>
          </a:p>
          <a:p xmlns:a="http://schemas.openxmlformats.org/drawingml/2006/main">
            <a:r>
              <a:t>https://www.itl.nist.gov/div898/handbook/apr/section4/apr43.htm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可依序問：「若膜厚也不同，你怎麼分辨？」「如果只一顆成功，怎麼報告？」「如果面積無關，就能宣布細絲嗎？」「XPS肩峰能直接數空缺嗎？」參考方向依序是控制混淆、保留所有樣品、承認替代解釋、檢查化學指派。閉卷時允許說不知道，不要求背出不熟悉方程。回顧使用同一四項0–2分規準，只用於決定補課，不作人格或學術潛力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Morgan 2023｜Ceria XPS 與氧空缺指派原始分析</a:t>
            </a:r>
          </a:p>
          <a:p xmlns:a="http://schemas.openxmlformats.org/drawingml/2006/main">
            <a:r>
              <a:t>https://doi.org/10.1002/sia.7254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2012｜導電細絲原位觀察</a:t>
            </a:r>
          </a:p>
          <a:p xmlns:a="http://schemas.openxmlformats.org/drawingml/2006/main">
            <a:r>
              <a:t>https://www.nature.com/articles/ncomms1737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先寫150–250個中文字再口頭計時，依個人語速調整。不得寫成已完成實驗或保證效果。本題不需要個人背景、私有資料或真正的研究成果。請至少使用一個「如果觀察到X，則會降低我對假說Y的信心」的可反駁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問一：電流增加就是改善嗎？答：未必，需依記憶窗、寫入成功與保留等預定目標評估。追問二：為何使用log電阻？答：若跨多個數量級，可便於描述相對變化，但仍要顯示原尺度分布並檢查統計假設。示例最後可補「所有操作依受訓範圍與SOP，新增條件先確認」。評分著重邏輯與可查證性，不比較華麗用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清單應以可展示的作業與口頭說明判斷，不以看過多少影片或記住多少名詞判斷。若單位或I–V基礎仍不穩，回到第01與04份。若能帶、熱力學或擴散不穩，回到第05–06份。若容易過度推論，重做第07份控制設計與本份圖說練習。八週提供扎實起點，不承諾全面掌握材料科學或保證博士錄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OCW 3.012｜結構、鍵結與熱力學課綱</a:t>
            </a:r>
          </a:p>
          <a:p xmlns:a="http://schemas.openxmlformats.org/drawingml/2006/main">
            <a:r>
              <a:t>https://ocw.mit.edu/courses/3-012-fundamentals-of-materials-science-fall-2005/pages/syllabus/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OCW 3.024｜電子、光學與磁性材料課綱</a:t>
            </a:r>
          </a:p>
          <a:p xmlns:a="http://schemas.openxmlformats.org/drawingml/2006/main">
            <a:r>
              <a:t>https://ocw.mit.edu/courses/3-024-electronic-optical-and-magnetic-properties-of-materials-spring-2013/pages/syllabus/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DRAM為動態隨機存取記憶體。ACT是activation，讓電容與位線分享電荷，感測放大器判讀並恢復電荷（restore）。列緩衝器row buffer由感測放大器保存開啟列資料。READ可在回復尚未全部完成時開始，因此不可把感測、回復與輸出時間一律相加。PRE是precharge，隔離儲存單元並平衡位線，並非回復電容資料的命令。週期refresh為避免閒置漏電造成遺失，會觸發內部感測與回復，但與每次READ命令不同。RRAM也有周邊電路與線路RC延遲，寫入驗證（write–verify）是讀回檢查目標狀態，必要時再給脈衝。NeuRRAM提供此類演算法的實作例，不代表所有RRAM都用相同流程。需比較相同容量、讀寫工作負載、列命中情境及可靠度要求，不能宣稱RRAM普遍較快或必定少一個步驟。CMU來源參見第2.2–2.4節，印刷頁13–19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Donghyuk Lee 2016｜CMU博士論文第2章，DRAM操作與延遲</a:t>
            </a:r>
          </a:p>
          <a:p xmlns:a="http://schemas.openxmlformats.org/drawingml/2006/main">
            <a:r>
              <a:t>https://research.ece.cmu.edu/safari/thesis/dlee_dissertation.pdf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Wan et al. 2022｜NeuRRAM原始研究與write–verify</a:t>
            </a:r>
          </a:p>
          <a:p xmlns:a="http://schemas.openxmlformats.org/drawingml/2006/main">
            <a:r>
              <a:t>https://www.nature.com/articles/s41586-022-04992-8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1995272c04a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1b13b48d94f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4e95eb8d24e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2138e5b3048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93c53a4c444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35a87519f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4A8AC-618F-4E3E-BBC5-705A4A6BF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EF1B12-437C-40AF-9588-499370E7D4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4961C7-6E56-4C8F-ACD4-588E93630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6AA1C4-692E-4E1F-9FE7-2F52CC992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B17753-FFDA-41E3-B1D0-7A24D6B92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5F2B96-C692-4168-AB27-A1D87C809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4BB301-9834-43D4-AFED-9172D48DD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935C66-9573-486E-95B8-A473D77046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637810-7AB7-43EC-BEB1-5BC4A503B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C4F52F-2A94-4254-AB76-3D4C0AACE2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a9b539e341498f" /><Relationship Type="http://schemas.openxmlformats.org/officeDocument/2006/relationships/slideLayout" Target="/ppt/slideLayouts/slideLayout1.xml" Id="R98579b3c5dd74286" /><Relationship Type="http://schemas.openxmlformats.org/officeDocument/2006/relationships/slideLayout" Target="/ppt/slideLayouts/slideLayout2.xml" Id="R386a583ea54c4059" /><Relationship Type="http://schemas.openxmlformats.org/officeDocument/2006/relationships/slideLayout" Target="/ppt/slideLayouts/slideLayout3.xml" Id="R3362dc0149e044d2" /><Relationship Type="http://schemas.openxmlformats.org/officeDocument/2006/relationships/slideLayout" Target="/ppt/slideLayouts/slideLayout4.xml" Id="Rdfcec5bc050740a4" /><Relationship Type="http://schemas.openxmlformats.org/officeDocument/2006/relationships/slideLayout" Target="/ppt/slideLayouts/slideLayout5.xml" Id="R382331ef66ee4a91" /><Relationship Type="http://schemas.openxmlformats.org/officeDocument/2006/relationships/slideLayout" Target="/ppt/slideLayouts/slideLayout6.xml" Id="R1bad1632b1ed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79b3c5dd74286"/>
    <p:sldLayoutId xmlns:r="http://schemas.openxmlformats.org/officeDocument/2006/relationships" id="2147483650" r:id="R386a583ea54c4059"/>
    <p:sldLayoutId xmlns:r="http://schemas.openxmlformats.org/officeDocument/2006/relationships" id="2147483651" r:id="R3362dc0149e044d2"/>
    <p:sldLayoutId xmlns:r="http://schemas.openxmlformats.org/officeDocument/2006/relationships" id="2147483652" r:id="Rdfcec5bc050740a4"/>
    <p:sldLayoutId xmlns:r="http://schemas.openxmlformats.org/officeDocument/2006/relationships" id="2147483653" r:id="R382331ef66ee4a91"/>
    <p:sldLayoutId xmlns:r="http://schemas.openxmlformats.org/officeDocument/2006/relationships" id="2147483654" r:id="R1bad1632b1ed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d336414824413" /><Relationship Type="http://schemas.openxmlformats.org/officeDocument/2006/relationships/notesSlide" Target="/ppt/notesSlides/notesSlide1.xml" Id="Rf48f98f97b2c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7cc356e01408e" /><Relationship Type="http://schemas.openxmlformats.org/officeDocument/2006/relationships/notesSlide" Target="/ppt/notesSlides/notesSlide2.xml" Id="Rb7c6ddf687ea4b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2e408f11d4645" /><Relationship Type="http://schemas.openxmlformats.org/officeDocument/2006/relationships/notesSlide" Target="/ppt/notesSlides/notesSlide3.xml" Id="R289828cc7f91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ef70acdb346fd" /><Relationship Type="http://schemas.openxmlformats.org/officeDocument/2006/relationships/notesSlide" Target="/ppt/notesSlides/notesSlide4.xml" Id="R9e8ee7a71c45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3a5d8d1a04afd" /><Relationship Type="http://schemas.openxmlformats.org/officeDocument/2006/relationships/notesSlide" Target="/ppt/notesSlides/notesSlide5.xml" Id="R18e44c16eb13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fb5796be04acf" /><Relationship Type="http://schemas.openxmlformats.org/officeDocument/2006/relationships/notesSlide" Target="/ppt/notesSlides/notesSlide6.xml" Id="Rcc28457f7a814b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ec05093de4a4c" /><Relationship Type="http://schemas.openxmlformats.org/officeDocument/2006/relationships/notesSlide" Target="/ppt/notesSlides/notesSlide7.xml" Id="R1af5dcc3c71249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fabf3d2634f7b" /><Relationship Type="http://schemas.openxmlformats.org/officeDocument/2006/relationships/notesSlide" Target="/ppt/notesSlides/notesSlide8.xml" Id="Rda9108d844ab46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8cae87b3447cd" /><Relationship Type="http://schemas.openxmlformats.org/officeDocument/2006/relationships/notesSlide" Target="/ppt/notesSlides/notesSlide9.xml" Id="R184297b50e5d4a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535b0c4864361" /><Relationship Type="http://schemas.openxmlformats.org/officeDocument/2006/relationships/notesSlide" Target="/ppt/notesSlides/notesSlide10.xml" Id="R6f3d04b70fed4e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3b8a7c32a4aed" /><Relationship Type="http://schemas.openxmlformats.org/officeDocument/2006/relationships/notesSlide" Target="/ppt/notesSlides/notesSlide11.xml" Id="Rc2d4cbd3b3c449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70652cb8446db" /><Relationship Type="http://schemas.openxmlformats.org/officeDocument/2006/relationships/notesSlide" Target="/ppt/notesSlides/notesSlide12.xml" Id="R77a7968a599e44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8a00da4734f93" /><Relationship Type="http://schemas.openxmlformats.org/officeDocument/2006/relationships/notesSlide" Target="/ppt/notesSlides/notesSlide13.xml" Id="R2e4ab7f882984e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6acb168b84b7e" /><Relationship Type="http://schemas.openxmlformats.org/officeDocument/2006/relationships/notesSlide" Target="/ppt/notesSlides/notesSlide14.xml" Id="R3dbab0f892e543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85028ae554c56" /><Relationship Type="http://schemas.openxmlformats.org/officeDocument/2006/relationships/notesSlide" Target="/ppt/notesSlides/notesSlide15.xml" Id="R30e3182d06a34f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70551af57445b" /><Relationship Type="http://schemas.openxmlformats.org/officeDocument/2006/relationships/notesSlide" Target="/ppt/notesSlides/notesSlide16.xml" Id="R318055b21f4c4d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44247589a4b08" /><Relationship Type="http://schemas.openxmlformats.org/officeDocument/2006/relationships/notesSlide" Target="/ppt/notesSlides/notesSlide17.xml" Id="Re0baf39ddd4f47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45867774a4385" /><Relationship Type="http://schemas.openxmlformats.org/officeDocument/2006/relationships/notesSlide" Target="/ppt/notesSlides/notesSlide18.xml" Id="R2d6f19ebc2ea46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4d61ae5fa40c9" /><Relationship Type="http://schemas.openxmlformats.org/officeDocument/2006/relationships/notesSlide" Target="/ppt/notesSlides/notesSlide19.xml" Id="R0415b903f95441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681b49f204d31" /><Relationship Type="http://schemas.openxmlformats.org/officeDocument/2006/relationships/notesSlide" Target="/ppt/notesSlides/notesSlide20.xml" Id="R870a83f9e05c4b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3ffea79f94b3b" /><Relationship Type="http://schemas.openxmlformats.org/officeDocument/2006/relationships/notesSlide" Target="/ppt/notesSlides/notesSlide21.xml" Id="R11fb32272dc144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9c2339f644325" /><Relationship Type="http://schemas.openxmlformats.org/officeDocument/2006/relationships/notesSlide" Target="/ppt/notesSlides/notesSlide22.xml" Id="Rcaf8705b308242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7b8cc3eb9401b" /><Relationship Type="http://schemas.openxmlformats.org/officeDocument/2006/relationships/notesSlide" Target="/ppt/notesSlides/notesSlide23.xml" Id="R741d7958ef5f42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ccfe66d434979" /><Relationship Type="http://schemas.openxmlformats.org/officeDocument/2006/relationships/notesSlide" Target="/ppt/notesSlides/notesSlide24.xml" Id="R0cdfff6bc02140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f4144ada648d3" /><Relationship Type="http://schemas.openxmlformats.org/officeDocument/2006/relationships/notesSlide" Target="/ppt/notesSlides/notesSlide25.xml" Id="R4eefa4e72ed048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516dd657643ce" /><Relationship Type="http://schemas.openxmlformats.org/officeDocument/2006/relationships/notesSlide" Target="/ppt/notesSlides/notesSlide26.xml" Id="R928fc0622cba4f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58a3a91704531" /><Relationship Type="http://schemas.openxmlformats.org/officeDocument/2006/relationships/notesSlide" Target="/ppt/notesSlides/notesSlide27.xml" Id="R022478bdb3824a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dbeffcb9a4cba" /><Relationship Type="http://schemas.openxmlformats.org/officeDocument/2006/relationships/notesSlide" Target="/ppt/notesSlides/notesSlide28.xml" Id="R19d895d8621b49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2f62fff174b0a" /><Relationship Type="http://schemas.openxmlformats.org/officeDocument/2006/relationships/notesSlide" Target="/ppt/notesSlides/notesSlide29.xml" Id="R79d83c73232a4b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65547E-C436-41C5-ADE1-778B91D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08｜材料全貌與研究表達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FAE23F7-6BB5-48BA-98E5-6E77B01F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D710193-45DB-49CB-A4C4-49699F85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核心：用結構、缺陷、傳輸與製程解釋RRAM問題。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2DBFC2C-AA25-4862-95B2-088DCF1E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概覽：金屬、陶瓷、高分子、複材及非電性材料性質。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7E310D8-8806-4FF0-AB3B-2EFE3D3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訓練：論文圖表判讀、假設專題、12題面試與2套模擬。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2440D8B-C027-4929-BC6A-6D0792B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完成目標是有依據地提問與回答，並清楚說出知識邊界。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08990ED-C56E-4FDC-9573-AE11CAB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CD93CA2-E188-4111-97D1-91F9B493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64204D4-144B-446D-9647-A3149AC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675982-492C-4FC9-974B-3A08F1E8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1636892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B7A3D-C724-4402-9F7B-5D027642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材料分類與學習深度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943D60D-C22A-4362-8312-4203B12F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C853EB7-8A56-4538-9729-BDFC32F5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金屬：金屬鍵與電子導電，RRAM重點為電極及界面。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82E5C4A-2FF1-4C04-AB6F-6950CE6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陶瓷：多為無機非金屬，氧化物與缺陷是本課核心。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C06482F-1045-4D63-AD51-44D71AC8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高分子：鏈結構、鏈間作用與形貌，本課先建立概念。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CF18061-A22F-41B6-B40E-E70777B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複材：不同相與界面共同決定性質，先懂組成與連通。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E39F9B1-68E2-47E7-8AFF-633731E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分類可重疊，半導體是電子性質分類，不只是一種化學類別。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00006EB-4C31-4763-A905-D5FA9E96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2163473-6AAF-4DB3-8687-5CB351A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DF5DA7C-D5FD-46BF-9CEE-172AFFFA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93F49A-C65A-4321-BE04-2D763D1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318372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4DEB1-7681-4197-AECC-DD68EFE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金屬電極的材料角色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8628A47-B3CF-44E4-94F6-F6BD63AC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680402B-5A29-4DD1-91D7-9CFC50C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核心：電極導電，同時決定接觸能障與界面反應。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824E463-AC27-4FC1-8AD3-A3B8D082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功函數影響理想能帶對位，實際界面也受缺陷與化學作用影響。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4909042-F240-4B8A-B2D2-1E7603A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活性金屬可能提供移動離子，惰性金屬也可能形成非理想接觸。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5B38F88-9CD0-4B95-8C34-3D52AB01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晶粒、粗糙度、擴散與附著性會影響局部電場及穩定性。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6A2A9FB-C64D-4A30-8B5F-80922183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更換電極時，需同時檢查成分、形貌及量測極性。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4C9F6D77-1D12-4661-8019-C1A19916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E9851C2-2734-490E-8445-8FCF9CE3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CF3C9AE-2EC6-4577-A6D3-90A476B7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930EEF-6A0B-46D0-A51E-AEB5CB3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394685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AF5C40-FB51-41DA-AA89-62CE192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陶瓷與氧化物薄膜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8CA04B5-3CDD-4179-A182-CE36331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6396DE5-69AA-4A8D-B329-728C15A3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核心：離子／共價鍵、晶態或非晶結構，以及非化學計量。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BC9D7CF-0D5E-4914-90B7-70B1C37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氧化物中的缺陷可影響電子能態、離子遷移與局部反應。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BB2174E-A5CB-42C2-AC84-0E6A965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晶界可能提供不同傳輸路徑，也可能形成阻障。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C066A88-B43F-4772-B67D-BA6AAB0C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濺鍍條件、後續歷史與電極反應共同決定實際薄膜。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EDD620C-E58F-49F1-A859-3655537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同名氧化物不能保證相同缺陷濃度或切換機制。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55B5690-9E9E-4FCD-8B3D-72ABBA0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7DA908F-E6AD-4646-BC40-67FCCFF3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72D810A-6F84-4685-A88C-75B1653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C520F6-7E22-4B62-8D5D-325C7E2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934919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8FA77E-D3AE-443A-B0E1-449F6CC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高分子材料概覽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0BCECBD-F157-4678-B8A0-0E8FFEB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DEEE7B0-5F86-4CDF-AF84-B634DEF4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鏈的化學結構、分子量、交聯與結晶程度共同影響性質。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233A608-CE70-4FD1-8DDE-AA6BBD4C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玻璃轉移Tg描述鏈段運動的變化，與晶體熔點Tm不同。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52C0D6F-4770-418B-821C-33DB334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共軛結構與摻雜可提供電荷傳輸，普通塑膠不能概括所有高分子。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E72DAC3-CA4B-4498-8330-8343B6D6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RRAM可研究陷阱、氧化還原或離子移動，機制需個別驗證。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2961E7E-995D-42F3-9FBF-27A8BAE0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本課只要求看懂材料角色，不要求掌握聚合合成技術。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14F0FBC-FD12-450E-A38D-7772982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968EF21-6159-4B1C-83F3-A44648D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142C797-F1A7-4857-9C35-FA18B2F3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097E65-320E-4FB4-86CE-4FB8E0E6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1081180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95C393-7014-41C7-B42E-1E104361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複合材料與連通路徑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9EEFB56-24EE-4725-9804-F88B6D03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E221649-E9FA-4400-90E5-CCE64DC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複材包含基材、分散相或增強相，以及兩者之間的界面。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3FB5ADC-660F-4248-921C-2724ED64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導電填料增加時，連通路徑可能跨過滲流門檻。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A9F3B10-FB97-409E-805E-F903D60C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相同含量仍可能因團聚、方向與界面接觸而呈現不同性質。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2DFF498-C57C-4BCE-A36E-7557CE9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RRAM關聯：局部場、陷阱與電流路徑可因混合材料改變。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44F6CF4-791F-4558-AC1E-7BC746D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混合後的性質不一定等於各成分性質的算術平均。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51F5201-E101-4898-8243-607DCD9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C3BF35B-274C-4A76-B0AA-B6E70E1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7340625-D72C-4940-9AEE-6AEB7F7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141106-1EE4-4AC2-B687-699930FF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1230441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83850-2B12-4A5F-A010-791D3A5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力學與熱性質概覽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294E91D-749E-4081-8E0C-12C2B40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37ABFD7-4F66-4FFB-A237-65E6A52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剛性用彈性模數描述，強度描述失效或降伏門檻，韌性關乎抗裂。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7840967-F342-4566-A096-86947C85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薄膜殘留應力、裂紋與附著，可能改變良率及接觸穩定性。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DD94718-BB61-4FA2-801F-1C1D2C3D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熱導率κ描述熱流傳遞，熱容量描述升溫需要的能量。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3485925-1DD2-4510-B9D6-E8A26818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熱膨脹係數α描述尺寸隨溫度變化的程度。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6109EBC-6C34-479C-9FC3-5934BF6C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RRAM局部焦耳熱與基板散熱，使電性和熱性需要共同考慮。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914AB05-A63A-4CEF-A204-A3BFE34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8A97840-D928-4B45-9AEB-2D5F7DB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3134A3E-7827-4FBD-9D5D-94C606DD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0AEE7F-8DC6-471E-9E23-D07C3B02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1873611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056EE6-9FB1-437E-922F-2D4EE21D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光學與磁性概覽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4AF7580-1625-4BB7-86B1-A3D8E69F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EC58CCF-8A6A-49E7-9A79-B891462F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光學：吸收、折射與發光取決於電子態及光與材料的作用。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17BC0A3-504D-4C96-9D8C-8E570863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光學能隙與直流傳導之間，仍隔著缺陷、載子與界面問題。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3E223F3-1D65-4ED8-895B-5150A6C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磁性：電子磁矩、交換作用與磁區可造成不同磁回應。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3AB1FB1-D9FB-4B77-96FE-5536BC5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磁滯迴圈與電阻切換迴圈的形狀相似，物理量與機制不同。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E9EC1EA-921B-4750-8FF1-62415A6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本課只要求辨識量測目的及RRAM關聯，進階推導留待專題需要。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977502C-3456-4E4F-B12C-9E3B219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40C6EDC-78C8-4C45-8D0D-F6A7680C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4A3A130-E2E3-4D3F-9D0C-F45850D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BEE440-C68C-447B-A199-D0519FE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921890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A46C1B-C7D4-4C33-8542-194F456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算例1｜熱膨脹不匹配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A8E6871-EAAB-43BF-98C9-C87802F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76D1001-CCCC-4E37-8FE8-6663214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假設薄膜與基板的α差值大小為5×10^(-6) K^(-1)。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7DAB076-A106-4E10-B4CC-8CF8874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假設溫度改變大小ΔT = 100 K，只作紙上算例。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6932AAE-0D60-4372-96F5-B369EE9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步驟1：自由熱應變差Δε = Δα × ΔT。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130DABA-B119-4794-8B0D-9BD389B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步驟2：Δε = 5×10^(-4) = 0.05%。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88E8F65-5E79-4CE3-BD19-D5CB9C1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步驟3：黏結後的應力還需模數、拘束與鬆弛資訊，不能只算到這裡。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95658AA-D99D-4346-9324-BBA17E6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AF7BC91-E236-45DD-A23A-6564BA9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01A34ED-C062-4BA0-8D55-7EFE41A8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08-09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21A379-F052-41B0-AB24-4DE6F90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1693628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A844A-552E-4030-AFDF-9BE5C9E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練習1｜材料角色與知識邊界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BCE6A11-410F-4850-9AE1-DAEE5D4D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4F95BD5-118A-4EBB-805B-92C6069C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假設元件含金屬電極、氧化物主動層與高分子基板。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9C215EA-9C75-4EBC-976B-3F7F019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題1：分別寫出三者最直接的功能及一個材料風險。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8419F9C-B8BD-4D52-820E-F6ED7A1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題2：若薄膜彎曲後漏電改變，提出兩個競爭解釋。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1D207D2-78CE-4E7F-A319-4DECCBB6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題3：列出先檢查的證據，避免直接宣稱氧空缺改變。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A848DCC-B87B-4899-9C11-D14C1155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題4：指出本課已能回答與仍需專業協助的部分。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ABE37F9-BF55-42DE-B922-676666CA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991413F-017D-47ED-B4E3-6D8A2A4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259931D-EF04-4C7B-9019-2722A0D6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8027D0-DB01-441D-9DD7-CA6D1D84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1558983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B0D3F4-6B89-40CB-8492-D540C04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4E2ED63-16B2-4F30-B060-5FE5EBA3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4B0E2D5-7391-4F8C-9F27-139793B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步驟1：電極導電，風險包括界面反應或接觸漂移。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84148A7-F1A5-4438-A62D-ABA75CE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步驟2：氧化物提供可切換結構，風險包括不可逆漏電路徑。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04FE7E0-3BE5-4C1E-BA2F-D0ED69D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步驟3：高分子提供支撐與可撓性，風險包括熱與機械穩定性。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604D954-A85F-44CA-8FE8-B3B5B67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步驟4：裂紋或接觸改變都可影響漏電，先查形貌與重測條件。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F521816-0C35-4028-825C-1236DE9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步驟5：缺陷變化需獨立證據，應力場與界面化學可請專家協作。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BBAB2B8-DC7F-4400-B9ED-EE270799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A1803C8-4A46-4DA5-BC1C-719DBBE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7FD1FEA-B82A-448C-A68A-E495CFF6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B8CCD3-5FF7-4F36-A58C-C8A08C2B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129558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97A62-4191-4F41-A089-158CE81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論文的主張與證據鏈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0DB8F5C-1768-4E3F-A99E-D729B0C9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E6CDDEF-4056-4B42-823C-C6C1963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問題：作者究竟想改善性能，還是辨識微觀機制？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21BE146-C7E0-483E-9FB0-1588D3C0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主張：用一句可被推翻的話重寫，不照抄摘要形容詞。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7FC0786-7FC0-4BC5-85A9-CCDF92D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證據：每張圖支持哪一部分？哪些推論依賴模型？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6AF2E48-A8C0-46F7-8759-7996113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方法：樣品層結構、歷史與測試條件是否足以比較？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1EF8EDC-1198-48E0-B797-204240F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限制：缺少的對照、失敗樣品及替代解釋在哪裡？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AF96097-A7DB-4CFC-BE79-DF33C0DF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A6C0DD4-2C77-4A73-977E-1E5077A0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544FF90-7E30-4D7A-AE53-E4400FA7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AB8123-D430-456C-BB58-34B72812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19479843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C4E484-E905-4874-A7D3-56B34B4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圖表與不確定度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4893572-1349-4140-A857-F4058C4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12A8B15-D157-47AC-935D-2DE40DE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先讀座標、單位、線性或對數尺度，以及每個點代表什麼。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63E5AAB-21AA-4C0B-8521-DB06F24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辨識樣本數n、誤差棒定義、循環與元件的統計階層。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1F23A98-E2A7-4824-85B1-F7B5886D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SD描述個體分散，SEM描述平均估計的抽樣不確定程度。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F22EF29-E7FE-44A5-A382-EF845E84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平均差異不自動代表穩健改善，還要看分布與重要差異。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7B4CD71-54C4-4F9E-A846-44CDDECE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擬合線、模型外推、示意圖及實際數據必須分清。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4EDB11F-1C93-486E-A616-05726769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B4FC01B-F039-46F8-BF7A-0D9B7A9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A5525E9-C1CB-4DC0-A2E0-5EF5A02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F7E429-3457-4F68-A84C-1BC1FE8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18776687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1E0789-7C15-42D0-9AC2-8EA892E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算例2｜相同平均，不同變異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BEB39A7-AE12-4A9C-8920-7C85F774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C554DD1-F170-422B-9CA6-9F3A705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假設A組為4、5、6，B組為1、5、9，單位相同。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3C8A740-9D4C-4AE8-8086-64BDB27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步驟1：兩組平均值都為5。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32CD5AE-278F-4C54-8655-FF247CA2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步驟2：樣本SD以n-1為分母，A為1，B為4。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F5DB0E9-8A1D-4CFD-AD4D-965C1A34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步驟3：若各點獨立，SEM分別約0.58與2.31。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154F1EA-25A5-466F-B0A8-F325E586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步驟4：圖只畫平均會遮住差異，應同時顯示個別點及定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義。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4E06F98-3464-4421-A992-E47056A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083D0D6-10B7-4B4E-960F-B71D0B63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59AFB87-58D4-4BD6-8DB7-7A2C3591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FDB9B57-E6B2-4E3D-9CB4-9948F6E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0.5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85092A8-3748-4C8C-A84E-B97F1AF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35C0C6E-8220-4715-A13B-B549302F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24BBB40-7AB0-4F22-9BDA-A289AD2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34015FE-47E3-4E69-B716-CE47D13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3.5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0859773-C05A-4C47-9397-CCB07648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AF5A4749-CE82-47EC-AABD-5B8D59F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0B53663-7AE8-4391-8DB6-B5FCF9A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7E1974A-6E33-4941-A6FD-51A21D4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F3F34775-7EB6-4656-A676-70D7F3E3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假設樣本編號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9692352-2497-4BFA-A583-45368C8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任意相同單位</a:t>
            </a:r>
          </a:p>
        </p:txBody>
      </p:sp>
      <p:sp>
        <p:nvSpPr>
          <p:cNvPr id="22" name="A 假設數據">
            <a:extLst xmlns:a="http://schemas.openxmlformats.org/drawingml/2006/main">
              <a:ext uri="{FF2B5EF4-FFF2-40B4-BE49-F238E27FC236}">
                <a16:creationId xmlns:a16="http://schemas.microsoft.com/office/drawing/2014/main" id="{5E5B3988-2544-4B4F-9FDF-562F4428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550" y="2828925"/>
            <a:ext cx="2425700" cy="485775"/>
          </a:xfrm>
          <a:custGeom xmlns:a="http://schemas.openxmlformats.org/drawingml/2006/main">
            <a:pathLst>
              <a:path w="2425700" h="485775">
                <a:moveTo>
                  <a:pt x="0" y="485775"/>
                </a:moveTo>
                <a:lnTo>
                  <a:pt x="1212850" y="242888"/>
                </a:lnTo>
                <a:lnTo>
                  <a:pt x="242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37C80"/>
            </a:solidFill>
            <a:prstDash val="solid"/>
          </a:ln>
        </p:spPr>
      </p:sp>
      <p:sp>
        <p:nvSpPr>
          <p:cNvPr id="2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1666F3E-61EF-4EA4-995D-5A1A871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975" y="3286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C80"/>
          </a:solidFill>
          <a:ln xmlns:a="http://schemas.openxmlformats.org/drawingml/2006/main" w="9525">
            <a:solidFill>
              <a:srgbClr val="137C80"/>
            </a:solidFill>
            <a:prstDash val="solid"/>
          </a:ln>
        </p:spPr>
      </p:sp>
      <p:sp>
        <p:nvSpPr>
          <p:cNvPr id="2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970CB31-53B3-429C-9B34-0E2B1F9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432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C80"/>
          </a:solidFill>
          <a:ln xmlns:a="http://schemas.openxmlformats.org/drawingml/2006/main" w="9525">
            <a:solidFill>
              <a:srgbClr val="137C80"/>
            </a:solidFill>
            <a:prstDash val="solid"/>
          </a:ln>
        </p:spPr>
      </p:sp>
      <p:sp>
        <p:nvSpPr>
          <p:cNvPr id="2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F3C0893-8972-4161-9150-63670447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675" y="2800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C80"/>
          </a:solidFill>
          <a:ln xmlns:a="http://schemas.openxmlformats.org/drawingml/2006/main" w="9525">
            <a:solidFill>
              <a:srgbClr val="137C80"/>
            </a:solidFill>
            <a:prstDash val="solid"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432383BD-E8A7-4A8D-BA49-C82E8E7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rPr>
              <a:t>A 假設數據</a:t>
            </a:r>
          </a:p>
        </p:txBody>
      </p:sp>
      <p:sp>
        <p:nvSpPr>
          <p:cNvPr id="27" name="B 假設數據">
            <a:extLst xmlns:a="http://schemas.openxmlformats.org/drawingml/2006/main">
              <a:ext uri="{FF2B5EF4-FFF2-40B4-BE49-F238E27FC236}">
                <a16:creationId xmlns:a16="http://schemas.microsoft.com/office/drawing/2014/main" id="{47EB8D1A-1C2C-4304-942F-6A56DE9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550" y="2100263"/>
            <a:ext cx="2425700" cy="1943100"/>
          </a:xfrm>
          <a:custGeom xmlns:a="http://schemas.openxmlformats.org/drawingml/2006/main">
            <a:pathLst>
              <a:path w="2425700" h="1943100">
                <a:moveTo>
                  <a:pt x="0" y="1943100"/>
                </a:moveTo>
                <a:lnTo>
                  <a:pt x="1212850" y="971550"/>
                </a:lnTo>
                <a:lnTo>
                  <a:pt x="242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97A38"/>
            </a:solidFill>
            <a:prstDash val="solid"/>
          </a:ln>
        </p:spPr>
      </p:sp>
      <p:sp>
        <p:nvSpPr>
          <p:cNvPr id="2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34E9AEC-5025-437F-B680-5028E53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975" y="40147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38"/>
          </a:solidFill>
          <a:ln xmlns:a="http://schemas.openxmlformats.org/drawingml/2006/main" w="9525">
            <a:solidFill>
              <a:srgbClr val="D97A38"/>
            </a:solidFill>
            <a:prstDash val="solid"/>
          </a:ln>
        </p:spPr>
      </p:sp>
      <p:sp>
        <p:nvSpPr>
          <p:cNvPr id="2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4AE162E-DFE3-4719-A7E8-106E40A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432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38"/>
          </a:solidFill>
          <a:ln xmlns:a="http://schemas.openxmlformats.org/drawingml/2006/main" w="9525">
            <a:solidFill>
              <a:srgbClr val="D97A38"/>
            </a:solidFill>
            <a:prstDash val="solid"/>
          </a:ln>
        </p:spPr>
      </p:sp>
      <p:sp>
        <p:nvSpPr>
          <p:cNvPr id="3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4E59624-0FF6-455C-8B80-3B65772C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675" y="20716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38"/>
          </a:solidFill>
          <a:ln xmlns:a="http://schemas.openxmlformats.org/drawingml/2006/main" w="9525">
            <a:solidFill>
              <a:srgbClr val="D97A38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3B9053AE-6E93-4FDB-98A8-B7929693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525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D97A38"/>
                </a:solidFill>
                <a:latin typeface="Noto Sans CJK TC"/>
                <a:ea typeface="Noto Sans CJK TC"/>
                <a:cs typeface="Noto Sans CJK TC"/>
              </a:rPr>
              <a:t>B 假設數據</a:t>
            </a:r>
          </a:p>
        </p:txBody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C24198F3-3323-4299-9011-CD374634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教學數據，連線只輔助辨識，非時間趨勢</a:t>
            </a:r>
          </a:p>
        </p:txBody>
      </p:sp>
      <p:sp>
        <p:nvSpPr>
          <p:cNvPr id="3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4A45C88-9715-4963-B8E6-9F541BC5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537D3087-4CDC-4E55-9387-BBA7276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3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9AA1226-C82C-401E-815F-0C0EFC8F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08-14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7C276D-E824-41A2-A21C-A47947C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780088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D39B9-698C-4735-9336-2F1934F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練習2｜圖說與過度推論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04972FE-97B2-4D02-97CF-90E757E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01045C7-1840-460C-A276-63F1403E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假設一張圖：同一元件的100次循環平均電阻下降10%。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6F2C0F8-DA33-4F7E-8D39-20F5859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圖中未列誤差棒、讀取條件、失敗循環或對照元件。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E11F547-C741-4395-9CA8-D648130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題1：寫出目前可以說的觀察與不能說的因果主張。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40DB3A0-49CF-41BE-8899-E4DFCD09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題2：列出最重要的三項缺失資訊。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B3C896B-CEAC-4841-8704-C4847DAA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題3：將「材料全面改善」改寫成合宜的圖說。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F6A8124-EEA5-4163-9C2E-34F233E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A95132F-63DC-4072-984E-EC725E57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DDE2264-1CF3-40A6-BDA2-AFC5E4B2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2F0D28-675F-4239-8B39-FCE6D65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5355319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C8F75F-4C06-4473-9683-FC94F680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練習2｜逐步解答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C9872AD-3B3D-44D9-9B6D-D7B3811D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6894D39-FE41-48EC-B1F0-DB076B65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步驟1：僅能說此元件在所示循環中的平均值下降。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69F6161-1D7C-440A-8AFA-FDACFE9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步驟2：無法據此推論製程因果效果或所有元件的表現。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E21BC3C-D545-439A-9FF9-37FA04F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步驟3：補讀取歷史、獨立元件／批次及失敗與分布資訊。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2A66804-5A9F-4F65-B75D-76D3067D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步驟4：圖說可寫「單一元件的探索性循環結果，原因仍待控制驗證」。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6944C2A-A83B-4AF3-A85E-4D258DDF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步驟5：先定義何謂改善，再比較完整分布與可靠度代價。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2A3103A-9867-47F5-A57A-E8E89E98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0E593E8-2BD9-4BE6-92B0-792F3265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A4D3405-5378-4492-8830-BF26495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A81158-EE73-4E35-BF35-CE2584EB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1162827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AE324-C22E-4E0C-9721-15456F46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假設專題｜濺鍍氧化物的變異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2157303-954A-4AC6-9127-8B6C04D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C2EC131-CCFC-452C-8E28-BDF850CA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問題：一項已核准製程差異，是否改變元件間切換變異？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20B655E-7949-498B-8CC0-B66878F1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假說：薄膜成分或微結構改變，影響可形成的局部路徑。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B98FBCA-7002-4108-88B5-DB72A80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主要終點：固定讀取規則下，元件間log電阻的分散程度。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7830184-085C-49EC-830C-D71508F1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設計：日期區集、獨立製程批次，另查膜厚與表面狀態。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1A062D5-1FEF-4897-8780-01EA7AF4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產出：可追溯資料與有限結論，不預先承諾正結果或論文數量。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4B322096-0B59-46CF-8972-130A88C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8BF6DCA-0E6B-44F0-9FD2-4BA2F806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C6DCAF5-CB73-42D3-9E56-F5D16E06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69D629-5808-4B0B-BFC5-1693101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17271420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5219FE-D6C5-4FAB-8C93-1E19CEBF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算例3｜研究計畫的因果缺口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FFF3144-20C7-4382-AF97-5C5D32F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EB71BA0-A7B7-4ABF-ADE9-9818B046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假設草案：「改製程後電流變大，所以氧空缺增加，性能更好。」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B6C7FF0-C7FE-4256-966B-11F316F8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步驟1：電流變大是觀察，其餘兩句都還需要證據。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BF5A88B-6996-4A8E-89A2-9F3E079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步驟2：厚度、接觸、有效面積或漏電也可能改變電流。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9E1D456-2161-447C-8A57-75C9AA4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步驟3：安排獨立膜厚與成分／化學態檢查，再比較可靠度。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47FE3B6-1C7C-4EB2-86B7-C228F014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步驟4：XPS肩峰不能單獨當成氧空缺數量，先查峰指派依據。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531011A-27D9-4C40-8FF9-395FB5E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1A08F36-230D-4E6B-835F-701F41B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AE3A9DD-B23A-415C-975F-FC5327F4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6D8B56-7A0B-4643-A4D1-46A435DF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121452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8ADA56-53C7-4566-938D-73B8D294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練習3｜研究草案批判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67DFC73-6587-4D61-A310-2EA7A38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EB4BE6F-C06B-4566-8435-607C8004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假設草案：一片薄膜、兩顆元件、只展示最好看的I–V。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2A33A51-4A4F-434D-99E6-4514BEE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作者用斜率2證明SCLC，再宣稱所有製程條件都可靠。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1A77B94-DA57-420E-B2A0-670FBDF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題1：分別指出模型、抽樣與主張範圍的問題。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8E059FF-6DF0-4736-907D-DC5DCF32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題2：在不新增危險操作下，列出最優先的修正。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EFE5605-9053-45EC-A8CD-B1337A1D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題3：寫一句目前證據可支持的結論。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A8F5C3B-C52C-4661-99CA-2033BA8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B804CFF-9CF1-47B8-B74C-83EFB8A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E70BC54-1152-4CDA-84B7-CA05E66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08-19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EDE604-E826-4A40-9E72-474E6ED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3725094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D7E846-DEFD-40B4-BBE0-0DC41F63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95EF06F-BC28-4B03-8DFE-532EBF2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DD31558-E7D5-40D1-9111-9B65C70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步驟1：斜率2未檢查模型假設，存在替代傳導解釋。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84B7B73-0758-4942-9AD1-EB851733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步驟2：兩顆元件與單批次無法代表所有條件，挑圖帶來選擇偏差。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BDD478A-EB3A-4830-AB6B-AA73CDB7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步驟3：先整理全部原始資料、失敗紀錄及分析區間。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E617BF6-6348-4396-BFFE-EE7D75BC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步驟4：提出獨立批次與控制變因計畫，依授權再執行。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0A0F175-2060-4A16-813F-A8FD05BD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結論例：「少數元件顯示可切換行為，機制及可靠度尚待驗證。」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93EE669-CAD9-4363-B1DE-57B977A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3BE57B2-AAAF-4758-B5D1-2E175153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0E3DAF9-BBB0-48B6-8A35-01993BF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FA6A32-183B-4355-BC8F-1332992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974167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18A47D-8607-42CD-8F0A-91A235F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面試模型1–4｜材料基礎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545938D-866B-42AB-AA12-50E3ED51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8499F2C-1CF7-469B-8EE3-A9D5E61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Q1 為何從資工投入？把計算與可重建分析連到一個材料問題。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01751C4-DED7-46F0-A172-2BBB523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Q2 大能隙為何仍漏電？區分本徵能帶、缺陷與界面傳輸。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7628108-77EF-4BB7-86E8-AE47A82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Q3 氧空缺就是電子嗎？分開缺陷位置、電荷態及載子。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A3D3275-8739-47D9-B370-16E869E2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Q4 熱力學有利就會發生嗎？自由能與動力學能障需分開。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1E2630C-A412-4999-B86C-FEB0FAD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每題回答包含假設、可驗證證據，以及目前無法裁定的部分。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ACCF38F-55D1-4B0A-A7B4-3AEEF95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3BE0E0F-FDBA-414A-9715-8CC4F71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DA389B1-C694-4F4D-94B6-C5B8F43A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E95460-2A8F-4E95-97C2-DCF71F8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9217974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2CE336-B0C2-4443-B09D-F12666B6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面試模型5–8｜製程與元件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BEE3FA-5050-447B-98AE-808DC60A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9248A6F-45F3-4EC4-83E6-3B37577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Q5 靶材成分等於薄膜嗎？說明可能偏差，提出獨立成分量測。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C9BED30-19E3-4129-B04E-C3106F54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Q6 HRS與LRS代表何種機制？它們先是讀取條件下的狀態標籤。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FBDC9B5-CA84-4CE5-A93B-14EF3A32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Q7 斜率2能證明SCLC嗎？說明假設，並提出尺度或溫度控制。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E934E8F-6551-402F-970F-0777905F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Q8 耐久度好就保留好嗎？分開循環與時間測試及失效規則。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90CABCB-4101-4D82-866F-38A0804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追問時回到可觀察量，不用材料名稱或漂亮曲線取代證據。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3BB0E07-5EA2-401E-BF38-9E87543F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342D1FC-B41A-4AE0-87D4-767374D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F6D6AC6-699B-4EB8-9FB4-1B29991D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AE2727-325D-4A14-AA9A-8056C06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20508386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6716B1-8017-4FA0-BEF5-30BBDC4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面試模型9–12｜研究判斷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2FF30E5-27EC-48AA-8080-5A2EF410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8B56739-7468-4462-8B18-B5F348F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Q9 一顆做千次等於千顆嗎？先界定實驗單位與相關性。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FCCCEEA-FFB5-4D18-9E78-4F504B11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Q10 論文互相矛盾怎麼辦？比較結構、歷史、區間及證據層級。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DDDE4A6-17CA-409E-871C-BCA1267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Q11 第一個月如何規劃？先安全訓練、基準資料與小範圍假說。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DC96741-6B34-4C51-B53A-40D90B2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Q12 不會的問題如何回答？說出已知、缺少資訊與查證方法。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9BFD28C-FEE3-4527-94A5-2A23137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對機制保持可修正的立場，同時提出具體下一步。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FDE6344-61A8-4A7F-B0D1-275C47E3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3D5D25E-2301-43BD-A9EF-446ED0E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ABB1684-B219-4890-85D2-31E2B24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A560C1-0AFF-4A4C-B9C0-E3E16216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1175381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65C74D-69F2-41FE-B861-10DDB984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模擬面試A｜開卷圖表討論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97A90AC-9F72-4683-A637-1F47105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6876872-CFDC-49BF-AF88-33DEC3E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材料：Gismatulin等人2021年SiN_x研究，使用原文與補充資料。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80647F3-3A5E-4168-B744-941ACC12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5分鐘：選一張I–V圖，說明座標、狀態與直接觀察。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8316171-B957-4842-BA6B-432030CD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5分鐘：重述作者模型，列出一項假設與一個替代解釋。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91FBF9A-0350-4FA8-8E2E-FCFEC930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5分鐘：指出參數合理性或可靠度外推需要的證據。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AFCD4AA-72B7-4151-AA32-0BFDE40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5分鐘：提出下一個最有區分力的測試，並說明限制。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8E271B0A-465D-4D42-9B31-52C0424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評量輸出是可查證筆記，不是對個人能力或錄取機率的判定。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7A36C4A-FD7D-4C4D-A534-5CA9D2EB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F50D158-A188-4DB8-B21B-01F35B44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EEEFDD0-FB7B-41C0-ADC8-89EF5498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87BB72-F336-4738-AEAE-E47A727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2391037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974C1-0523-486E-8764-13713AB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模擬面試B｜閉卷假設專題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1D56531-DDEB-43BE-9CCB-E490F4B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F36A2A2-ED25-476B-A050-5CECA038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情境：你剛完成受訓，準備研究濺鍍氧化物RRAM的變異。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3782AF5-D4C2-43BD-89B4-B8D5B00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2分鐘：說明問題、假說與主要終點，不假裝已有結果。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3211C09-9310-4F82-BDDC-B110BE7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4分鐘：回答缺陷、能障、擴散與時間尺度的連結。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1A20EEB-DEC9-4B44-81F5-82DA782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4分鐘：設計參考組、批次控制及失敗資料處理。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E4733A6-5E23-414F-AA5E-1C29A52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4分鐘：面對反例或未知問題，修正主張並提出查證路徑。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08D46AC2-7C8C-4A22-BB82-4195F213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最後用2分鐘記錄待補知識，之後開卷核對。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66D4587-EEE0-487E-9D1F-B02B8DB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FDC4685-2992-4759-A2AB-29C67D8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23B12DF-F8F9-418B-BEFD-7C0D07E9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08-25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52B46F-8A6E-43E2-ABF1-185C386B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16939816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9DFA9E-CCB3-4E20-AC5F-D3BAB07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練習4｜90秒研究說明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CAA39C5-1C97-4FB0-86AA-E74D3DE4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B4DB540-3285-4BE3-81FC-083F68ED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請為投影片08-17的假設專題寫一段90秒口頭說明。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029354A-D7C0-4868-A4C3-11851D0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第1部分：研究問題與為何值得做，避免空泛的應用口號。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798BEC5-9ECA-448A-BE3A-80F1F40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第2部分：假說、主要終點、參考組及替代解釋。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AD07CA7-664A-49FF-968A-EB132B8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第3部分：預期能得到的證據、失敗時如何調整及操作邊界。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9B68F07-49D6-4EA9-A3CA-81AEA6D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再寫兩個你預期會被追問的問題，附可查證回答。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AC17B3C-60AF-4BFB-BCC6-71F1BA1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0D997DA-F320-4E66-90A3-216869B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9C3CDA8-D0BC-4BEC-B321-4E82699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E805C0-F6DD-4876-9893-71009FAB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11248958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49345F-91F2-48DF-AA6F-4780B980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練習4｜逐步解答示例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40D424-61B5-4933-9AF5-578A416F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979F2B6-0B8B-483C-8E43-8D8D166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步驟1：「我想研究一項核准的濺鍍差異，是否影響元件間變異。」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5C8643B-0765-490C-83B5-009EABB6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步驟2：「假說是成分或微結構改變局部路徑，但膜厚也是替代解釋。」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CDA3AC2-DA4D-4F58-826B-DF0A72F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步驟3：「同一日期安排參考與處理批次，保存所有成功與失敗資料。」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C514602-CE1B-4DCE-A477-CA1165A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步驟4：「先確認膜厚與測試條件，再用獨立表徵評估機制。」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F046FD3-632B-4B79-95D1-AC34845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步驟5：「若效果只存在單批次，我會縮小結論，查批次因素而非宣布成功。」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FD788F0-20A5-4A31-A214-C4E59318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82707EB-60BA-47D7-B4F4-8C2288D9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C5BE942-5584-4C2C-9C55-97A4C7EC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AAB0D3-6F70-4FA7-869C-22080B7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2961360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CD735A-8C3C-429C-8A7C-2CC6FEB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八週之後的能力清單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D76C816-D295-4F01-B5E1-6A6C96F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B78E347-CF03-4FF7-8F87-573102D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核心達標：能解釋單位、能障、缺陷、濺鍍角色與量測證據。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436C73B-D7EC-4878-98D4-A732BE3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研究達標：能讀一篇入門論文，區分觀察、假設與外推。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E161789-9B4D-403E-A657-F3A0903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概覽達標：知道材料類別與其他性質何時影響RRAM。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64E7D0B-6A53-47E9-81EF-F584534D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持續補強：數學推導、進階表徵及特定設備操作依專題選修。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F9D889D-9FE2-4040-83A1-BC89BF4E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下一步交付：一頁專題、圖表批判筆記與一次有紀錄的模擬問答。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B2AEF93-7F2C-4722-AEA3-C189B5A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E03DDC0-8604-41F3-B236-A15D22A2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E5682B1-45CA-4D61-A48B-7FEB9D4F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CAFAF4-9917-4F9E-ACD7-5C34C00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19773120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5F019C-F6CE-4056-9E7E-CF4F44D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補充｜DRAM與RRAM的操作延遲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99C53F4-E26B-4880-A222-13A0F353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F6A5964-F75A-44B6-90A7-8A884670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DRAM用電容電荷存位元，ACT（開列）啟動電荷分享、感測與回復。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147DE83-18A7-4FB2-8BF1-F72829C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開列命中的READ從列緩衝器取值，不必每次重新ACT。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28AA46E-2B1A-4343-B4E8-41F28BFB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PRE（預充）準備下一列，週期refresh補漏電，兩者都須與restore區分。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C53920E-2D6D-4F5D-95CC-FD2DDD25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RRAM讀取含選址、穩定與感測，寫入可含多次脈衝、驗證與重試。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4CB570E-8C79-4984-87F0-55BFEED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完整延遲還含控制、排隊及資料傳輸，且部分階段可能重疊。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5D04D363-7221-4055-A1B8-BFA4A26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比較須指定架構及存取情境，單元切換時間不能直接代表總延遲。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6A15905-FC88-4175-801D-94709796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2A68829-9442-44EA-B6AD-0770B8A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第8週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AB717FD-4E53-4A4C-AB01-D601103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08-29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38A30B-AEEF-45E8-BE15-096BB012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122404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2026-10-29T04:46:31.7580000Z</dcterms:created>
  <dcterms:modified xsi:type="dcterms:W3CDTF">2026-10-29T04:46:31.7580000Z</dcterms:modified>
</coreProperties>
</file>