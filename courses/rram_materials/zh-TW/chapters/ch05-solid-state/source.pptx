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78a7b28daa405f" /><Relationship Type="http://schemas.openxmlformats.org/officeDocument/2006/relationships/extended-properties" Target="/docProps/app.xml" Id="R2e49bf814a394d91" /><Relationship Type="http://schemas.openxmlformats.org/officeDocument/2006/relationships/officeDocument" Target="/ppt/presentation.xml" Id="Rb3eaabc0006344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285952f1c04871"/>
  </p:sldMasterIdLst>
  <p:notesMasterIdLst>
    <p:notesMasterId xmlns:r="http://schemas.openxmlformats.org/officeDocument/2006/relationships" r:id="R5901badbca574acb"/>
  </p:notesMasterIdLst>
  <p:sldIdLst>
    <p:sldId xmlns:r="http://schemas.openxmlformats.org/officeDocument/2006/relationships" id="256" r:id="R3d1fbac5459b4fd3"/>
    <p:sldId xmlns:r="http://schemas.openxmlformats.org/officeDocument/2006/relationships" id="257" r:id="R5ecb1f1acf924ba9"/>
    <p:sldId xmlns:r="http://schemas.openxmlformats.org/officeDocument/2006/relationships" id="258" r:id="R53d05c7acee64bfd"/>
    <p:sldId xmlns:r="http://schemas.openxmlformats.org/officeDocument/2006/relationships" id="259" r:id="Rf63392729e834308"/>
    <p:sldId xmlns:r="http://schemas.openxmlformats.org/officeDocument/2006/relationships" id="260" r:id="R1c325a7599694d0e"/>
    <p:sldId xmlns:r="http://schemas.openxmlformats.org/officeDocument/2006/relationships" id="261" r:id="Raad349a9a7b343ca"/>
    <p:sldId xmlns:r="http://schemas.openxmlformats.org/officeDocument/2006/relationships" id="262" r:id="Reb8ac7c40bca4464"/>
    <p:sldId xmlns:r="http://schemas.openxmlformats.org/officeDocument/2006/relationships" id="263" r:id="Re621e3e2344a433c"/>
    <p:sldId xmlns:r="http://schemas.openxmlformats.org/officeDocument/2006/relationships" id="264" r:id="R8593719745564cbe"/>
    <p:sldId xmlns:r="http://schemas.openxmlformats.org/officeDocument/2006/relationships" id="265" r:id="R699098f7106344cd"/>
    <p:sldId xmlns:r="http://schemas.openxmlformats.org/officeDocument/2006/relationships" id="266" r:id="R84042e2089f24162"/>
    <p:sldId xmlns:r="http://schemas.openxmlformats.org/officeDocument/2006/relationships" id="267" r:id="Raec432d0f50e437a"/>
    <p:sldId xmlns:r="http://schemas.openxmlformats.org/officeDocument/2006/relationships" id="268" r:id="R219e630c50534a56"/>
    <p:sldId xmlns:r="http://schemas.openxmlformats.org/officeDocument/2006/relationships" id="269" r:id="R47bd12bdfb074f2c"/>
    <p:sldId xmlns:r="http://schemas.openxmlformats.org/officeDocument/2006/relationships" id="270" r:id="R91d23b2202cf4110"/>
    <p:sldId xmlns:r="http://schemas.openxmlformats.org/officeDocument/2006/relationships" id="271" r:id="Ra0c6549601ae403d"/>
    <p:sldId xmlns:r="http://schemas.openxmlformats.org/officeDocument/2006/relationships" id="272" r:id="Rc4d4a5523dbd49c1"/>
    <p:sldId xmlns:r="http://schemas.openxmlformats.org/officeDocument/2006/relationships" id="273" r:id="R292fbfb2f97946eb"/>
    <p:sldId xmlns:r="http://schemas.openxmlformats.org/officeDocument/2006/relationships" id="274" r:id="R6527099e6cff4627"/>
    <p:sldId xmlns:r="http://schemas.openxmlformats.org/officeDocument/2006/relationships" id="275" r:id="R42a6577f93b04e7e"/>
    <p:sldId xmlns:r="http://schemas.openxmlformats.org/officeDocument/2006/relationships" id="276" r:id="R700c7a25654c4caf"/>
    <p:sldId xmlns:r="http://schemas.openxmlformats.org/officeDocument/2006/relationships" id="277" r:id="R2479fa282db04c93"/>
    <p:sldId xmlns:r="http://schemas.openxmlformats.org/officeDocument/2006/relationships" id="278" r:id="R113b1b720b894d47"/>
    <p:sldId xmlns:r="http://schemas.openxmlformats.org/officeDocument/2006/relationships" id="279" r:id="R39eedcdb33594e32"/>
    <p:sldId xmlns:r="http://schemas.openxmlformats.org/officeDocument/2006/relationships" id="280" r:id="Rad27f98e1f8d4d8a"/>
    <p:sldId xmlns:r="http://schemas.openxmlformats.org/officeDocument/2006/relationships" id="281" r:id="R9cba711e9a124ddf"/>
    <p:sldId xmlns:r="http://schemas.openxmlformats.org/officeDocument/2006/relationships" id="282" r:id="R9880548ff1db456b"/>
    <p:sldId xmlns:r="http://schemas.openxmlformats.org/officeDocument/2006/relationships" id="283" r:id="Rafe9a1c6ba5345c0"/>
  </p:sldIdLst>
  <p:sldSz cx="10692384" cy="6019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571685f17645e1" /><Relationship Type="http://schemas.openxmlformats.org/officeDocument/2006/relationships/slideMaster" Target="/ppt/slideMasters/slideMaster1.xml" Id="Rf2285952f1c04871" /><Relationship Type="http://schemas.openxmlformats.org/officeDocument/2006/relationships/notesMaster" Target="/ppt/notesMasters/notesMaster1.xml" Id="R5901badbca574acb" /><Relationship Type="http://schemas.openxmlformats.org/officeDocument/2006/relationships/presProps" Target="/ppt/presProps.xml" Id="R8e698050dee2414a" /><Relationship Type="http://schemas.openxmlformats.org/officeDocument/2006/relationships/tableStyles" Target="/ppt/tableStyles.xml" Id="R4c8fa38770a74931" /><Relationship Type="http://schemas.openxmlformats.org/officeDocument/2006/relationships/slide" Target="/ppt/slides/slide1.xml" Id="R3d1fbac5459b4fd3" /><Relationship Type="http://schemas.openxmlformats.org/officeDocument/2006/relationships/slide" Target="/ppt/slides/slide2.xml" Id="R5ecb1f1acf924ba9" /><Relationship Type="http://schemas.openxmlformats.org/officeDocument/2006/relationships/slide" Target="/ppt/slides/slide3.xml" Id="R53d05c7acee64bfd" /><Relationship Type="http://schemas.openxmlformats.org/officeDocument/2006/relationships/slide" Target="/ppt/slides/slide4.xml" Id="Rf63392729e834308" /><Relationship Type="http://schemas.openxmlformats.org/officeDocument/2006/relationships/slide" Target="/ppt/slides/slide5.xml" Id="R1c325a7599694d0e" /><Relationship Type="http://schemas.openxmlformats.org/officeDocument/2006/relationships/slide" Target="/ppt/slides/slide6.xml" Id="Raad349a9a7b343ca" /><Relationship Type="http://schemas.openxmlformats.org/officeDocument/2006/relationships/slide" Target="/ppt/slides/slide7.xml" Id="Reb8ac7c40bca4464" /><Relationship Type="http://schemas.openxmlformats.org/officeDocument/2006/relationships/slide" Target="/ppt/slides/slide8.xml" Id="Re621e3e2344a433c" /><Relationship Type="http://schemas.openxmlformats.org/officeDocument/2006/relationships/slide" Target="/ppt/slides/slide9.xml" Id="R8593719745564cbe" /><Relationship Type="http://schemas.openxmlformats.org/officeDocument/2006/relationships/slide" Target="/ppt/slides/slide10.xml" Id="R699098f7106344cd" /><Relationship Type="http://schemas.openxmlformats.org/officeDocument/2006/relationships/slide" Target="/ppt/slides/slide11.xml" Id="R84042e2089f24162" /><Relationship Type="http://schemas.openxmlformats.org/officeDocument/2006/relationships/slide" Target="/ppt/slides/slide12.xml" Id="Raec432d0f50e437a" /><Relationship Type="http://schemas.openxmlformats.org/officeDocument/2006/relationships/slide" Target="/ppt/slides/slide13.xml" Id="R219e630c50534a56" /><Relationship Type="http://schemas.openxmlformats.org/officeDocument/2006/relationships/slide" Target="/ppt/slides/slide14.xml" Id="R47bd12bdfb074f2c" /><Relationship Type="http://schemas.openxmlformats.org/officeDocument/2006/relationships/slide" Target="/ppt/slides/slide15.xml" Id="R91d23b2202cf4110" /><Relationship Type="http://schemas.openxmlformats.org/officeDocument/2006/relationships/slide" Target="/ppt/slides/slide16.xml" Id="Ra0c6549601ae403d" /><Relationship Type="http://schemas.openxmlformats.org/officeDocument/2006/relationships/slide" Target="/ppt/slides/slide17.xml" Id="Rc4d4a5523dbd49c1" /><Relationship Type="http://schemas.openxmlformats.org/officeDocument/2006/relationships/slide" Target="/ppt/slides/slide18.xml" Id="R292fbfb2f97946eb" /><Relationship Type="http://schemas.openxmlformats.org/officeDocument/2006/relationships/slide" Target="/ppt/slides/slide19.xml" Id="R6527099e6cff4627" /><Relationship Type="http://schemas.openxmlformats.org/officeDocument/2006/relationships/slide" Target="/ppt/slides/slide20.xml" Id="R42a6577f93b04e7e" /><Relationship Type="http://schemas.openxmlformats.org/officeDocument/2006/relationships/slide" Target="/ppt/slides/slide21.xml" Id="R700c7a25654c4caf" /><Relationship Type="http://schemas.openxmlformats.org/officeDocument/2006/relationships/slide" Target="/ppt/slides/slide22.xml" Id="R2479fa282db04c93" /><Relationship Type="http://schemas.openxmlformats.org/officeDocument/2006/relationships/slide" Target="/ppt/slides/slide23.xml" Id="R113b1b720b894d47" /><Relationship Type="http://schemas.openxmlformats.org/officeDocument/2006/relationships/slide" Target="/ppt/slides/slide24.xml" Id="R39eedcdb33594e32" /><Relationship Type="http://schemas.openxmlformats.org/officeDocument/2006/relationships/slide" Target="/ppt/slides/slide25.xml" Id="Rad27f98e1f8d4d8a" /><Relationship Type="http://schemas.openxmlformats.org/officeDocument/2006/relationships/slide" Target="/ppt/slides/slide26.xml" Id="R9cba711e9a124ddf" /><Relationship Type="http://schemas.openxmlformats.org/officeDocument/2006/relationships/slide" Target="/ppt/slides/slide27.xml" Id="R9880548ff1db456b" /><Relationship Type="http://schemas.openxmlformats.org/officeDocument/2006/relationships/slide" Target="/ppt/slides/slide28.xml" Id="Rafe9a1c6ba5345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938a9717b649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c01b8d1dc346b2" /><Relationship Type="http://schemas.openxmlformats.org/officeDocument/2006/relationships/notesMaster" Target="/ppt/notesMasters/notesMaster1.xml" Id="R9c06871028984d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0cda47e3de454a" /><Relationship Type="http://schemas.openxmlformats.org/officeDocument/2006/relationships/notesMaster" Target="/ppt/notesMasters/notesMaster1.xml" Id="R7cc9e526a46341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1142a70cc54f0a" /><Relationship Type="http://schemas.openxmlformats.org/officeDocument/2006/relationships/notesMaster" Target="/ppt/notesMasters/notesMaster1.xml" Id="Re36a783bfd894e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8df65fbbce40c9" /><Relationship Type="http://schemas.openxmlformats.org/officeDocument/2006/relationships/notesMaster" Target="/ppt/notesMasters/notesMaster1.xml" Id="Rfeb47924465940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c00f5f4ade4099" /><Relationship Type="http://schemas.openxmlformats.org/officeDocument/2006/relationships/notesMaster" Target="/ppt/notesMasters/notesMaster1.xml" Id="R66ca98ffc6ab4c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d9ddc45f194f65" /><Relationship Type="http://schemas.openxmlformats.org/officeDocument/2006/relationships/notesMaster" Target="/ppt/notesMasters/notesMaster1.xml" Id="Rdd62cabca73e45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33b28b015c4e5a" /><Relationship Type="http://schemas.openxmlformats.org/officeDocument/2006/relationships/notesMaster" Target="/ppt/notesMasters/notesMaster1.xml" Id="R03dafe28355944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2db711a16f4a57" /><Relationship Type="http://schemas.openxmlformats.org/officeDocument/2006/relationships/notesMaster" Target="/ppt/notesMasters/notesMaster1.xml" Id="R03376fc6c3f448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4306ae03f34c12" /><Relationship Type="http://schemas.openxmlformats.org/officeDocument/2006/relationships/notesMaster" Target="/ppt/notesMasters/notesMaster1.xml" Id="R5c07775c30454e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c4eee1e89d46f9" /><Relationship Type="http://schemas.openxmlformats.org/officeDocument/2006/relationships/notesMaster" Target="/ppt/notesMasters/notesMaster1.xml" Id="Rf05003d1d60341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9d6544d7754af7" /><Relationship Type="http://schemas.openxmlformats.org/officeDocument/2006/relationships/notesMaster" Target="/ppt/notesMasters/notesMaster1.xml" Id="R7a07050e4e944a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29e00fbfcb468b" /><Relationship Type="http://schemas.openxmlformats.org/officeDocument/2006/relationships/notesMaster" Target="/ppt/notesMasters/notesMaster1.xml" Id="R648ab7db2aab42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146ebf701c4c08" /><Relationship Type="http://schemas.openxmlformats.org/officeDocument/2006/relationships/notesMaster" Target="/ppt/notesMasters/notesMaster1.xml" Id="R16cb4955256247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725e2455f8413e" /><Relationship Type="http://schemas.openxmlformats.org/officeDocument/2006/relationships/notesMaster" Target="/ppt/notesMasters/notesMaster1.xml" Id="R76db9a43cbd14e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ae81bd61334c92" /><Relationship Type="http://schemas.openxmlformats.org/officeDocument/2006/relationships/notesMaster" Target="/ppt/notesMasters/notesMaster1.xml" Id="Rf6f77712a6f846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aeed1d4deb47ed" /><Relationship Type="http://schemas.openxmlformats.org/officeDocument/2006/relationships/notesMaster" Target="/ppt/notesMasters/notesMaster1.xml" Id="Re1627d7017814b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501f6d8bd294212" /><Relationship Type="http://schemas.openxmlformats.org/officeDocument/2006/relationships/notesMaster" Target="/ppt/notesMasters/notesMaster1.xml" Id="Rd18e1c5ce16a40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cc243b3ce94ebf" /><Relationship Type="http://schemas.openxmlformats.org/officeDocument/2006/relationships/notesMaster" Target="/ppt/notesMasters/notesMaster1.xml" Id="Rf324c79458c94e3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0fdc95511c40c5" /><Relationship Type="http://schemas.openxmlformats.org/officeDocument/2006/relationships/notesMaster" Target="/ppt/notesMasters/notesMaster1.xml" Id="Rcd09473a3bbe424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21f416102df43f5" /><Relationship Type="http://schemas.openxmlformats.org/officeDocument/2006/relationships/notesMaster" Target="/ppt/notesMasters/notesMaster1.xml" Id="R831bcf106077486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b1ce384a1b94639" /><Relationship Type="http://schemas.openxmlformats.org/officeDocument/2006/relationships/notesMaster" Target="/ppt/notesMasters/notesMaster1.xml" Id="R4258121be2444e5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86a2c84cb9345c9" /><Relationship Type="http://schemas.openxmlformats.org/officeDocument/2006/relationships/notesMaster" Target="/ppt/notesMasters/notesMaster1.xml" Id="R32bf1a0c92b9468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58c73fc3df24484" /><Relationship Type="http://schemas.openxmlformats.org/officeDocument/2006/relationships/notesMaster" Target="/ppt/notesMasters/notesMaster1.xml" Id="R5fa4290a0fc04f4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6a0c9617cc349e5" /><Relationship Type="http://schemas.openxmlformats.org/officeDocument/2006/relationships/notesMaster" Target="/ppt/notesMasters/notesMaster1.xml" Id="Rc2faabcfd9cf4f5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c639d992f60472e" /><Relationship Type="http://schemas.openxmlformats.org/officeDocument/2006/relationships/notesMaster" Target="/ppt/notesMasters/notesMaster1.xml" Id="R5dbda973d9bb4c3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516972478a74ae6" /><Relationship Type="http://schemas.openxmlformats.org/officeDocument/2006/relationships/notesMaster" Target="/ppt/notesMasters/notesMaster1.xml" Id="Rfebae865ae3a460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ec72635f8764212" /><Relationship Type="http://schemas.openxmlformats.org/officeDocument/2006/relationships/notesMaster" Target="/ppt/notesMasters/notesMaster1.xml" Id="Ra8dbe492e7ed4ea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44ef762087942de" /><Relationship Type="http://schemas.openxmlformats.org/officeDocument/2006/relationships/notesMaster" Target="/ppt/notesMasters/notesMaster1.xml" Id="R85d2280ca96c44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分成四次讀，每次先讀主文，再自己重算例題。遇到積分符號可先理解為把很多小份相加。參考課程的完整推導比本章深，先閱讀本章標出的主題即可。所有數值例題都是明示假設的教學計算，不代表器件量測或製程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8.04：量子物理講義索引</a:t>
            </a:r>
          </a:p>
          <a:p xmlns:a="http://schemas.openxmlformats.org/drawingml/2006/main">
            <a:r>
              <a:t>https://ocw.mit.edu/courses/8-04-quantum-physics-i-spring-2016/pages/lecture-notes/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Cornell ECE407：半導體與奈米結構課程資料</a:t>
            </a:r>
          </a:p>
          <a:p xmlns:a="http://schemas.openxmlformats.org/drawingml/2006/main">
            <a:r>
              <a:t>https://courses.cit.cornell.edu/ece407/Lectures/Lectures.htm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本章使用約三至四位有效數字。eV 的 e 並非自然指數底數 e。計算 exp(-ΔE/kBT) 時，如果 ΔE 以 eV 表示，就使用 eV/K 的 kB。溫度必須是絕對溫度 K，不能直接代入攝氏溫度。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NIST：SI 定義常數</a:t>
            </a:r>
          </a:p>
          <a:p xmlns:a="http://schemas.openxmlformats.org/drawingml/2006/main">
            <a:r>
              <a:t>https://www.nist.gov/si-redefinition/meet-constants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圖只畫 sin(kx) 的實數示意，並非電子軌跡或量測訊號。兩個波函數先相加，再取絕對值平方，所以正負相位可以增強或抵消。這是直接把兩個機率相加會失敗的地方。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8.04 L5：波函數與薛丁格方程</a:t>
            </a:r>
          </a:p>
          <a:p xmlns:a="http://schemas.openxmlformats.org/drawingml/2006/main">
            <a:r>
              <a:t>https://ocw.mit.edu/courses/8-04-quantum-physics-i-spring-2016/a512b3a45fd80afefa7640c366839191_MIT8_04S16_LecNotes5.pdf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8.04 L6：機率與正規化</a:t>
            </a:r>
          </a:p>
          <a:p xmlns:a="http://schemas.openxmlformats.org/drawingml/2006/main">
            <a:r>
              <a:t>https://ocw.mit.edu/courses/8-04-quantum-physics-i-spring-2016/d87c768c4e1181fde8d4366112169719_MIT8_04S16_LecNotes6.pdf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這是非相對論自由電子計算，不能直接把固體內的電子都當成同樣自由粒子。p 表示動量，並非機率。先換成 SI 單位再開根號，可避免 eV 與 kg 混用。結果只是量級判斷，不能單靠波長預測完整器件電流。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8.04 L3：物質波</a:t>
            </a:r>
          </a:p>
          <a:p xmlns:a="http://schemas.openxmlformats.org/drawingml/2006/main">
            <a:r>
              <a:t>https://ocw.mit.edu/courses/8-04-quantum-physics-i-spring-2016/f928b8dce3d6a218fddda9617c5eb4f2_MIT8_04S16_LecNotes3.pdf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NIST：SI 定義常數</a:t>
            </a:r>
          </a:p>
          <a:p xmlns:a="http://schemas.openxmlformats.org/drawingml/2006/main">
            <a:r>
              <a:t>https://www.nist.gov/si-redefinition/meet-constants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定態表示具有確定能量的狀態，其整體相位會隨時間變化，但位置機率密度不變。正規化是把總機率調成1。此處只把微分方程當作物理規則，下一頁以已知的正弦波解展示量子化，不要求先學完整微分方程。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8.04 L5：波函數與薛丁格方程</a:t>
            </a:r>
          </a:p>
          <a:p xmlns:a="http://schemas.openxmlformats.org/drawingml/2006/main">
            <a:r>
              <a:t>https://ocw.mit.edu/courses/8-04-quantum-physics-i-spring-2016/a512b3a45fd80afefa7640c366839191_MIT8_04S16_LecNotes5.pdf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8.04 L6：機率與正規化</a:t>
            </a:r>
          </a:p>
          <a:p xmlns:a="http://schemas.openxmlformats.org/drawingml/2006/main">
            <a:r>
              <a:t>https://ocw.mit.edu/courses/8-04-quantum-physics-i-spring-2016/d87c768c4e1181fde8d4366112169719_MIT8_04S16_LecNotes6.pdf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無限深井是數學理想化，牆外機率完全為零。不能取 n=0，因為那樣 ψ 處處為零，沒有粒子。真實障壁有限，波函數可延伸到障壁內，能階位置也會改變。圖僅示出 E1、E2、E3 的 n^(2)比例。 井中的正弦站波並非單一方向的平面波，不能把它說成具有單一確定動量的狀態。本頁用允許波數與能量關係求En。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8.04 L11：方形位能井</a:t>
            </a:r>
          </a:p>
          <a:p xmlns:a="http://schemas.openxmlformats.org/drawingml/2006/main">
            <a:r>
              <a:t>https://ocw.mit.edu/courses/8-04-quantum-physics-i-spring-2016/a565b327f85c7721b18f1074dbd69ede_MIT8_04S16_LecNotes11.pdf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這組數字只供練習量綱與平方關係。半導體量子井常需要有效質量 m*、有限障壁與能帶偏移，不能把本例值當成任何薄膜的電子能階。300 K 的 kBT 約0.0259 eV，只能作熱能尺度比較，不能把 kBT 當成每個電子的固定動能。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8.04 L11：方形位能井</a:t>
            </a:r>
          </a:p>
          <a:p xmlns:a="http://schemas.openxmlformats.org/drawingml/2006/main">
            <a:r>
              <a:t>https://ocw.mit.edu/courses/8-04-quantum-physics-i-spring-2016/a565b327f85c7721b18f1074dbd69ede_MIT8_04S16_LecNotes11.pdf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NIST：SI 定義常數</a:t>
            </a:r>
          </a:p>
          <a:p xmlns:a="http://schemas.openxmlformats.org/drawingml/2006/main">
            <a:r>
              <a:t>https://www.nist.gov/si-redefinition/meet-constants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式中所有能量若採 SI 應以 J 表示。exp 是自然指數函數，κd 沒有單位。真實器件可能同時有熱發射、缺陷輔助隧穿與其他路徑。本頁只展示直接穿越靜態矩形障壁的最簡模型。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OpenStax University Physics 3 §7.6：量子隧穿</a:t>
            </a:r>
          </a:p>
          <a:p xmlns:a="http://schemas.openxmlformats.org/drawingml/2006/main">
            <a:r>
              <a:t>https://openstax.org/books/university-physics-volume-3/pages/7-6-the-quantum-tunneling-of-particles-through-potential-barriers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這是敏感度計算例題，κ 是已給定的模型參數。從穿透率到電流還需能態數、佔據、入射載子通量和電壓分布。若膜厚改變也改變缺陷或介面，實驗比值不必遵循這個單一指數。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OpenStax University Physics 3 §7.6：量子隧穿</a:t>
            </a:r>
          </a:p>
          <a:p xmlns:a="http://schemas.openxmlformats.org/drawingml/2006/main">
            <a:r>
              <a:t>https://openstax.org/books/university-physics-volume-3/pages/7-6-the-quantum-tunneling-of-particles-through-potential-barriers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建議先遮住下一頁，拿紙筆完成比例式。練習1不必再次代入所有常數。練習2的兩小題使用不同物理模型，不可以把 1/L^(2) 的能階關係拿去計算隧穿率。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8.04 L3：物質波</a:t>
            </a:r>
          </a:p>
          <a:p xmlns:a="http://schemas.openxmlformats.org/drawingml/2006/main">
            <a:r>
              <a:t>https://ocw.mit.edu/courses/8-04-quantum-physics-i-spring-2016/f928b8dce3d6a218fddda9617c5eb4f2_MIT8_04S16_LecNotes3.pdf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8.04 L11：方形位能井</a:t>
            </a:r>
          </a:p>
          <a:p xmlns:a="http://schemas.openxmlformats.org/drawingml/2006/main">
            <a:r>
              <a:t>https://ocw.mit.edu/courses/8-04-quantum-physics-i-spring-2016/a565b327f85c7721b18f1074dbd69ede_MIT8_04S16_LecNotes11.pdf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University Physics 3 §7.6：量子隧穿</a:t>
            </a:r>
          </a:p>
          <a:p xmlns:a="http://schemas.openxmlformats.org/drawingml/2006/main">
            <a:r>
              <a:t>https://openstax.org/books/university-physics-volume-3/pages/7-6-the-quantum-tunneling-of-particles-through-potential-barriers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練習1與2a分別忽略固體能帶以及有限障壁。2b只比較主要指數部分。若你得到「波長變9倍」或「井能量變1/3」，表示漏掉平方或根號，回到定義再推一次比值。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8.04 L3：物質波</a:t>
            </a:r>
          </a:p>
          <a:p xmlns:a="http://schemas.openxmlformats.org/drawingml/2006/main">
            <a:r>
              <a:t>https://ocw.mit.edu/courses/8-04-quantum-physics-i-spring-2016/f928b8dce3d6a218fddda9617c5eb4f2_MIT8_04S16_LecNotes3.pdf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8.04 L11：方形位能井</a:t>
            </a:r>
          </a:p>
          <a:p xmlns:a="http://schemas.openxmlformats.org/drawingml/2006/main">
            <a:r>
              <a:t>https://ocw.mit.edu/courses/8-04-quantum-physics-i-spring-2016/a565b327f85c7721b18f1074dbd69ede_MIT8_04S16_LecNotes11.pdf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University Physics 3 §7.6：量子隧穿</a:t>
            </a:r>
          </a:p>
          <a:p xmlns:a="http://schemas.openxmlformats.org/drawingml/2006/main">
            <a:r>
              <a:t>https://openstax.org/books/university-physics-volume-3/pages/7-6-the-quantum-tunneling-of-particles-through-potential-barriers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「一個軌域可有兩個電子」是因為兩者自旋不同，因此仍屬不同完整量子態。能帶不是實體的電子車道。晶體中常畫 E(k)，介面中常畫 E(x)，兩種圖的橫軸不同，後面會分開說明。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Cornell ECE407 H6：週期位能與能帶</a:t>
            </a:r>
          </a:p>
          <a:p xmlns:a="http://schemas.openxmlformats.org/drawingml/2006/main">
            <a:r>
              <a:t>https://courses.cit.cornell.edu/ece407/Lectures/handout6.pdf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Cornell ECE407 H7：能帶填入與態數</a:t>
            </a:r>
          </a:p>
          <a:p xmlns:a="http://schemas.openxmlformats.org/drawingml/2006/main">
            <a:r>
              <a:t>https://courses.cit.cornell.edu/ece407/Lectures/handout7.pdf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積分是把每個微小能量區間的電子數加起來。g(E)dE 是該區間的態數密度，再乘 f(E) 得電子密度。對三維拋物線導帶，帶邊附近 g(E) 正比於 √(E-EC)，此形狀不適用於所有低維或無序材料。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Cornell ECE407 H2：費米氣體與態密度</a:t>
            </a:r>
          </a:p>
          <a:p xmlns:a="http://schemas.openxmlformats.org/drawingml/2006/main">
            <a:r>
              <a:t>https://courses.cit.cornell.edu/ece407/Lectures/handout2.pdf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Cornell ECE407 H14：能帶載子統計</a:t>
            </a:r>
          </a:p>
          <a:p xmlns:a="http://schemas.openxmlformats.org/drawingml/2006/main">
            <a:r>
              <a:t>https://courses.cit.cornell.edu/ece407/Lectures/handout14.pdf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最後一句把 g 與 f 分開：如果該能量 g=0，則 g×f 仍是0。圖橫軸已用 kBT 正規化，因此只需一條曲線。本章先用熱平衡模型，外加偏壓下常需分別處理兩端的費米分布或準費米能階。 EF常稱電子化學勢。空間器件能帶圖以共同能量基準作圖時，EF包含靜電位能的影響，對應平衡電子電化學勢，勿與只含局部化學貢獻的μchem混用。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Cornell ECE407 H2：費米氣體與態密度</a:t>
            </a:r>
          </a:p>
          <a:p xmlns:a="http://schemas.openxmlformats.org/drawingml/2006/main">
            <a:r>
              <a:t>https://courses.cit.cornell.edu/ece407/Lectures/handout2.pdf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Cornell ECE407 H14：能帶載子統計</a:t>
            </a:r>
          </a:p>
          <a:p xmlns:a="http://schemas.openxmlformats.org/drawingml/2006/main">
            <a:r>
              <a:t>https://courses.cit.cornell.edu/ece407/Lectures/handout14.pdf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這是單一能態的佔據機率，不是材料中9%的原子都帶電。若要問導帶共有多少電子，仍需將所有導帶能態的 g(E)f(E) 積分。此例只假設熱平衡，並未指定任何真實材料。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Cornell ECE407 H2：費米氣體與態密度</a:t>
            </a:r>
          </a:p>
          <a:p xmlns:a="http://schemas.openxmlformats.org/drawingml/2006/main">
            <a:r>
              <a:t>https://courses.cit.cornell.edu/ece407/Lectures/handout2.pdf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NIST：SI 定義常數</a:t>
            </a:r>
          </a:p>
          <a:p xmlns:a="http://schemas.openxmlformats.org/drawingml/2006/main">
            <a:r>
              <a:t>https://www.nist.gov/si-redefinition/meet-constants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非簡併的意思是帶邊佔據率仍很低，不能把它理解成「沒有缺陷」。常用 EC-EF 超過數倍 kBT 作初步檢查，精度要求不同時門檻也不同。氧空缺不一定都提供兩個可自由移動電子，電荷態與局域化都需要證據。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Cornell ECE407 H14：能帶載子統計</a:t>
            </a:r>
          </a:p>
          <a:p xmlns:a="http://schemas.openxmlformats.org/drawingml/2006/main">
            <a:r>
              <a:t>https://courses.cit.cornell.edu/ece407/Lectures/handout14.pdf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6.012 L1：半導體與摻雜</a:t>
            </a:r>
          </a:p>
          <a:p xmlns:a="http://schemas.openxmlformats.org/drawingml/2006/main">
            <a:r>
              <a:t>https://ocw.mit.edu/courses/6-012-microelectronic-devices-and-circuits-fall-2009/resources/mit6_012f09_lec01/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能量圖縱軸向上表示電子能量更高。若用 eV 表示能量，電位增加1 V對電子對應能量下降1 eV。不要把能帶斜率直接當作原子表面的幾何傾斜。平衡時可能有內建電場，漂移與擴散仍可互相抵消。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6.012 L3：載子與靜電位</a:t>
            </a:r>
          </a:p>
          <a:p xmlns:a="http://schemas.openxmlformats.org/drawingml/2006/main">
            <a:r>
              <a:t>https://ocw.mit.edu/courses/6-012-microelectronic-devices-and-circuits-fall-2009/resources/mit6_012f09_lec03/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固體電子親和能的定義與孤立原子捕獲電子的電子親和力不要混用。功函數包含 EF 的位置，摻雜可能改變它。圖是接觸前的單一半導體定義圖，還沒有宣稱真實金屬與氧化物的介面能障。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Portland State EE415/515 L9：金屬接觸與異質接面</a:t>
            </a:r>
          </a:p>
          <a:p xmlns:a="http://schemas.openxmlformats.org/drawingml/2006/main">
            <a:r>
              <a:t>https://web.cecs.pdx.edu/~jmorris/ECE%20415%20%26%20515%20Semiconductor%20Devices/lecture_9_schottky%20ohmic%20hetero_2012%20%5BCompatibility%20Mode%5D.pdf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8.04 L3：物質波</a:t>
            </a:r>
          </a:p>
          <a:p xmlns:a="http://schemas.openxmlformats.org/drawingml/2006/main">
            <a:r>
              <a:t>https://ocw.mit.edu/courses/8-04-quantum-physics-i-spring-2016/f928b8dce3d6a218fddda9617c5eb4f2_MIT8_04S16_LecNotes3.pdf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這些是虛構材料參數，用來示範能障與內建電位的區別，並非實際材料或接觸的數據。ΦBn 從金屬 EF 算到介面導帶底。Vbi 則比較半導體內部與介面帶邊。兩者一般不相等。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Portland State EE415/515 L9：金屬接觸與異質接面</a:t>
            </a:r>
          </a:p>
          <a:p xmlns:a="http://schemas.openxmlformats.org/drawingml/2006/main">
            <a:r>
              <a:t>https://web.cecs.pdx.edu/~jmorris/ECE%20415%20%26%20515%20Semiconductor%20Devices/lecture_9_schottky%20ohmic%20hetero_2012%20%5BCompatibility%20Mode%5D.pdf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任何平滑 I–V 在足夠小的範圍都可近似直線，因此要交代電壓範圍和量測精度。兩端器件也可能由背對背接觸或串聯電阻主導。傳輸線法等接觸電阻方法需要合適測試結構，本章只認識目的，不授權直接操作設備。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Portland State EE415/515 L9：金屬接觸與異質接面</a:t>
            </a:r>
          </a:p>
          <a:p xmlns:a="http://schemas.openxmlformats.org/drawingml/2006/main">
            <a:r>
              <a:t>https://web.cecs.pdx.edu/~jmorris/ECE%20415%20%26%20515%20Semiconductor%20Devices/lecture_9_schottky%20ohmic%20hetero_2012%20%5BCompatibility%20Mode%5D.pdf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定義 ΔEC 時必須先說「材料B減材料A」或相反，避免符號混亂。Type I、II、III 是不同排列的分類，可以在完成本章後延伸。RRAM 氧化層若高度無序或缺陷密集，單一乾淨帶邊模型可能不足。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Portland State EE415/515 L9：金屬接觸與異質接面</a:t>
            </a:r>
          </a:p>
          <a:p xmlns:a="http://schemas.openxmlformats.org/drawingml/2006/main">
            <a:r>
              <a:t>https://web.cecs.pdx.edu/~jmorris/ECE%20415%20%26%20515%20Semiconductor%20Devices/lecture_9_schottky%20ohmic%20hetero_2012%20%5BCompatibility%20Mode%5D.pdf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Cornell ECE407：半導體與奈米結構課程資料</a:t>
            </a:r>
          </a:p>
          <a:p xmlns:a="http://schemas.openxmlformats.org/drawingml/2006/main">
            <a:r>
              <a:t>https://courses.cit.cornell.edu/ece407/Lectures/Lectures.htm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Jn 單位 A/m^(2)。式中用正的 μn，因此電子漂移速度為 -μnE_field，但傳統電流方向為正電荷方向，兩個負號抵消。第06章會用粒子通量描述帶電缺陷，記得分清「粒子移動」與「電流」的符號。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6.012 L1：半導體與摻雜</a:t>
            </a:r>
          </a:p>
          <a:p xmlns:a="http://schemas.openxmlformats.org/drawingml/2006/main">
            <a:r>
              <a:t>https://ocw.mit.edu/courses/6-012-microelectronic-devices-and-circuits-fall-2009/resources/mit6_012f09_lec01/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6.012 L3：載子與靜電位</a:t>
            </a:r>
          </a:p>
          <a:p xmlns:a="http://schemas.openxmlformats.org/drawingml/2006/main">
            <a:r>
              <a:t>https://ocw.mit.edu/courses/6-012-microelectronic-devices-and-circuits-fall-2009/resources/mit6_012f09_lec03/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本頁的研究敘述以 Yang 等人的摘要與公開研究說明為依據，未涵蓋付費全文中的全部細節。論證要分成觀察、模型與排除替代說法三層。兩個模型在有限電壓區間都能擬合時，應設計能讓它們做出不同預測的測試。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et al., Nature Nanotechnology 3, 429–433 (2008)</a:t>
            </a:r>
          </a:p>
          <a:p xmlns:a="http://schemas.openxmlformats.org/drawingml/2006/main">
            <a:r>
              <a:t>https://www.nature.com/articles/nnano.2008.160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這是明示的窄區間近似練習。實際 f 隨能量變化，若區間寬度相對 kBT 太大就要做積分。題目要求使用常數近似，不是假裝任何真實材料擁有此態密度。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Cornell ECE407 H2：費米氣體與態密度</a:t>
            </a:r>
          </a:p>
          <a:p xmlns:a="http://schemas.openxmlformats.org/drawingml/2006/main">
            <a:r>
              <a:t>https://courses.cit.cornell.edu/ece407/Lectures/handout2.pdf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Cornell ECE407 H14：能帶載子統計</a:t>
            </a:r>
          </a:p>
          <a:p xmlns:a="http://schemas.openxmlformats.org/drawingml/2006/main">
            <a:r>
              <a:t>https://courses.cit.cornell.edu/ece407/Lectures/handout14.pdf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狀態數使用 states 標記是為了提醒物理意義，其本質為計數。若 g 已含自旋簡併，就不可額外再乘2。本題的 g 已代表完整可用電子態密度。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Cornell ECE407 H2：費米氣體與態密度</a:t>
            </a:r>
          </a:p>
          <a:p xmlns:a="http://schemas.openxmlformats.org/drawingml/2006/main">
            <a:r>
              <a:t>https://courses.cit.cornell.edu/ece407/Lectures/handout2.pdf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Cornell ECE407 H14：能帶載子統計</a:t>
            </a:r>
          </a:p>
          <a:p xmlns:a="http://schemas.openxmlformats.org/drawingml/2006/main">
            <a:r>
              <a:t>https://courses.cit.cornell.edu/ece407/Lectures/handout14.pdf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本題參數為教學假設。回答b時可想像有限障壁但很薄、串聯電阻主導、或只看很小電壓區間等情況。回答c不要求提出可立即操作的設備設定，先把欲檢驗的物理問題說清楚。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Portland State EE415/515 L9：金屬接觸與異質接面</a:t>
            </a:r>
          </a:p>
          <a:p xmlns:a="http://schemas.openxmlformats.org/drawingml/2006/main">
            <a:r>
              <a:t>https://web.cecs.pdx.edu/~jmorris/ECE%20415%20%26%20515%20Semiconductor%20Devices/lecture_9_schottky%20ohmic%20hetero_2012%20%5BCompatibility%20Mode%5D.pdf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熱發射與隧穿可能共存，溫度依賴也不會自動給出唯一機制。比較不同接觸的量測時，材料、幾何、表面處理與歷史必須可比較。理想模型計算是一個待檢查的起始假說。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Portland State EE415/515 L9：金屬接觸與異質接面</a:t>
            </a:r>
          </a:p>
          <a:p xmlns:a="http://schemas.openxmlformats.org/drawingml/2006/main">
            <a:r>
              <a:t>https://web.cecs.pdx.edu/~jmorris/ECE%20415%20%26%20515%20Semiconductor%20Devices/lecture_9_schottky%20ohmic%20hetero_2012%20%5BCompatibility%20Mode%5D.pdf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自我驗收：不看投影片重新解答四道練習，再用三分鐘口述一張金屬／氧化物／金屬示意圖。若只能背公式卻無法說出單位與近似，回到相應例題。延伸閱讀優先選 MIT 8.04 的方形井、Cornell H14 的載子統計，以及接觸講義的理想模型與釘扎段落。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8.04：量子物理講義索引</a:t>
            </a:r>
          </a:p>
          <a:p xmlns:a="http://schemas.openxmlformats.org/drawingml/2006/main">
            <a:r>
              <a:t>https://ocw.mit.edu/courses/8-04-quantum-physics-i-spring-2016/pages/lecture-notes/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Cornell ECE407：半導體與奈米結構課程資料</a:t>
            </a:r>
          </a:p>
          <a:p xmlns:a="http://schemas.openxmlformats.org/drawingml/2006/main">
            <a:r>
              <a:t>https://courses.cit.cornell.edu/ece407/Lectures/Lectures.htm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Yang et al., Nature Nanotechnology 3, 429–433 (2008)</a:t>
            </a:r>
          </a:p>
          <a:p xmlns:a="http://schemas.openxmlformats.org/drawingml/2006/main">
            <a:r>
              <a:t>https://www.nature.com/articles/nnano.2008.160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43c5b80fb4e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61c50e99c44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ee01a43174b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7d90032b548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f459f835b47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7324132ccd4e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AC6A02-BE68-43F3-8D42-C7510EB9D6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38" y="2274147"/>
            <a:ext cx="8553907" cy="86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684C9C-AE91-499E-836D-BEB68C37E2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3858" y="3310890"/>
            <a:ext cx="7484669" cy="668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459B3B3-3C7B-4FE3-8ABD-BCA6030D2D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38" y="2508250"/>
            <a:ext cx="8553907" cy="10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8BD1C9-8191-4CE5-B9C7-9B6ABA851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B0C9AC-12BF-47CC-A462-28995149A0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9489491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A3EE2E-954C-4E49-A679-E0B43BDBBB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E3CB22-E12F-46AF-86EC-ACD5CAA6D3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B4CEB8-4E96-40C7-9E40-7ADEBD2640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80329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574EEB-2747-4319-9634-7BD27093A4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4C70F2-E017-46A3-B6EF-39D567333A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144dbd7fc24c8b" /><Relationship Type="http://schemas.openxmlformats.org/officeDocument/2006/relationships/slideLayout" Target="/ppt/slideLayouts/slideLayout1.xml" Id="Rf8040c0e154f439d" /><Relationship Type="http://schemas.openxmlformats.org/officeDocument/2006/relationships/slideLayout" Target="/ppt/slideLayouts/slideLayout2.xml" Id="R365145d691a249df" /><Relationship Type="http://schemas.openxmlformats.org/officeDocument/2006/relationships/slideLayout" Target="/ppt/slideLayouts/slideLayout3.xml" Id="Rba01501384644084" /><Relationship Type="http://schemas.openxmlformats.org/officeDocument/2006/relationships/slideLayout" Target="/ppt/slideLayouts/slideLayout4.xml" Id="Rf4842f7917ad4b84" /><Relationship Type="http://schemas.openxmlformats.org/officeDocument/2006/relationships/slideLayout" Target="/ppt/slideLayouts/slideLayout5.xml" Id="R3ac25f4f00aa48d7" /><Relationship Type="http://schemas.openxmlformats.org/officeDocument/2006/relationships/slideLayout" Target="/ppt/slideLayouts/slideLayout6.xml" Id="Rb0b029cc33d54b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040c0e154f439d"/>
    <p:sldLayoutId xmlns:r="http://schemas.openxmlformats.org/officeDocument/2006/relationships" id="2147483650" r:id="R365145d691a249df"/>
    <p:sldLayoutId xmlns:r="http://schemas.openxmlformats.org/officeDocument/2006/relationships" id="2147483651" r:id="Rba01501384644084"/>
    <p:sldLayoutId xmlns:r="http://schemas.openxmlformats.org/officeDocument/2006/relationships" id="2147483652" r:id="Rf4842f7917ad4b84"/>
    <p:sldLayoutId xmlns:r="http://schemas.openxmlformats.org/officeDocument/2006/relationships" id="2147483653" r:id="R3ac25f4f00aa48d7"/>
    <p:sldLayoutId xmlns:r="http://schemas.openxmlformats.org/officeDocument/2006/relationships" id="2147483654" r:id="Rb0b029cc33d54b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22b8393d584e2a" /><Relationship Type="http://schemas.openxmlformats.org/officeDocument/2006/relationships/notesSlide" Target="/ppt/notesSlides/notesSlide1.xml" Id="Rfb65d35f83474a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30228168294ccf" /><Relationship Type="http://schemas.openxmlformats.org/officeDocument/2006/relationships/notesSlide" Target="/ppt/notesSlides/notesSlide2.xml" Id="R47704e8a0dc348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bec6194e874cbc" /><Relationship Type="http://schemas.openxmlformats.org/officeDocument/2006/relationships/notesSlide" Target="/ppt/notesSlides/notesSlide3.xml" Id="Rce3e362620574f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404fe5555c4ed0" /><Relationship Type="http://schemas.openxmlformats.org/officeDocument/2006/relationships/notesSlide" Target="/ppt/notesSlides/notesSlide4.xml" Id="Re733a02bb4bc49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ac3ea1509e419e" /><Relationship Type="http://schemas.openxmlformats.org/officeDocument/2006/relationships/notesSlide" Target="/ppt/notesSlides/notesSlide5.xml" Id="R191e03790b094e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fe3461b9654b4d" /><Relationship Type="http://schemas.openxmlformats.org/officeDocument/2006/relationships/notesSlide" Target="/ppt/notesSlides/notesSlide6.xml" Id="R5bd3ebe0193243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2081ad9db04615" /><Relationship Type="http://schemas.openxmlformats.org/officeDocument/2006/relationships/notesSlide" Target="/ppt/notesSlides/notesSlide7.xml" Id="R6150df4b7c774f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5c4247c61843e8" /><Relationship Type="http://schemas.openxmlformats.org/officeDocument/2006/relationships/notesSlide" Target="/ppt/notesSlides/notesSlide8.xml" Id="Ra8230b191ac141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5fbfe116ad4883" /><Relationship Type="http://schemas.openxmlformats.org/officeDocument/2006/relationships/notesSlide" Target="/ppt/notesSlides/notesSlide9.xml" Id="R5cbd4da719c04d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cb27d07b7f4c47" /><Relationship Type="http://schemas.openxmlformats.org/officeDocument/2006/relationships/notesSlide" Target="/ppt/notesSlides/notesSlide10.xml" Id="R54f6ecb1ca914a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aded6941304eec" /><Relationship Type="http://schemas.openxmlformats.org/officeDocument/2006/relationships/notesSlide" Target="/ppt/notesSlides/notesSlide11.xml" Id="R19fa870330c24f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bea502cb9d4250" /><Relationship Type="http://schemas.openxmlformats.org/officeDocument/2006/relationships/notesSlide" Target="/ppt/notesSlides/notesSlide12.xml" Id="R560df6793dec4f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8a4b1256db4421" /><Relationship Type="http://schemas.openxmlformats.org/officeDocument/2006/relationships/notesSlide" Target="/ppt/notesSlides/notesSlide13.xml" Id="R1768c63d603c4f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fe4edd3a2c4ee7" /><Relationship Type="http://schemas.openxmlformats.org/officeDocument/2006/relationships/notesSlide" Target="/ppt/notesSlides/notesSlide14.xml" Id="R9a25d6dc3e5342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c6b2434b544801" /><Relationship Type="http://schemas.openxmlformats.org/officeDocument/2006/relationships/notesSlide" Target="/ppt/notesSlides/notesSlide15.xml" Id="Rd45bd2862c82432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2c7d0ace594cb7" /><Relationship Type="http://schemas.openxmlformats.org/officeDocument/2006/relationships/notesSlide" Target="/ppt/notesSlides/notesSlide16.xml" Id="Re4914306bd14439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702ca6faa4c9c" /><Relationship Type="http://schemas.openxmlformats.org/officeDocument/2006/relationships/notesSlide" Target="/ppt/notesSlides/notesSlide17.xml" Id="R203cf669fc684b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51945dc9b84ab1" /><Relationship Type="http://schemas.openxmlformats.org/officeDocument/2006/relationships/notesSlide" Target="/ppt/notesSlides/notesSlide18.xml" Id="R0e1bfd5abfe74ea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2f968c84fa40e0" /><Relationship Type="http://schemas.openxmlformats.org/officeDocument/2006/relationships/notesSlide" Target="/ppt/notesSlides/notesSlide19.xml" Id="R96cfbdec68fa47c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f11d2d40404a19" /><Relationship Type="http://schemas.openxmlformats.org/officeDocument/2006/relationships/notesSlide" Target="/ppt/notesSlides/notesSlide20.xml" Id="Rba09ec67d084404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f124b077d8421b" /><Relationship Type="http://schemas.openxmlformats.org/officeDocument/2006/relationships/notesSlide" Target="/ppt/notesSlides/notesSlide21.xml" Id="R21a05668923a4bb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e8581b382c40c1" /><Relationship Type="http://schemas.openxmlformats.org/officeDocument/2006/relationships/notesSlide" Target="/ppt/notesSlides/notesSlide22.xml" Id="Rb1e6f9a37c084af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91c0f50cf542fa" /><Relationship Type="http://schemas.openxmlformats.org/officeDocument/2006/relationships/notesSlide" Target="/ppt/notesSlides/notesSlide23.xml" Id="R65dc0b1cdc904fb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bd8056e45b4801" /><Relationship Type="http://schemas.openxmlformats.org/officeDocument/2006/relationships/notesSlide" Target="/ppt/notesSlides/notesSlide24.xml" Id="R1c78b2328f364ae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333e8ef45f4702" /><Relationship Type="http://schemas.openxmlformats.org/officeDocument/2006/relationships/notesSlide" Target="/ppt/notesSlides/notesSlide25.xml" Id="R0b012c42aaff43a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23565665f847d0" /><Relationship Type="http://schemas.openxmlformats.org/officeDocument/2006/relationships/notesSlide" Target="/ppt/notesSlides/notesSlide26.xml" Id="R6ae110c96897463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d4a8994eb249d3" /><Relationship Type="http://schemas.openxmlformats.org/officeDocument/2006/relationships/notesSlide" Target="/ppt/notesSlides/notesSlide27.xml" Id="Rb74f638ded1b47a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9838a5abff4cd9" /><Relationship Type="http://schemas.openxmlformats.org/officeDocument/2006/relationships/notesSlide" Target="/ppt/notesSlides/notesSlide28.xml" Id="R4b6d0dbb0b9a4b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E071E4-93C4-4BD6-965C-3E876638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量子、固態與半導體介面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679F1FC-3842-4DC0-9271-D7B1348C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D3DEAD32-C41F-497E-820A-BC12A31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目標：能解釋電子如何佔據能態、越過障壁，以及接觸如何影響電流。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F66514E4-4CA5-4C6E-8DB6-C77C35A0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先備：電子帶負電、電壓與電流、原子與缺陷、最基本的價帶與導帶圖。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76D06FAE-48D4-4259-90F9-276BD89B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自學順序：05-01至05-11量子模型；05-12至05-17能帶統計；05-18至05-28介面與練習（含獨立詳解）。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BB6D606A-84E2-42C0-99C8-5EFA9C55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本章給你讀 RRAM 論文的物理語言，尚不等於完整量子力學或半導體課程。</a:t>
            </a:r>
          </a:p>
        </p:txBody>
      </p:sp>
      <p:sp>
        <p:nvSpPr>
          <p:cNvPr id="7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FF445469-B388-4EC4-BE52-0BA40622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26B3D7D-4144-49B6-BD43-64F355BD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9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B81B54A9-8C41-4A87-BC4B-08FF4C2A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05-01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F60DEA-58BB-4D8A-AB5F-8F9FBFB4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 / 28</a:t>
            </a:r>
          </a:p>
        </p:txBody>
      </p:sp>
    </p:spTree>
    <p:extLst>
      <p:ext uri="{BB962C8B-B14F-4D97-AF65-F5344CB8AC3E}">
        <p14:creationId xmlns:p14="http://schemas.microsoft.com/office/powerpoint/2010/main" val="16871707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AC6346-911F-4ACB-80B8-D4A62D3E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能量、電位與常數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CE1DBEEB-4D5B-48A5-BC66-E80AE556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413826BC-5214-4E4F-977B-556E7AD5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q = 1.602 × 10^(-19) C 是基本電荷大小。電子電荷為 -q。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CFFDDFCA-FD9F-4208-B1C4-870C40D7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電子伏特 eV 是能量：1 eV = 1.602 × 10^(-19) J。V 才是電位的單位。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0DC38A63-26C2-4F28-85A6-3FC3F952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h = 6.626 × 10^(-34) J·s，ℏ = h/(2π)，用來連結波與粒子。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170517D5-6442-4AA1-97D0-75F49E35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kB = 8.617 × 10^(-5) eV/K，因此 300 K 的 kBT ≈ 0.0259 eV。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F1F29184-E014-439F-A460-C1E9B913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同一指數裡的能量必須同單位。例如 ΔE/(kBT) 必須沒有單位。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89050723-57DA-4209-9EF0-E850DAF3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AABAC64-FEAF-439A-8F80-2C313A90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7C7E10C3-F3F5-4A37-AC9F-09BEE9D9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05-02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116B999-423D-4CC9-A901-E5535762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 / 28</a:t>
            </a:r>
          </a:p>
        </p:txBody>
      </p:sp>
    </p:spTree>
    <p:extLst>
      <p:ext uri="{BB962C8B-B14F-4D97-AF65-F5344CB8AC3E}">
        <p14:creationId xmlns:p14="http://schemas.microsoft.com/office/powerpoint/2010/main" val="94179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9AEEE7-0254-4D91-B7EB-2EAFB3C5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波長與波函數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1D0DFD0-F8E4-4587-B93C-CB209833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50B51BC7-D229-4E67-AEBA-EB23FA51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波長 λ 是同相位點的間距，波數 k = 2π/λ，單位 m^(-1)。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9507AF68-2E19-420F-99A2-CFA03681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波形 sin(kx) 每移動一個 λ，便重複相同形狀。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7FD2623-EFFA-459C-A35E-F0D9E168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電子波函數 ψ 可為複數，不能當成表面高度。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33A2ED42-8C23-4890-A0F2-5A557A24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位置機率密度為 |ψ|^(2)，振幅的正負仍會影響干涉。</a:t>
            </a:r>
          </a:p>
        </p:txBody>
      </p:sp>
      <p:sp>
        <p:nvSpPr>
          <p:cNvPr id="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299AD1ED-454C-4B47-801B-15EA60FB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3071813"/>
            <a:ext cx="36385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57889"/>
            </a:solidFill>
            <a:prstDash val="solid"/>
          </a:ln>
        </p:spPr>
      </p:sp>
      <p:sp>
        <p:nvSpPr>
          <p:cNvPr id="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A5EDE51C-F0A9-468A-8944-EBCBAD49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1857375"/>
            <a:ext cx="95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57889"/>
            </a:solidFill>
            <a:prstDash val="solid"/>
          </a:ln>
        </p:spPr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0AB4E5A5-01F1-4F91-8B1E-4625C46F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3033713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5531DD4-32A6-4BF1-B7DA-F42DFBE7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148013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5E676E04-D317-4F61-A766-8E92D326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3033713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A26343BC-0200-4CFE-ACBB-6F4CFC17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8013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692CE006-AECB-41F0-B730-5CE59921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72675" y="3033713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6AD4FF6-A7C9-449C-9579-3985E8ED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148013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6AA0F9D-73B2-4F98-BAAA-425808B3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4286250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684DAEBD-894D-4317-AADD-E692F856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19100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-1.1</a:t>
            </a:r>
          </a:p>
        </p:txBody>
      </p:sp>
      <p:sp>
        <p:nvSpPr>
          <p:cNvPr id="1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A34E63B-09A2-442C-9838-2D9EBC4D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1857375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A62DB719-FC96-46C3-A887-1FEED09A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76212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1.1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0AA20610-8494-4370-B154-B4A4E71F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8630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x/λ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A05AB153-6D6C-4E4B-ABCF-1ED955FD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3638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示意振幅</a:t>
            </a:r>
          </a:p>
        </p:txBody>
      </p:sp>
      <p:sp>
        <p:nvSpPr>
          <p:cNvPr id="21" name="sin(2πx/λ)">
            <a:extLst xmlns:a="http://schemas.openxmlformats.org/drawingml/2006/main">
              <a:ext uri="{FF2B5EF4-FFF2-40B4-BE49-F238E27FC236}">
                <a16:creationId xmlns:a16="http://schemas.microsoft.com/office/drawing/2014/main" id="{E377D6A6-E005-4798-A554-8C17903C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67778"/>
            <a:ext cx="3638550" cy="2208068"/>
          </a:xfrm>
          <a:custGeom xmlns:a="http://schemas.openxmlformats.org/drawingml/2006/main">
            <a:pathLst>
              <a:path w="3638550" h="2208068">
                <a:moveTo>
                  <a:pt x="0" y="1104034"/>
                </a:moveTo>
                <a:lnTo>
                  <a:pt x="45482" y="931325"/>
                </a:lnTo>
                <a:lnTo>
                  <a:pt x="90964" y="762869"/>
                </a:lnTo>
                <a:lnTo>
                  <a:pt x="136446" y="602813"/>
                </a:lnTo>
                <a:lnTo>
                  <a:pt x="181928" y="455099"/>
                </a:lnTo>
                <a:lnTo>
                  <a:pt x="227409" y="323364"/>
                </a:lnTo>
                <a:lnTo>
                  <a:pt x="272891" y="210852"/>
                </a:lnTo>
                <a:lnTo>
                  <a:pt x="318373" y="120333"/>
                </a:lnTo>
                <a:lnTo>
                  <a:pt x="363855" y="54035"/>
                </a:lnTo>
                <a:lnTo>
                  <a:pt x="409337" y="13592"/>
                </a:lnTo>
                <a:lnTo>
                  <a:pt x="454819" y="0"/>
                </a:lnTo>
                <a:lnTo>
                  <a:pt x="500301" y="13592"/>
                </a:lnTo>
                <a:lnTo>
                  <a:pt x="545782" y="54035"/>
                </a:lnTo>
                <a:lnTo>
                  <a:pt x="591264" y="120333"/>
                </a:lnTo>
                <a:lnTo>
                  <a:pt x="636746" y="210852"/>
                </a:lnTo>
                <a:lnTo>
                  <a:pt x="682228" y="323364"/>
                </a:lnTo>
                <a:lnTo>
                  <a:pt x="727710" y="455099"/>
                </a:lnTo>
                <a:lnTo>
                  <a:pt x="773192" y="602813"/>
                </a:lnTo>
                <a:lnTo>
                  <a:pt x="818674" y="762869"/>
                </a:lnTo>
                <a:lnTo>
                  <a:pt x="864156" y="931325"/>
                </a:lnTo>
                <a:lnTo>
                  <a:pt x="909638" y="1104034"/>
                </a:lnTo>
                <a:lnTo>
                  <a:pt x="955119" y="1276743"/>
                </a:lnTo>
                <a:lnTo>
                  <a:pt x="1000601" y="1445199"/>
                </a:lnTo>
                <a:lnTo>
                  <a:pt x="1046083" y="1605255"/>
                </a:lnTo>
                <a:lnTo>
                  <a:pt x="1091565" y="1752969"/>
                </a:lnTo>
                <a:lnTo>
                  <a:pt x="1137047" y="1884704"/>
                </a:lnTo>
                <a:lnTo>
                  <a:pt x="1182529" y="1997216"/>
                </a:lnTo>
                <a:lnTo>
                  <a:pt x="1228011" y="2087736"/>
                </a:lnTo>
                <a:lnTo>
                  <a:pt x="1273493" y="2154033"/>
                </a:lnTo>
                <a:lnTo>
                  <a:pt x="1318974" y="2194476"/>
                </a:lnTo>
                <a:lnTo>
                  <a:pt x="1364456" y="2208068"/>
                </a:lnTo>
                <a:lnTo>
                  <a:pt x="1409938" y="2194476"/>
                </a:lnTo>
                <a:lnTo>
                  <a:pt x="1455420" y="2154033"/>
                </a:lnTo>
                <a:lnTo>
                  <a:pt x="1500902" y="2087736"/>
                </a:lnTo>
                <a:lnTo>
                  <a:pt x="1546384" y="1997216"/>
                </a:lnTo>
                <a:lnTo>
                  <a:pt x="1591866" y="1884704"/>
                </a:lnTo>
                <a:lnTo>
                  <a:pt x="1637347" y="1752969"/>
                </a:lnTo>
                <a:lnTo>
                  <a:pt x="1682829" y="1605255"/>
                </a:lnTo>
                <a:lnTo>
                  <a:pt x="1728311" y="1445199"/>
                </a:lnTo>
                <a:lnTo>
                  <a:pt x="1773793" y="1276743"/>
                </a:lnTo>
                <a:lnTo>
                  <a:pt x="1819275" y="1104034"/>
                </a:lnTo>
                <a:lnTo>
                  <a:pt x="1864757" y="931325"/>
                </a:lnTo>
                <a:lnTo>
                  <a:pt x="1910239" y="762869"/>
                </a:lnTo>
                <a:lnTo>
                  <a:pt x="1955721" y="602813"/>
                </a:lnTo>
                <a:lnTo>
                  <a:pt x="2001203" y="455099"/>
                </a:lnTo>
                <a:lnTo>
                  <a:pt x="2046684" y="323364"/>
                </a:lnTo>
                <a:lnTo>
                  <a:pt x="2092166" y="210852"/>
                </a:lnTo>
                <a:lnTo>
                  <a:pt x="2137648" y="120333"/>
                </a:lnTo>
                <a:lnTo>
                  <a:pt x="2183130" y="54035"/>
                </a:lnTo>
                <a:lnTo>
                  <a:pt x="2228612" y="13592"/>
                </a:lnTo>
                <a:lnTo>
                  <a:pt x="2274094" y="0"/>
                </a:lnTo>
                <a:lnTo>
                  <a:pt x="2319576" y="13592"/>
                </a:lnTo>
                <a:lnTo>
                  <a:pt x="2365057" y="54035"/>
                </a:lnTo>
                <a:lnTo>
                  <a:pt x="2410539" y="120333"/>
                </a:lnTo>
                <a:lnTo>
                  <a:pt x="2456021" y="210852"/>
                </a:lnTo>
                <a:lnTo>
                  <a:pt x="2501503" y="323364"/>
                </a:lnTo>
                <a:lnTo>
                  <a:pt x="2546985" y="455099"/>
                </a:lnTo>
                <a:lnTo>
                  <a:pt x="2592467" y="602813"/>
                </a:lnTo>
                <a:lnTo>
                  <a:pt x="2637949" y="762869"/>
                </a:lnTo>
                <a:lnTo>
                  <a:pt x="2683431" y="931325"/>
                </a:lnTo>
                <a:lnTo>
                  <a:pt x="2728913" y="1104034"/>
                </a:lnTo>
                <a:lnTo>
                  <a:pt x="2774394" y="1276743"/>
                </a:lnTo>
                <a:lnTo>
                  <a:pt x="2819876" y="1445199"/>
                </a:lnTo>
                <a:lnTo>
                  <a:pt x="2865358" y="1605255"/>
                </a:lnTo>
                <a:lnTo>
                  <a:pt x="2910840" y="1752969"/>
                </a:lnTo>
                <a:lnTo>
                  <a:pt x="2956322" y="1884704"/>
                </a:lnTo>
                <a:lnTo>
                  <a:pt x="3001804" y="1997216"/>
                </a:lnTo>
                <a:lnTo>
                  <a:pt x="3047286" y="2087736"/>
                </a:lnTo>
                <a:lnTo>
                  <a:pt x="3092768" y="2154033"/>
                </a:lnTo>
                <a:lnTo>
                  <a:pt x="3138249" y="2194476"/>
                </a:lnTo>
                <a:lnTo>
                  <a:pt x="3183731" y="2208068"/>
                </a:lnTo>
                <a:lnTo>
                  <a:pt x="3229213" y="2194476"/>
                </a:lnTo>
                <a:lnTo>
                  <a:pt x="3274695" y="2154033"/>
                </a:lnTo>
                <a:lnTo>
                  <a:pt x="3320177" y="2087736"/>
                </a:lnTo>
                <a:lnTo>
                  <a:pt x="3365659" y="1997216"/>
                </a:lnTo>
                <a:lnTo>
                  <a:pt x="3411141" y="1884704"/>
                </a:lnTo>
                <a:lnTo>
                  <a:pt x="3456623" y="1752969"/>
                </a:lnTo>
                <a:lnTo>
                  <a:pt x="3502104" y="1605255"/>
                </a:lnTo>
                <a:lnTo>
                  <a:pt x="3547586" y="1445199"/>
                </a:lnTo>
                <a:lnTo>
                  <a:pt x="3593068" y="1276743"/>
                </a:lnTo>
                <a:lnTo>
                  <a:pt x="3638550" y="1104034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06B71"/>
            </a:solidFill>
            <a:prstDash val="solid"/>
          </a:ln>
        </p:spPr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FBD5AEDA-4AD9-4089-A395-D23FE6FE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923925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rPr>
              <a:t>sin(2πx/λ)</a:t>
            </a:r>
          </a:p>
        </p:txBody>
      </p:sp>
      <p:sp>
        <p:nvSpPr>
          <p:cNvPr id="23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99825E4D-C127-4DD3-BA03-BE760562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29225"/>
            <a:ext cx="4400550" cy="199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解析函數示意，非電子軌跡或實測資料</a:t>
            </a:r>
          </a:p>
        </p:txBody>
      </p:sp>
      <p:sp>
        <p:nvSpPr>
          <p:cNvPr id="24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DA1C4878-2E13-480D-85F8-96487B84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9306C284-361B-4E46-8756-9BE822CB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6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39FAE567-0F97-4A3A-A5FD-A932734B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05-03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2006FF-0282-48BF-959E-5856D3DC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3 / 28</a:t>
            </a:r>
          </a:p>
        </p:txBody>
      </p:sp>
    </p:spTree>
    <p:extLst>
      <p:ext uri="{BB962C8B-B14F-4D97-AF65-F5344CB8AC3E}">
        <p14:creationId xmlns:p14="http://schemas.microsoft.com/office/powerpoint/2010/main" val="18845133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9C983F-703E-4F10-B169-0614D9E5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例題1：電子的德布羅意波長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5C8E889-6B79-4272-823F-2E1A22B0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608AEC36-78B1-4544-A92D-0394C279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假設自由電子動能 K = 4.00 eV，質量 m_e = 9.11 × 10^(-31) kg。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102DEC46-4F9E-451A-BE2A-7DA3EFF2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步驟1：K = 4.00 × 1.602 × 10^(-19) = 6.41 × 10^(-19) J。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90CDCC50-F442-4CF7-9C94-AB430C52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步驟2：由 K = p^(2)/(2m_e)，得動量 p = √(2m_eK) = 1.08 × 10^(-24) kg·m/s。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6BAE53FE-D2D7-47D5-9ED1-41A2C673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步驟3：λ = h/p = 6.13 × 10^(-10) m = 0.613 nm。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650B9628-B0C0-4EF0-B0A8-7FDD0E66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解讀：此尺度可與原子間距比較，波動效應可能重要。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033EA491-9D31-46EB-94F4-EC1B6FC3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60BA729C-D75B-41FD-97E3-5676C7D0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65238098-BDCA-48EF-88A0-5D991510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05-04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02699C-3DC1-4A64-894D-D20CF7DA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4 / 28</a:t>
            </a:r>
          </a:p>
        </p:txBody>
      </p:sp>
    </p:spTree>
    <p:extLst>
      <p:ext uri="{BB962C8B-B14F-4D97-AF65-F5344CB8AC3E}">
        <p14:creationId xmlns:p14="http://schemas.microsoft.com/office/powerpoint/2010/main" val="1821263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8A792A-4AD3-43D8-801E-7B84AF5A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薛丁格方程與機率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7A2FC29D-D125-4E56-AB0B-3D0C3FD6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8EBED88A-0DCC-4BDD-B99B-36B32971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一維定態方程：-[ℏ^(2)/(2m)] d^(2)ψ/dx^(2) + U(x)ψ = Eψ。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D1C72C3F-48BE-4D9A-AAF8-019F8F4C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U(x) 是位能，E 是總能量，兩者使用 J。m 是模型中的粒子質量。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44302D34-9BE6-4BC6-AABF-7BC673FF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d^(2)ψ/dx^(2) 表示波形彎曲程度。方程要求動能與位能共同符合 E。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A216C981-894D-47DC-AFCD-BC6BDF74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小區間 dx 的找到機率約為 |ψ(x)|^(2)dx，全空間積分必須等於1。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68950A79-0789-4CC5-8B01-0A98B3FB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求解還需要邊界條件，例如牆外能否進入、介面波函數是否連續。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B2A1FFFA-62A4-452E-8501-DD4CAC74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6B7E93D7-A890-40A9-9B9F-D30FD890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83207C22-CC40-4331-8E4F-C927A83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05-05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4BA1722-F35F-4DC5-A40D-CDD689F6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5 / 28</a:t>
            </a:r>
          </a:p>
        </p:txBody>
      </p:sp>
    </p:spTree>
    <p:extLst>
      <p:ext uri="{BB962C8B-B14F-4D97-AF65-F5344CB8AC3E}">
        <p14:creationId xmlns:p14="http://schemas.microsoft.com/office/powerpoint/2010/main" val="3111556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8A24C9-F6E7-446D-A4E6-13612A11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邊界條件產生離散能量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E7BC4B7-6CF9-4D6A-A977-38FCD596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5E154E71-2136-49FF-BAA2-CAE34FF9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理想無限深井：電子只可存在於 0 &lt; x &lt; L，兩端 ψ = 0。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754A3525-C998-4049-8C53-3000536F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能容納的正弦波符合 L = nλ/2，其中 n = 1, 2, 3, …。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09C915C-7715-4C93-9E63-24A86469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因此允許的波數 kn = 2π/λ = nπ/L。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108A717F-FB32-462B-B12E-E2BB2C2B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代入 En = ℏ^(2)kn^(2)/(2m)：En =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n^(2)h^(2)/(8mL^(2))。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B982B720-D9F1-4FB6-844F-8854C0AF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984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狹窄井的能階間距更大。這是有限空間限制波形的結果。</a:t>
            </a:r>
          </a:p>
        </p:txBody>
      </p:sp>
      <p:sp>
        <p:nvSpPr>
          <p:cNvPr id="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1943DD98-8E2A-4AEF-8248-5D707292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0333" y="1419225"/>
            <a:ext cx="95" cy="31289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6B71"/>
            </a:solidFill>
            <a:prstDash val="solid"/>
          </a:ln>
        </p:spPr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0A8BEE8-5CF8-4E0B-8676-38FA4DFC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50718" y="1419225"/>
            <a:ext cx="95" cy="31289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6B71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EF7FD36-4D67-4D95-9039-848347DA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0333" y="4548188"/>
            <a:ext cx="308038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6B71"/>
            </a:solidFill>
            <a:prstDash val="solid"/>
          </a:ln>
        </p:spPr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03C64C3-E07C-49E1-AD01-1406E163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0333" y="4248150"/>
            <a:ext cx="308038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6B71"/>
            </a:solidFill>
            <a:prstDash val="solid"/>
          </a:ln>
        </p:spPr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7D20EA13-6924-4E14-9285-431BF4CA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0333" y="3348038"/>
            <a:ext cx="308038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6B71"/>
            </a:solidFill>
            <a:prstDash val="solid"/>
          </a:ln>
        </p:spPr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0F840334-4B03-4EA7-881E-168A2B35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0333" y="1847850"/>
            <a:ext cx="308038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6B71"/>
            </a:solidFill>
            <a:prstDash val="solid"/>
          </a:ln>
        </p:spPr>
      </p:sp>
      <p:sp>
        <p:nvSpPr>
          <p:cNvPr id="14" name="figure-label-6">
            <a:extLst xmlns:a="http://schemas.openxmlformats.org/drawingml/2006/main">
              <a:ext uri="{FF2B5EF4-FFF2-40B4-BE49-F238E27FC236}">
                <a16:creationId xmlns:a16="http://schemas.microsoft.com/office/drawing/2014/main" id="{DE066DC4-DC3E-4AD9-B2F6-FBE4B47D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355" y="3712369"/>
            <a:ext cx="2640330" cy="366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E_1</a:t>
            </a:r>
          </a:p>
        </p:txBody>
      </p:sp>
      <p:sp>
        <p:nvSpPr>
          <p:cNvPr id="15" name="figure-label-7">
            <a:extLst xmlns:a="http://schemas.openxmlformats.org/drawingml/2006/main">
              <a:ext uri="{FF2B5EF4-FFF2-40B4-BE49-F238E27FC236}">
                <a16:creationId xmlns:a16="http://schemas.microsoft.com/office/drawing/2014/main" id="{F411C4B1-0B38-47CD-8F94-4B42AFA8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355" y="2812256"/>
            <a:ext cx="2640330" cy="366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E_2 = 4E_1</a:t>
            </a:r>
          </a:p>
        </p:txBody>
      </p:sp>
      <p:sp>
        <p:nvSpPr>
          <p:cNvPr id="16" name="figure-label-8">
            <a:extLst xmlns:a="http://schemas.openxmlformats.org/drawingml/2006/main">
              <a:ext uri="{FF2B5EF4-FFF2-40B4-BE49-F238E27FC236}">
                <a16:creationId xmlns:a16="http://schemas.microsoft.com/office/drawing/2014/main" id="{57B30312-0BD6-40BC-8EE7-0D1D6EA5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355" y="1312069"/>
            <a:ext cx="2860358" cy="366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E_3 = 9E_1</a:t>
            </a:r>
          </a:p>
        </p:txBody>
      </p:sp>
      <p:sp>
        <p:nvSpPr>
          <p:cNvPr id="17" name="figure-label-9">
            <a:extLst xmlns:a="http://schemas.openxmlformats.org/drawingml/2006/main">
              <a:ext uri="{FF2B5EF4-FFF2-40B4-BE49-F238E27FC236}">
                <a16:creationId xmlns:a16="http://schemas.microsoft.com/office/drawing/2014/main" id="{6BD0C552-2EE5-457E-A8A5-5F6DAF12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88" y="4762500"/>
            <a:ext cx="2640330" cy="366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井寬 L</a:t>
            </a:r>
          </a:p>
        </p:txBody>
      </p:sp>
      <p:sp>
        <p:nvSpPr>
          <p:cNvPr id="18" name="native-figure-caption">
            <a:extLst xmlns:a="http://schemas.openxmlformats.org/drawingml/2006/main">
              <a:ext uri="{FF2B5EF4-FFF2-40B4-BE49-F238E27FC236}">
                <a16:creationId xmlns:a16="http://schemas.microsoft.com/office/drawing/2014/main" id="{BE44094E-854B-43C8-99DA-CB17C278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29225"/>
            <a:ext cx="4400550" cy="199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無限深井能階示意，能量向上，非實際 RRAM 能帶</a:t>
            </a:r>
          </a:p>
        </p:txBody>
      </p:sp>
      <p:sp>
        <p:nvSpPr>
          <p:cNvPr id="1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B45DE7AE-2D2C-4303-9569-F7C2A643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FD812069-B021-44B6-B6EE-1EC96697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A08BB34E-BC91-490F-873D-069395B2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05-06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3ACD76-8C5C-4272-85E9-23FF0569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6 / 28</a:t>
            </a:r>
          </a:p>
        </p:txBody>
      </p:sp>
    </p:spTree>
    <p:extLst>
      <p:ext uri="{BB962C8B-B14F-4D97-AF65-F5344CB8AC3E}">
        <p14:creationId xmlns:p14="http://schemas.microsoft.com/office/powerpoint/2010/main" val="2429266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26146A-6FBC-4734-BBB2-90736E3C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例題2：量子井寬度與能階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EEAB18D-EC15-4B9E-873D-CF98B65C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316C7D08-2E1F-4C81-8813-ACDF9759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教學模型：m = m_e，L = 2.00 nm，井內位能設為0。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A09D3952-2581-4FEA-A91D-D017EC59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步驟1：L = 2.00 × 10^(-9) m，E1 = h^(2)/(8m_eL^(2))。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EFB87F18-65D7-4730-8A04-A623D921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步驟2：E1 = 1.51 × 10^(-20) J ÷ (1.602 × 10^(-19) J/eV) = 0.0940 eV。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E71AFEB0-77EA-4830-90E4-814C7AA6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步驟3：E2 = 4E1 = 0.376 eV，兩能階差 ΔE = 0.282 eV。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66FAE249-0FD0-4C4F-BCD2-F7AACB47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 L 增為兩倍，所有 En 都變為四分之一。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6EC6ED67-F48F-4663-9FD0-05745D2B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32D4A552-21E2-4AA1-A8C7-49E9E218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1779F210-518D-49A5-9973-9A2A5B09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05-07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F5C9C8-A9FD-4E23-81A9-C1AEE09C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7 / 28</a:t>
            </a:r>
          </a:p>
        </p:txBody>
      </p:sp>
    </p:spTree>
    <p:extLst>
      <p:ext uri="{BB962C8B-B14F-4D97-AF65-F5344CB8AC3E}">
        <p14:creationId xmlns:p14="http://schemas.microsoft.com/office/powerpoint/2010/main" val="11975541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F146A0-BF0D-403C-A010-0DE76CFE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有限障壁與量子隧穿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C05E5D9C-D21C-4926-BEA1-46C31F36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E9118DC5-6BAC-4429-A25F-048FDD5A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當 E &lt; U0，經典粒子無法通過障壁，量子波函數卻可在障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壁中延伸。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A1B42471-1019-461B-8022-454C9F10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2568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衰減常數 κ = √[2m(U0 - E)]/ℏ，單位 m^(-1)。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12302ED4-B79B-4CDB-9860-7721ED3E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48326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在厚障壁近似下，穿透率的主要指數因子為 exp(-2κd)。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4E3905AC-04CB-4FFC-94AE-70104FBD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0408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 是障壁寬度。實際穿透率還有邊界匹配因子，並受障壁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形狀影響。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60FB7AC7-CEFA-4C10-8A61-8D46A6F2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29877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隧穿不需要電子暫時借到能量。時間不變的障壁仍守恆總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能量。</a:t>
            </a:r>
          </a:p>
        </p:txBody>
      </p:sp>
      <p:sp>
        <p:nvSpPr>
          <p:cNvPr id="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CD8185D-C8BA-4D4C-82CC-A63428BC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62294" y="4548188"/>
            <a:ext cx="374046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6B71"/>
            </a:solidFill>
            <a:prstDash val="solid"/>
          </a:ln>
        </p:spPr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A6329013-9A38-4FDD-AF9A-5D4BCF86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162294" y="1333500"/>
            <a:ext cx="95" cy="32146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6B71"/>
            </a:solidFill>
            <a:prstDash val="solid"/>
          </a:ln>
        </p:spPr>
      </p:sp>
      <p:sp>
        <p:nvSpPr>
          <p:cNvPr id="10" name="diagram-path">
            <a:extLst xmlns:a="http://schemas.openxmlformats.org/drawingml/2006/main">
              <a:ext uri="{FF2B5EF4-FFF2-40B4-BE49-F238E27FC236}">
                <a16:creationId xmlns:a16="http://schemas.microsoft.com/office/drawing/2014/main" id="{B1A58035-4452-4898-A44B-2FBE66CD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305" y="2062163"/>
            <a:ext cx="3608451" cy="2271713"/>
          </a:xfrm>
          <a:custGeom xmlns:a="http://schemas.openxmlformats.org/drawingml/2006/main">
            <a:pathLst>
              <a:path w="3608451" h="2271713">
                <a:moveTo>
                  <a:pt x="0" y="2271713"/>
                </a:moveTo>
                <a:lnTo>
                  <a:pt x="1056132" y="2271713"/>
                </a:lnTo>
                <a:lnTo>
                  <a:pt x="1056132" y="0"/>
                </a:lnTo>
                <a:lnTo>
                  <a:pt x="2596324" y="0"/>
                </a:lnTo>
                <a:lnTo>
                  <a:pt x="2596324" y="2271713"/>
                </a:lnTo>
                <a:lnTo>
                  <a:pt x="3608451" y="227171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06B71"/>
            </a:solidFill>
            <a:prstDash val="solid"/>
          </a:ln>
        </p:spPr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0DC69AD3-A812-4A0F-A34D-F374C99D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50305" y="3305175"/>
            <a:ext cx="3608451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6732"/>
            </a:solidFill>
            <a:prstDash val="solid"/>
          </a:ln>
        </p:spPr>
      </p:sp>
      <p:sp>
        <p:nvSpPr>
          <p:cNvPr id="12" name="figure-label-4">
            <a:extLst xmlns:a="http://schemas.openxmlformats.org/drawingml/2006/main">
              <a:ext uri="{FF2B5EF4-FFF2-40B4-BE49-F238E27FC236}">
                <a16:creationId xmlns:a16="http://schemas.microsoft.com/office/drawing/2014/main" id="{ACAB6D74-3737-4E70-8A14-196FF33A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646" y="2919413"/>
            <a:ext cx="1056132" cy="366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</a:t>
            </a:r>
          </a:p>
        </p:txBody>
      </p:sp>
      <p:sp>
        <p:nvSpPr>
          <p:cNvPr id="13" name="figure-label-5">
            <a:extLst xmlns:a="http://schemas.openxmlformats.org/drawingml/2006/main">
              <a:ext uri="{FF2B5EF4-FFF2-40B4-BE49-F238E27FC236}">
                <a16:creationId xmlns:a16="http://schemas.microsoft.com/office/drawing/2014/main" id="{0C3B5AC9-5AB2-4425-9400-A638E270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465" y="1719263"/>
            <a:ext cx="1232154" cy="366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U_0</a:t>
            </a:r>
          </a:p>
        </p:txBody>
      </p:sp>
      <p:sp>
        <p:nvSpPr>
          <p:cNvPr id="14" name="figure-label-6">
            <a:extLst xmlns:a="http://schemas.openxmlformats.org/drawingml/2006/main">
              <a:ext uri="{FF2B5EF4-FFF2-40B4-BE49-F238E27FC236}">
                <a16:creationId xmlns:a16="http://schemas.microsoft.com/office/drawing/2014/main" id="{9F12AEA0-4F13-42CB-8808-D65A4570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459" y="4762500"/>
            <a:ext cx="1760220" cy="366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障壁寬度 d</a:t>
            </a:r>
          </a:p>
        </p:txBody>
      </p:sp>
      <p:sp>
        <p:nvSpPr>
          <p:cNvPr id="15" name="native-figure-caption">
            <a:extLst xmlns:a="http://schemas.openxmlformats.org/drawingml/2006/main">
              <a:ext uri="{FF2B5EF4-FFF2-40B4-BE49-F238E27FC236}">
                <a16:creationId xmlns:a16="http://schemas.microsoft.com/office/drawing/2014/main" id="{C39B147C-DF5C-4FC5-ADE3-2B935B03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29225"/>
            <a:ext cx="4400550" cy="199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靜態矩形位能障壁示意，縱軸為能量，橫軸為位置</a:t>
            </a:r>
          </a:p>
        </p:txBody>
      </p:sp>
      <p:sp>
        <p:nvSpPr>
          <p:cNvPr id="16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B7FEDF4F-E332-4B0E-8FDA-98FD89BE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7FAED762-D28B-4C62-8D08-7A6ACBFB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8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AA64014F-D9B4-46FA-9B2A-29EABE4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05-08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C13A955-9A92-41B1-A400-2E165E74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8 / 28</a:t>
            </a:r>
          </a:p>
        </p:txBody>
      </p:sp>
    </p:spTree>
    <p:extLst>
      <p:ext uri="{BB962C8B-B14F-4D97-AF65-F5344CB8AC3E}">
        <p14:creationId xmlns:p14="http://schemas.microsoft.com/office/powerpoint/2010/main" val="9177669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D19210-A8BF-4251-A47D-1DD6E281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例題3：增加一點厚度的效果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B4AEEFC-1502-41FF-9CC0-4CCAD627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39E062A0-17AF-494D-8812-C6D25EF6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假設兩個模型的 κ 都是 5.0 nm^(-1)，只把 d 由1.0改為1.2 nm。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C9A61E7B-F8E8-477D-9198-0283D6DE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比較相同障壁的指數因子：T2/T1 ≈ exp[-2κ(d2 - d1)]。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179FDF19-8AE3-45FC-8324-F0D4C973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代入：-2 × 5.0 nm^(-1) × 0.2 nm = -2.0。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4EA9789-D183-4A28-A20E-F5971973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所以 T2/T1 ≈ exp(-2.0) = 0.135，約減至原本的14%。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2EC5F6E4-35E3-4C5D-84F2-528A1275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此比值需假設邊界因子近似不變，並未預測實測電流。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0D18BED4-D549-4C84-8FE7-5AA0A92D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1000732-77AD-464F-8126-81C7A452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6AB5F807-8778-4AC1-97A9-3907D77E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05-09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3E6A7A6-613C-4EEB-A4E0-9B70187A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9 / 28</a:t>
            </a:r>
          </a:p>
        </p:txBody>
      </p:sp>
    </p:spTree>
    <p:extLst>
      <p:ext uri="{BB962C8B-B14F-4D97-AF65-F5344CB8AC3E}">
        <p14:creationId xmlns:p14="http://schemas.microsoft.com/office/powerpoint/2010/main" val="1312347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149BFC-4632-483B-B2FF-EA02EF32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練習1與2：尺度與指數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260E625-BBDC-4282-985F-7A388719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CDE65BBF-CECF-4B7A-951F-FEF2822B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練習1：自由電子動能由1 eV增至9 eV，波長變成幾倍？請先寫比例式。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CB408281-70C1-462A-8CD0-82C8142D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練習2a：無限深井的寬度變成3倍，E1 變成幾倍？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D52D730D-6C69-417A-AE18-3BBC1648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練習2b：保持 κ = 5.0 nm^(-1)，障壁加寬0.10 nm，指數因子變成幾倍？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752D8288-659D-4D0F-BAE9-019F5DF0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每題都說明模型假設，並檢查根號或指數內的單位。</a:t>
            </a:r>
          </a:p>
        </p:txBody>
      </p:sp>
      <p:sp>
        <p:nvSpPr>
          <p:cNvPr id="7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FC1AB6A1-30C0-4EB4-B9B1-366DE150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B838D34-9F07-4BC4-A5D6-4EEDF737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9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6894C8D4-0F76-4F38-B6D8-6B23B734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05-10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135AB6-383E-4814-8ACC-2EF546A8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10 / 28</a:t>
            </a:r>
          </a:p>
        </p:txBody>
      </p:sp>
    </p:spTree>
    <p:extLst>
      <p:ext uri="{BB962C8B-B14F-4D97-AF65-F5344CB8AC3E}">
        <p14:creationId xmlns:p14="http://schemas.microsoft.com/office/powerpoint/2010/main" val="8124019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D6BFD9-BAC5-4B44-A726-6644926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解答1與2：先判斷函數關係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F88ADDC-F8B5-44B5-93BA-EB7510BB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D8D53627-FCED-40B4-92E0-A4135C56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1．p = √(2mE)，所以 λ ∝ 1/√E，λ新/λ舊 = √(1/9) = 1/3。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FD88EF7F-AAEC-4820-BC25-A3723623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2a．E1 ∝ L^(-2)，寬度變3倍，能量變成 1/3^(2) = 1/9。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0A9CFBF8-06E4-4553-9433-032835D6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2b．T新/T舊 ≈ exp(-2κΔd) = exp(-1) ≈ 0.368。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75C445BF-242E-470F-BCEC-026C7636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單位檢查：nm^(-1) × nm = 1。指數 -1 沒有單位。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D62F2E10-0D0A-40A4-8122-472C69E3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適用範圍：自由非相對論粒子、理想無限井、相同矩形障壁的厚障壁近似。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B31A2E3-ECA1-4DB5-92A0-B521AAF5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DCE6201-AFE0-4FF0-B54B-016A728C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7D442169-D292-4490-84E4-31994F93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05-11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8AEBAEC-6DAB-479D-B522-E26F58F4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11 / 28</a:t>
            </a:r>
          </a:p>
        </p:txBody>
      </p:sp>
    </p:spTree>
    <p:extLst>
      <p:ext uri="{BB962C8B-B14F-4D97-AF65-F5344CB8AC3E}">
        <p14:creationId xmlns:p14="http://schemas.microsoft.com/office/powerpoint/2010/main" val="7234186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298F8D-D363-48C2-8115-D99B326D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大量原子形成能帶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2A02F4E-3622-4F95-B70E-218F1394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447B2D81-3C25-4706-9543-85604C01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孤立原子有離散能階。原子彼此作用後，原本相近的能階會分裂。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C417B633-4F24-40E7-BDED-945CF3EF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巨量原子的可用能態密集，形成能帶。能隙是某能量範圍缺少允許態。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67A585D1-5B1A-4910-B86C-B4463FBE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晶體的週期位能允許以 Bloch 態描述電子，週期散射可產生能隙。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63EACE75-C06F-44B2-A781-6FF4EE09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Pauli 不相容原理：同一完整量子態最多容納一個電子。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06E3CE77-65D9-48DF-A236-E7E45660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能帶結構與填入情況共同決定導電性。非晶薄膜還需考慮局域態。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0BF434BB-A75D-4E8D-8533-C1A78735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A778901-5FCC-45D1-B0B5-97A11EE9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9FE318A6-AF9D-4AC6-8BDE-47A7E0A0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05-12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96AB19-6AFC-4509-A1DF-57B2E78A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12 / 28</a:t>
            </a:r>
          </a:p>
        </p:txBody>
      </p:sp>
    </p:spTree>
    <p:extLst>
      <p:ext uri="{BB962C8B-B14F-4D97-AF65-F5344CB8AC3E}">
        <p14:creationId xmlns:p14="http://schemas.microsoft.com/office/powerpoint/2010/main" val="21191569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303E0C-CFED-4773-B33E-5ACA09B7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態密度與載子數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EC9E1E8C-658F-4A8C-902D-0D7DBBB2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690B1F1D-D042-436A-A18A-A48D1C89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態密度 g(E) 表示每單位體積、每單位能量有多少可用電子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態。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5E1E1781-FC69-460F-8ADE-C7A29270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2568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若能量用 eV，g 的單位可寫 states·m^(-3)·eV^(-1)。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35659042-941A-4190-918A-DAC8A312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48326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佔據率 f(E) 是該態有電子的機率，介於0與1之間。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E6C17E1B-278F-4E85-8FDA-6D90B5BA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0408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n = ∫ g(E)f(E)dE，積分範圍 EC 至 ∞。n 的單位為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m^(-3)。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17025FC5-1CCA-4A3D-A546-C5D87C6C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29877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先數可用位置，再乘填入比例。高態密度不保證高載子濃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度。</a:t>
            </a:r>
          </a:p>
        </p:txBody>
      </p:sp>
      <p:sp>
        <p:nvSpPr>
          <p:cNvPr id="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8A64BFCC-CDF6-4DF7-B278-A06F7191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4286250"/>
            <a:ext cx="36385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57889"/>
            </a:solidFill>
            <a:prstDash val="solid"/>
          </a:ln>
        </p:spPr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DC86544D-C0BB-4675-8F89-B0C1BEFD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1857375"/>
            <a:ext cx="95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57889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F53FFB53-EAB3-4104-87E2-A8616B76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42481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3935633-D767-4EC4-A079-51BFA24C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36245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6DF6AA36-C21B-485D-A0ED-FBDDA6A5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42481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2729FBCE-68DE-4C05-99AA-667E3484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6245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6EE10CB9-004E-4C00-9EED-CB093B07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72675" y="42481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E727DFB5-C0F9-41E7-BA36-D383F464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6245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4</a:t>
            </a:r>
          </a:p>
        </p:txBody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7DDA087F-90FF-4786-818A-F9D8A39E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3071813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314187EC-FFA6-4A29-A08F-C88A6C8A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976563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1.1</a:t>
            </a:r>
          </a:p>
        </p:txBody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AAEE5C7A-E542-4B08-8ABE-15EFFF90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1857375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BDA26F77-1052-4934-ADB8-534F59D5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76212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2.2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94DD2202-F60A-4C1F-BE5E-FF905417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8630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(E - EC)/E_0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253C3271-33EB-4732-8978-6B2568DD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3638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相對態密度</a:t>
            </a:r>
          </a:p>
        </p:txBody>
      </p:sp>
      <p:sp>
        <p:nvSpPr>
          <p:cNvPr id="22" name="√[(E-EC)/E_0]">
            <a:extLst xmlns:a="http://schemas.openxmlformats.org/drawingml/2006/main">
              <a:ext uri="{FF2B5EF4-FFF2-40B4-BE49-F238E27FC236}">
                <a16:creationId xmlns:a16="http://schemas.microsoft.com/office/drawing/2014/main" id="{B2CFF6D2-F197-439A-9C6E-1B0CB058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78182"/>
            <a:ext cx="3638550" cy="2208068"/>
          </a:xfrm>
          <a:custGeom xmlns:a="http://schemas.openxmlformats.org/drawingml/2006/main">
            <a:pathLst>
              <a:path w="3638550" h="2208068">
                <a:moveTo>
                  <a:pt x="0" y="2208068"/>
                </a:moveTo>
                <a:lnTo>
                  <a:pt x="45482" y="1961199"/>
                </a:lnTo>
                <a:lnTo>
                  <a:pt x="90964" y="1858942"/>
                </a:lnTo>
                <a:lnTo>
                  <a:pt x="136446" y="1780478"/>
                </a:lnTo>
                <a:lnTo>
                  <a:pt x="181928" y="1714329"/>
                </a:lnTo>
                <a:lnTo>
                  <a:pt x="227409" y="1656051"/>
                </a:lnTo>
                <a:lnTo>
                  <a:pt x="272891" y="1603364"/>
                </a:lnTo>
                <a:lnTo>
                  <a:pt x="318373" y="1554913"/>
                </a:lnTo>
                <a:lnTo>
                  <a:pt x="363855" y="1509816"/>
                </a:lnTo>
                <a:lnTo>
                  <a:pt x="409337" y="1467460"/>
                </a:lnTo>
                <a:lnTo>
                  <a:pt x="454819" y="1427398"/>
                </a:lnTo>
                <a:lnTo>
                  <a:pt x="500301" y="1389295"/>
                </a:lnTo>
                <a:lnTo>
                  <a:pt x="545782" y="1352887"/>
                </a:lnTo>
                <a:lnTo>
                  <a:pt x="591264" y="1317967"/>
                </a:lnTo>
                <a:lnTo>
                  <a:pt x="636746" y="1284367"/>
                </a:lnTo>
                <a:lnTo>
                  <a:pt x="682228" y="1251947"/>
                </a:lnTo>
                <a:lnTo>
                  <a:pt x="727710" y="1220590"/>
                </a:lnTo>
                <a:lnTo>
                  <a:pt x="773192" y="1190199"/>
                </a:lnTo>
                <a:lnTo>
                  <a:pt x="818674" y="1160689"/>
                </a:lnTo>
                <a:lnTo>
                  <a:pt x="864156" y="1131989"/>
                </a:lnTo>
                <a:lnTo>
                  <a:pt x="909638" y="1104034"/>
                </a:lnTo>
                <a:lnTo>
                  <a:pt x="955119" y="1076770"/>
                </a:lnTo>
                <a:lnTo>
                  <a:pt x="1000601" y="1050147"/>
                </a:lnTo>
                <a:lnTo>
                  <a:pt x="1046083" y="1024124"/>
                </a:lnTo>
                <a:lnTo>
                  <a:pt x="1091565" y="998659"/>
                </a:lnTo>
                <a:lnTo>
                  <a:pt x="1137047" y="973721"/>
                </a:lnTo>
                <a:lnTo>
                  <a:pt x="1182529" y="949276"/>
                </a:lnTo>
                <a:lnTo>
                  <a:pt x="1228011" y="925296"/>
                </a:lnTo>
                <a:lnTo>
                  <a:pt x="1273493" y="901757"/>
                </a:lnTo>
                <a:lnTo>
                  <a:pt x="1318974" y="878635"/>
                </a:lnTo>
                <a:lnTo>
                  <a:pt x="1364456" y="855908"/>
                </a:lnTo>
                <a:lnTo>
                  <a:pt x="1409938" y="833557"/>
                </a:lnTo>
                <a:lnTo>
                  <a:pt x="1455420" y="811563"/>
                </a:lnTo>
                <a:lnTo>
                  <a:pt x="1500902" y="789911"/>
                </a:lnTo>
                <a:lnTo>
                  <a:pt x="1546384" y="768584"/>
                </a:lnTo>
                <a:lnTo>
                  <a:pt x="1591866" y="747568"/>
                </a:lnTo>
                <a:lnTo>
                  <a:pt x="1637347" y="726851"/>
                </a:lnTo>
                <a:lnTo>
                  <a:pt x="1682829" y="706419"/>
                </a:lnTo>
                <a:lnTo>
                  <a:pt x="1728311" y="686262"/>
                </a:lnTo>
                <a:lnTo>
                  <a:pt x="1773793" y="666368"/>
                </a:lnTo>
                <a:lnTo>
                  <a:pt x="1819275" y="646728"/>
                </a:lnTo>
                <a:lnTo>
                  <a:pt x="1864757" y="627332"/>
                </a:lnTo>
                <a:lnTo>
                  <a:pt x="1910239" y="608171"/>
                </a:lnTo>
                <a:lnTo>
                  <a:pt x="1955721" y="589236"/>
                </a:lnTo>
                <a:lnTo>
                  <a:pt x="2001203" y="570521"/>
                </a:lnTo>
                <a:lnTo>
                  <a:pt x="2046684" y="552017"/>
                </a:lnTo>
                <a:lnTo>
                  <a:pt x="2092166" y="533718"/>
                </a:lnTo>
                <a:lnTo>
                  <a:pt x="2137648" y="515616"/>
                </a:lnTo>
                <a:lnTo>
                  <a:pt x="2183130" y="497706"/>
                </a:lnTo>
                <a:lnTo>
                  <a:pt x="2228612" y="479981"/>
                </a:lnTo>
                <a:lnTo>
                  <a:pt x="2274094" y="462437"/>
                </a:lnTo>
                <a:lnTo>
                  <a:pt x="2319576" y="445067"/>
                </a:lnTo>
                <a:lnTo>
                  <a:pt x="2365057" y="427867"/>
                </a:lnTo>
                <a:lnTo>
                  <a:pt x="2410539" y="410831"/>
                </a:lnTo>
                <a:lnTo>
                  <a:pt x="2456021" y="393955"/>
                </a:lnTo>
                <a:lnTo>
                  <a:pt x="2501503" y="377235"/>
                </a:lnTo>
                <a:lnTo>
                  <a:pt x="2546985" y="360666"/>
                </a:lnTo>
                <a:lnTo>
                  <a:pt x="2592467" y="344244"/>
                </a:lnTo>
                <a:lnTo>
                  <a:pt x="2637949" y="327966"/>
                </a:lnTo>
                <a:lnTo>
                  <a:pt x="2683431" y="311827"/>
                </a:lnTo>
                <a:lnTo>
                  <a:pt x="2728913" y="295825"/>
                </a:lnTo>
                <a:lnTo>
                  <a:pt x="2774394" y="279956"/>
                </a:lnTo>
                <a:lnTo>
                  <a:pt x="2819876" y="264216"/>
                </a:lnTo>
                <a:lnTo>
                  <a:pt x="2865358" y="248602"/>
                </a:lnTo>
                <a:lnTo>
                  <a:pt x="2910840" y="233112"/>
                </a:lnTo>
                <a:lnTo>
                  <a:pt x="2956322" y="217742"/>
                </a:lnTo>
                <a:lnTo>
                  <a:pt x="3001804" y="202491"/>
                </a:lnTo>
                <a:lnTo>
                  <a:pt x="3047286" y="187354"/>
                </a:lnTo>
                <a:lnTo>
                  <a:pt x="3092768" y="172330"/>
                </a:lnTo>
                <a:lnTo>
                  <a:pt x="3138249" y="157416"/>
                </a:lnTo>
                <a:lnTo>
                  <a:pt x="3183731" y="142610"/>
                </a:lnTo>
                <a:lnTo>
                  <a:pt x="3229213" y="127909"/>
                </a:lnTo>
                <a:lnTo>
                  <a:pt x="3274695" y="113311"/>
                </a:lnTo>
                <a:lnTo>
                  <a:pt x="3320177" y="98814"/>
                </a:lnTo>
                <a:lnTo>
                  <a:pt x="3365659" y="84416"/>
                </a:lnTo>
                <a:lnTo>
                  <a:pt x="3411141" y="70115"/>
                </a:lnTo>
                <a:lnTo>
                  <a:pt x="3456623" y="55910"/>
                </a:lnTo>
                <a:lnTo>
                  <a:pt x="3502104" y="41797"/>
                </a:lnTo>
                <a:lnTo>
                  <a:pt x="3547586" y="27776"/>
                </a:lnTo>
                <a:lnTo>
                  <a:pt x="3593068" y="13844"/>
                </a:lnTo>
                <a:lnTo>
                  <a:pt x="3638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06B71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B678CDE7-9069-4F7A-AE19-34355838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923925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rPr>
              <a:t>√[(E-EC)/E_0]</a:t>
            </a:r>
          </a:p>
        </p:txBody>
      </p:sp>
      <p:sp>
        <p:nvSpPr>
          <p:cNvPr id="24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D289ABBD-4485-4CA7-8EAD-15622FF9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29225"/>
            <a:ext cx="4400550" cy="199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三維拋物線能帶解析示意，E_0 為任意能量尺度，非實測資料</a:t>
            </a:r>
          </a:p>
        </p:txBody>
      </p:sp>
      <p:sp>
        <p:nvSpPr>
          <p:cNvPr id="25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D2D5C3CB-0444-4B15-889B-7674E046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6" name="footer">
            <a:extLst xmlns:a="http://schemas.openxmlformats.org/drawingml/2006/main">
              <a:ext uri="{FF2B5EF4-FFF2-40B4-BE49-F238E27FC236}">
                <a16:creationId xmlns:a16="http://schemas.microsoft.com/office/drawing/2014/main" id="{EB86103D-1C83-4BF3-BA0D-7B2FF962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7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D93D4917-E0DC-490A-852A-6995D2C5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05-13</a:t>
            </a:r>
          </a:p>
        </p:txBody>
      </p:sp>
      <p:sp>
        <p:nvSpPr>
          <p:cNvPr id="2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7C632A1-FF82-4C09-B9B9-E65CBBEE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13 / 28</a:t>
            </a:r>
          </a:p>
        </p:txBody>
      </p:sp>
    </p:spTree>
    <p:extLst>
      <p:ext uri="{BB962C8B-B14F-4D97-AF65-F5344CB8AC3E}">
        <p14:creationId xmlns:p14="http://schemas.microsoft.com/office/powerpoint/2010/main" val="3443549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BE7215-9892-416B-88B9-828A4DB8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費米–狄拉克佔據率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78666AEC-2FA5-47DB-BA60-93C08101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29820768-7163-49FE-9838-B5538B21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熱平衡下 f(E) = 1 / {1 + exp[(E - EF)/(kBT)]}。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41305CFC-8BCF-41E0-B257-5761A81C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EF 是費米能階。T 用 K，所有能量使用同單位。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7973531C-3F60-4D50-AAEF-EA3C6CFC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 = EF 時 f = 1/2。高於 EF 的能態佔據率較低。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BAFB092-3A51-460C-BA4D-F399C422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T 趨近0時，EF 以下填滿、以上空著。有限溫度使邊界平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滑。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164E7825-BEDA-4D3D-8BE9-9E80AC70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984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EF 可在能隙中。若 g = 0，有限 f 也不會產生電子態。</a:t>
            </a:r>
          </a:p>
        </p:txBody>
      </p:sp>
      <p:sp>
        <p:nvSpPr>
          <p:cNvPr id="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553A88D5-D6A9-4C45-8B06-C72DA5B4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4286250"/>
            <a:ext cx="36385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57889"/>
            </a:solidFill>
            <a:prstDash val="solid"/>
          </a:ln>
        </p:spPr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43EDE48-0703-4AA8-B539-4EF33A22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1857375"/>
            <a:ext cx="95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57889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B58A3862-2214-4496-AD9F-CC19009D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42481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E80E2D3-192A-48B5-911E-4D432A5F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36245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-5</a:t>
            </a:r>
          </a:p>
        </p:txBody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F6F7697-CB2D-4D89-9A41-0989B29D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42481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D956D0F1-CA97-45A1-A003-89DBEFEB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6245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0AA13CB2-8D08-4D65-88D1-18A33DC3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72675" y="42481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9A54676C-C0E0-4BB6-A09F-81B34CDD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6245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5</a:t>
            </a:r>
          </a:p>
        </p:txBody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2C130A9B-71A9-4989-A0BD-5D0B2EC2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15300" y="3071813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4C13645B-3D15-4525-9A41-01BF1A4C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76563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0.5</a:t>
            </a:r>
          </a:p>
        </p:txBody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BC45F0FE-CD78-42B6-B777-5966A203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15300" y="1857375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9A443C7F-BE6A-436C-A282-7F407614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6212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5F6E740D-684E-4360-BBA4-DA543709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8630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(E - EF)/(kBT)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573F5CE6-F18B-4AE4-8493-BF211958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3638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f(E)</a:t>
            </a:r>
          </a:p>
        </p:txBody>
      </p:sp>
      <p:sp>
        <p:nvSpPr>
          <p:cNvPr id="22" name="費米–狄拉克">
            <a:extLst xmlns:a="http://schemas.openxmlformats.org/drawingml/2006/main">
              <a:ext uri="{FF2B5EF4-FFF2-40B4-BE49-F238E27FC236}">
                <a16:creationId xmlns:a16="http://schemas.microsoft.com/office/drawing/2014/main" id="{492A0DBB-466E-40FB-9C70-47031A4E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73631"/>
            <a:ext cx="3638550" cy="2396363"/>
          </a:xfrm>
          <a:custGeom xmlns:a="http://schemas.openxmlformats.org/drawingml/2006/main">
            <a:pathLst>
              <a:path w="3638550" h="2396363">
                <a:moveTo>
                  <a:pt x="0" y="0"/>
                </a:moveTo>
                <a:lnTo>
                  <a:pt x="36385" y="1697"/>
                </a:lnTo>
                <a:lnTo>
                  <a:pt x="72771" y="3570"/>
                </a:lnTo>
                <a:lnTo>
                  <a:pt x="109157" y="5636"/>
                </a:lnTo>
                <a:lnTo>
                  <a:pt x="145542" y="7916"/>
                </a:lnTo>
                <a:lnTo>
                  <a:pt x="181928" y="10430"/>
                </a:lnTo>
                <a:lnTo>
                  <a:pt x="218313" y="13202"/>
                </a:lnTo>
                <a:lnTo>
                  <a:pt x="254699" y="16259"/>
                </a:lnTo>
                <a:lnTo>
                  <a:pt x="291084" y="19628"/>
                </a:lnTo>
                <a:lnTo>
                  <a:pt x="327469" y="23341"/>
                </a:lnTo>
                <a:lnTo>
                  <a:pt x="363855" y="27430"/>
                </a:lnTo>
                <a:lnTo>
                  <a:pt x="400240" y="31934"/>
                </a:lnTo>
                <a:lnTo>
                  <a:pt x="436626" y="36891"/>
                </a:lnTo>
                <a:lnTo>
                  <a:pt x="473011" y="42345"/>
                </a:lnTo>
                <a:lnTo>
                  <a:pt x="509397" y="48345"/>
                </a:lnTo>
                <a:lnTo>
                  <a:pt x="545782" y="54940"/>
                </a:lnTo>
                <a:lnTo>
                  <a:pt x="582168" y="62186"/>
                </a:lnTo>
                <a:lnTo>
                  <a:pt x="618554" y="70142"/>
                </a:lnTo>
                <a:lnTo>
                  <a:pt x="654939" y="78873"/>
                </a:lnTo>
                <a:lnTo>
                  <a:pt x="691325" y="88446"/>
                </a:lnTo>
                <a:lnTo>
                  <a:pt x="727710" y="98935"/>
                </a:lnTo>
                <a:lnTo>
                  <a:pt x="764096" y="110418"/>
                </a:lnTo>
                <a:lnTo>
                  <a:pt x="800481" y="122977"/>
                </a:lnTo>
                <a:lnTo>
                  <a:pt x="836867" y="136698"/>
                </a:lnTo>
                <a:lnTo>
                  <a:pt x="873252" y="151672"/>
                </a:lnTo>
                <a:lnTo>
                  <a:pt x="909638" y="167994"/>
                </a:lnTo>
                <a:lnTo>
                  <a:pt x="946023" y="185760"/>
                </a:lnTo>
                <a:lnTo>
                  <a:pt x="982408" y="205070"/>
                </a:lnTo>
                <a:lnTo>
                  <a:pt x="1018794" y="226025"/>
                </a:lnTo>
                <a:lnTo>
                  <a:pt x="1055179" y="248726"/>
                </a:lnTo>
                <a:lnTo>
                  <a:pt x="1091565" y="273273"/>
                </a:lnTo>
                <a:lnTo>
                  <a:pt x="1127950" y="299761"/>
                </a:lnTo>
                <a:lnTo>
                  <a:pt x="1164336" y="328282"/>
                </a:lnTo>
                <a:lnTo>
                  <a:pt x="1200721" y="358921"/>
                </a:lnTo>
                <a:lnTo>
                  <a:pt x="1237107" y="391750"/>
                </a:lnTo>
                <a:lnTo>
                  <a:pt x="1273493" y="426833"/>
                </a:lnTo>
                <a:lnTo>
                  <a:pt x="1309878" y="464215"/>
                </a:lnTo>
                <a:lnTo>
                  <a:pt x="1346264" y="503924"/>
                </a:lnTo>
                <a:lnTo>
                  <a:pt x="1382649" y="545968"/>
                </a:lnTo>
                <a:lnTo>
                  <a:pt x="1419035" y="590331"/>
                </a:lnTo>
                <a:lnTo>
                  <a:pt x="1455420" y="636969"/>
                </a:lnTo>
                <a:lnTo>
                  <a:pt x="1491806" y="685811"/>
                </a:lnTo>
                <a:lnTo>
                  <a:pt x="1528191" y="736757"/>
                </a:lnTo>
                <a:lnTo>
                  <a:pt x="1564577" y="789674"/>
                </a:lnTo>
                <a:lnTo>
                  <a:pt x="1600962" y="844400"/>
                </a:lnTo>
                <a:lnTo>
                  <a:pt x="1637347" y="900743"/>
                </a:lnTo>
                <a:lnTo>
                  <a:pt x="1673733" y="958481"/>
                </a:lnTo>
                <a:lnTo>
                  <a:pt x="1710118" y="1017370"/>
                </a:lnTo>
                <a:lnTo>
                  <a:pt x="1746504" y="1077141"/>
                </a:lnTo>
                <a:lnTo>
                  <a:pt x="1782890" y="1137510"/>
                </a:lnTo>
                <a:lnTo>
                  <a:pt x="1819275" y="1198181"/>
                </a:lnTo>
                <a:lnTo>
                  <a:pt x="1855660" y="1258853"/>
                </a:lnTo>
                <a:lnTo>
                  <a:pt x="1892046" y="1319222"/>
                </a:lnTo>
                <a:lnTo>
                  <a:pt x="1928432" y="1378993"/>
                </a:lnTo>
                <a:lnTo>
                  <a:pt x="1964817" y="1437881"/>
                </a:lnTo>
                <a:lnTo>
                  <a:pt x="2001203" y="1495620"/>
                </a:lnTo>
                <a:lnTo>
                  <a:pt x="2037588" y="1551962"/>
                </a:lnTo>
                <a:lnTo>
                  <a:pt x="2073974" y="1606688"/>
                </a:lnTo>
                <a:lnTo>
                  <a:pt x="2110359" y="1659606"/>
                </a:lnTo>
                <a:lnTo>
                  <a:pt x="2146745" y="1710551"/>
                </a:lnTo>
                <a:lnTo>
                  <a:pt x="2183130" y="1759394"/>
                </a:lnTo>
                <a:lnTo>
                  <a:pt x="2219516" y="1806032"/>
                </a:lnTo>
                <a:lnTo>
                  <a:pt x="2255901" y="1850395"/>
                </a:lnTo>
                <a:lnTo>
                  <a:pt x="2292286" y="1892439"/>
                </a:lnTo>
                <a:lnTo>
                  <a:pt x="2328672" y="1932148"/>
                </a:lnTo>
                <a:lnTo>
                  <a:pt x="2365057" y="1969530"/>
                </a:lnTo>
                <a:lnTo>
                  <a:pt x="2401443" y="2004613"/>
                </a:lnTo>
                <a:lnTo>
                  <a:pt x="2437829" y="2037442"/>
                </a:lnTo>
                <a:lnTo>
                  <a:pt x="2474214" y="2068080"/>
                </a:lnTo>
                <a:lnTo>
                  <a:pt x="2510600" y="2096602"/>
                </a:lnTo>
                <a:lnTo>
                  <a:pt x="2546985" y="2123090"/>
                </a:lnTo>
                <a:lnTo>
                  <a:pt x="2583371" y="2147636"/>
                </a:lnTo>
                <a:lnTo>
                  <a:pt x="2619756" y="2170337"/>
                </a:lnTo>
                <a:lnTo>
                  <a:pt x="2656142" y="2191293"/>
                </a:lnTo>
                <a:lnTo>
                  <a:pt x="2692527" y="2210603"/>
                </a:lnTo>
                <a:lnTo>
                  <a:pt x="2728913" y="2228369"/>
                </a:lnTo>
                <a:lnTo>
                  <a:pt x="2765298" y="2244690"/>
                </a:lnTo>
                <a:lnTo>
                  <a:pt x="2801684" y="2259664"/>
                </a:lnTo>
                <a:lnTo>
                  <a:pt x="2838069" y="2273386"/>
                </a:lnTo>
                <a:lnTo>
                  <a:pt x="2874454" y="2285944"/>
                </a:lnTo>
                <a:lnTo>
                  <a:pt x="2910840" y="2297427"/>
                </a:lnTo>
                <a:lnTo>
                  <a:pt x="2947225" y="2307917"/>
                </a:lnTo>
                <a:lnTo>
                  <a:pt x="2983611" y="2317490"/>
                </a:lnTo>
                <a:lnTo>
                  <a:pt x="3019996" y="2326221"/>
                </a:lnTo>
                <a:lnTo>
                  <a:pt x="3056382" y="2334177"/>
                </a:lnTo>
                <a:lnTo>
                  <a:pt x="3092768" y="2341423"/>
                </a:lnTo>
                <a:lnTo>
                  <a:pt x="3129153" y="2348018"/>
                </a:lnTo>
                <a:lnTo>
                  <a:pt x="3165538" y="2354017"/>
                </a:lnTo>
                <a:lnTo>
                  <a:pt x="3201924" y="2359472"/>
                </a:lnTo>
                <a:lnTo>
                  <a:pt x="3238310" y="2364429"/>
                </a:lnTo>
                <a:lnTo>
                  <a:pt x="3274695" y="2368933"/>
                </a:lnTo>
                <a:lnTo>
                  <a:pt x="3311080" y="2373022"/>
                </a:lnTo>
                <a:lnTo>
                  <a:pt x="3347466" y="2376735"/>
                </a:lnTo>
                <a:lnTo>
                  <a:pt x="3383852" y="2380104"/>
                </a:lnTo>
                <a:lnTo>
                  <a:pt x="3420237" y="2383160"/>
                </a:lnTo>
                <a:lnTo>
                  <a:pt x="3456623" y="2385933"/>
                </a:lnTo>
                <a:lnTo>
                  <a:pt x="3493008" y="2388447"/>
                </a:lnTo>
                <a:lnTo>
                  <a:pt x="3529393" y="2390727"/>
                </a:lnTo>
                <a:lnTo>
                  <a:pt x="3565779" y="2392793"/>
                </a:lnTo>
                <a:lnTo>
                  <a:pt x="3602165" y="2394666"/>
                </a:lnTo>
                <a:lnTo>
                  <a:pt x="3638550" y="239636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06B71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9DE65E58-F875-4891-B8D3-777A011D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923925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rPr>
              <a:t>費米–狄拉克</a:t>
            </a:r>
          </a:p>
        </p:txBody>
      </p:sp>
      <p:sp>
        <p:nvSpPr>
          <p:cNvPr id="24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973CEF85-8E32-4837-9495-DFE8DE13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29225"/>
            <a:ext cx="4400550" cy="199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解析佔據率，非器件量測資料</a:t>
            </a:r>
          </a:p>
        </p:txBody>
      </p:sp>
      <p:sp>
        <p:nvSpPr>
          <p:cNvPr id="25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EF2E2AF8-AE0D-45A2-9938-98B757C0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6" name="footer">
            <a:extLst xmlns:a="http://schemas.openxmlformats.org/drawingml/2006/main">
              <a:ext uri="{FF2B5EF4-FFF2-40B4-BE49-F238E27FC236}">
                <a16:creationId xmlns:a16="http://schemas.microsoft.com/office/drawing/2014/main" id="{CF669D98-CF6C-4EC5-8843-D9EECAD8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7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E57C5CDE-0E3A-4390-A3A8-E2308FB5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05-14</a:t>
            </a:r>
          </a:p>
        </p:txBody>
      </p:sp>
      <p:sp>
        <p:nvSpPr>
          <p:cNvPr id="2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56193B-4034-4FE2-9313-3ECF1320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14 / 28</a:t>
            </a:r>
          </a:p>
        </p:txBody>
      </p:sp>
    </p:spTree>
    <p:extLst>
      <p:ext uri="{BB962C8B-B14F-4D97-AF65-F5344CB8AC3E}">
        <p14:creationId xmlns:p14="http://schemas.microsoft.com/office/powerpoint/2010/main" val="8526294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7FBF83-50D1-4CDA-81E1-CC03A97B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例題4：能階上的電子佔據率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9D1B759-1CBC-4C90-BDE9-680D269C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9FEE98ED-8FA1-4074-9B9E-57848D8E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 T = 300 K，某可用能態位於 EF 上方0.060 eV。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7CB6CC46-0F97-453C-8AF8-B65A1A23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步驟1：kBT = 8.617 × 10^(-5) × 300 = 0.02585 eV。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6E7A110C-26F9-4B52-BA58-07F4247B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步驟2：u = (E - EF)/(kBT) = 0.060/0.02585 ≈ 2.32。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727BDCA1-EE33-4C8E-90BA-B65A5A2E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步驟3：f = 1/[1 + exp(2.32)] ≈ 0.089，約9%的佔據機率。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251832BB-FCDD-4AF4-851C-D5D9EA7E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若能態位於 EF 下方同樣距離，f ≈ 0.911。兩者相加為1。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5595A1A-33EC-4C2B-A2E2-CCD63A47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8CBFB54D-946C-423C-8995-5AB1D7B9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61116C94-8BBE-4FF5-9223-3421D9FC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05-15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FA24A7C-7E64-4CAF-82C3-40269128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15 / 28</a:t>
            </a:r>
          </a:p>
        </p:txBody>
      </p:sp>
    </p:spTree>
    <p:extLst>
      <p:ext uri="{BB962C8B-B14F-4D97-AF65-F5344CB8AC3E}">
        <p14:creationId xmlns:p14="http://schemas.microsoft.com/office/powerpoint/2010/main" val="15261301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AAE814-3A64-4EB4-BB1A-41C2B1EF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摻雜與非簡併近似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90C7D32-BAD0-4E3B-803A-B0265142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15809289-56F7-4BAF-8E43-3ABAE5ED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施體與受體可改變電子、電洞數量，但缺陷是否游離取決於能階與溫度。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8773D22D-1D0C-4944-92E2-37EFEEEF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 E - EF 遠大於 kBT，1 + exp(u) ≈ exp(u)，所以 f ≈ exp(-u)。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E57CEF22-FFFE-4908-A826-6C31F46B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對非簡併半導體，n ≈ NC exp[-(EC - EF)/(kBT)]。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554E7B2E-371B-405B-9EC0-DFEB925F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NC 是導帶有效態密度，與能帶形狀、有效質量及溫度有關。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5161855-7E84-425A-94BB-2BD9AF19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高度摻雜、局域缺陷密集或無序的氧化物，可能不符合此近似。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BDF338BB-5973-4BF2-910B-EA697DC5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2EB205D0-BF52-4BF4-A834-281C1978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33D53619-F9FD-46D4-97F1-469D942C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05-16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8A38A3-33A0-4359-8C75-59A89676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16 / 28</a:t>
            </a:r>
          </a:p>
        </p:txBody>
      </p:sp>
    </p:spTree>
    <p:extLst>
      <p:ext uri="{BB962C8B-B14F-4D97-AF65-F5344CB8AC3E}">
        <p14:creationId xmlns:p14="http://schemas.microsoft.com/office/powerpoint/2010/main" val="5177546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9D1ABE-7474-4F6B-A9CA-E2EA1F1A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空間能帶圖與電場方向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EC162A4-C504-4196-810A-BC531F34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57EE1F21-9FC5-44B5-B7CF-0E152F75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E(k) 描述能量與晶體波向量。E(x) 則畫出器件位置上的帶邊變化。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370CDACF-41F3-4377-9088-401B60A4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靜電位 φ 的單位為 V。電子位能 Ue = -qφ。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FBAF8AE-5588-43B8-AE7D-02FD5148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所以 φ 升高，電子的能量線降低。電場 E_field = -dφ/dx，單位 V/m。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CD7C6A19-0169-417D-97FF-37FDC411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同種材料、忽略其他變化時，EC(x) 隨 -qφ(x) 一起彎曲。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8EECAAF7-6E48-4089-BDF7-E1C0C084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熱平衡且可交換電子時，EF 沿器件保持一致，帶邊卻可以彎曲。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0B168236-8B7A-46AC-88E1-738F2523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58DCEA0F-DFAC-4FB5-BF20-C4F08AD8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CE82C876-FCA4-4032-A3C5-E95875E5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05-17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F152F3-87A2-4E21-8A7E-BD8C8BCF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17 / 28</a:t>
            </a:r>
          </a:p>
        </p:txBody>
      </p:sp>
    </p:spTree>
    <p:extLst>
      <p:ext uri="{BB962C8B-B14F-4D97-AF65-F5344CB8AC3E}">
        <p14:creationId xmlns:p14="http://schemas.microsoft.com/office/powerpoint/2010/main" val="11936378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3CA640-8B37-469B-BF3F-0A75A50C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功函數與電子親和能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C5B32F2-4206-4C64-80BA-3BDB1E6E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7E56022C-0D38-4B9E-9B56-4C66AFE1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真空能級 Evac 是材料外的電子能量基準。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7F155464-101F-4B20-BC07-151C513A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功函數 W = Evac - EF，是費米能階到真空的能量差。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0D27F31-BF79-4174-A1EE-A17DCD0E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半導體電子親和能 χ = Evac - EC，是導帶底到真空的能量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差。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967DF541-7828-4FE4-B1ED-2248EB34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0408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因此 W = χ + (EC - EF)。W、χ 都採能量單位 eV。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387B6D58-2F36-47A9-91E2-F62C33A3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984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表面、吸附與介面偶極會改變實際值，表列值只作起點。</a:t>
            </a:r>
          </a:p>
        </p:txBody>
      </p:sp>
      <p:sp>
        <p:nvSpPr>
          <p:cNvPr id="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0AE66DCB-F79B-4339-8A85-EA9EE489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50305" y="1762125"/>
            <a:ext cx="228828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6B71"/>
            </a:solidFill>
            <a:prstDash val="solid"/>
          </a:ln>
        </p:spPr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DE83F334-7C53-4717-A833-E23AF2FE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50305" y="2747963"/>
            <a:ext cx="228828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6B71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23518D2-3483-4903-ACA8-C795BA1C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50305" y="3433763"/>
            <a:ext cx="228828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6732"/>
            </a:solidFill>
            <a:prstDash val="solid"/>
          </a:ln>
        </p:spPr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AE9E432-38A9-4516-A2B6-836A546A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50305" y="4333875"/>
            <a:ext cx="2288286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6B71"/>
            </a:solidFill>
            <a:prstDash val="solid"/>
          </a:ln>
        </p:spPr>
      </p:sp>
      <p:sp>
        <p:nvSpPr>
          <p:cNvPr id="12" name="figure-label-4">
            <a:extLst xmlns:a="http://schemas.openxmlformats.org/drawingml/2006/main">
              <a:ext uri="{FF2B5EF4-FFF2-40B4-BE49-F238E27FC236}">
                <a16:creationId xmlns:a16="http://schemas.microsoft.com/office/drawing/2014/main" id="{D86E5C0C-6683-455B-A85E-E2523293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305" y="1247775"/>
            <a:ext cx="2288286" cy="314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Evac 真空能級</a:t>
            </a:r>
          </a:p>
        </p:txBody>
      </p:sp>
      <p:sp>
        <p:nvSpPr>
          <p:cNvPr id="13" name="figure-label-5">
            <a:extLst xmlns:a="http://schemas.openxmlformats.org/drawingml/2006/main">
              <a:ext uri="{FF2B5EF4-FFF2-40B4-BE49-F238E27FC236}">
                <a16:creationId xmlns:a16="http://schemas.microsoft.com/office/drawing/2014/main" id="{112CB4E1-2DC5-449D-A17C-242B5C6C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305" y="2233613"/>
            <a:ext cx="2288286" cy="314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EC 導帶底</a:t>
            </a:r>
          </a:p>
        </p:txBody>
      </p:sp>
      <p:sp>
        <p:nvSpPr>
          <p:cNvPr id="14" name="figure-label-6">
            <a:extLst xmlns:a="http://schemas.openxmlformats.org/drawingml/2006/main">
              <a:ext uri="{FF2B5EF4-FFF2-40B4-BE49-F238E27FC236}">
                <a16:creationId xmlns:a16="http://schemas.microsoft.com/office/drawing/2014/main" id="{92C41497-DFC6-4F88-9B5C-976C1166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305" y="2919413"/>
            <a:ext cx="2288286" cy="314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EF 費米能階</a:t>
            </a:r>
          </a:p>
        </p:txBody>
      </p:sp>
      <p:sp>
        <p:nvSpPr>
          <p:cNvPr id="15" name="figure-label-7">
            <a:extLst xmlns:a="http://schemas.openxmlformats.org/drawingml/2006/main">
              <a:ext uri="{FF2B5EF4-FFF2-40B4-BE49-F238E27FC236}">
                <a16:creationId xmlns:a16="http://schemas.microsoft.com/office/drawing/2014/main" id="{287BEE3A-D234-4D8B-BEDE-593C4692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305" y="3819525"/>
            <a:ext cx="2288286" cy="314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EV 價帶頂</a:t>
            </a:r>
          </a:p>
        </p:txBody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A495833D-CE58-4B41-85E7-0D4BF9AB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90635" y="1762125"/>
            <a:ext cx="95" cy="9858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6B71"/>
            </a:solidFill>
            <a:prstDash val="solid"/>
          </a:ln>
        </p:spPr>
      </p:sp>
      <p:sp>
        <p:nvSpPr>
          <p:cNvPr id="1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FBF38611-BE99-4441-92F1-F45D059F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80621" y="1762125"/>
            <a:ext cx="22002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6B71"/>
            </a:solidFill>
            <a:prstDash val="solid"/>
          </a:ln>
        </p:spPr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59B30ED-2322-4F1B-A9B9-BEBD8B17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80621" y="2747963"/>
            <a:ext cx="22002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6B71"/>
            </a:solidFill>
            <a:prstDash val="solid"/>
          </a:ln>
        </p:spPr>
      </p:sp>
      <p:sp>
        <p:nvSpPr>
          <p:cNvPr id="19" name="figure-label-11">
            <a:extLst xmlns:a="http://schemas.openxmlformats.org/drawingml/2006/main">
              <a:ext uri="{FF2B5EF4-FFF2-40B4-BE49-F238E27FC236}">
                <a16:creationId xmlns:a16="http://schemas.microsoft.com/office/drawing/2014/main" id="{5A84D8AF-5899-402C-9B49-D72E5F99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649" y="2062163"/>
            <a:ext cx="44005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χ</a:t>
            </a:r>
          </a:p>
        </p:txBody>
      </p:sp>
      <p:sp>
        <p:nvSpPr>
          <p:cNvPr id="2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A508944-C9F7-4BF0-AC37-F05B24CF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94723" y="1762125"/>
            <a:ext cx="95" cy="16716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6732"/>
            </a:solidFill>
            <a:prstDash val="solid"/>
          </a:ln>
        </p:spPr>
      </p:sp>
      <p:sp>
        <p:nvSpPr>
          <p:cNvPr id="2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4C83B28-B54F-458E-89C9-61876B18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84709" y="1762125"/>
            <a:ext cx="22002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6732"/>
            </a:solidFill>
            <a:prstDash val="solid"/>
          </a:ln>
        </p:spPr>
      </p:sp>
      <p:sp>
        <p:nvSpPr>
          <p:cNvPr id="2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C0BE0F2-D2C4-4BD0-BD62-8D686AAF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84709" y="3433763"/>
            <a:ext cx="220028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6732"/>
            </a:solidFill>
            <a:prstDash val="solid"/>
          </a:ln>
        </p:spPr>
      </p:sp>
      <p:sp>
        <p:nvSpPr>
          <p:cNvPr id="23" name="figure-label-15">
            <a:extLst xmlns:a="http://schemas.openxmlformats.org/drawingml/2006/main">
              <a:ext uri="{FF2B5EF4-FFF2-40B4-BE49-F238E27FC236}">
                <a16:creationId xmlns:a16="http://schemas.microsoft.com/office/drawing/2014/main" id="{57B502C5-FC97-45B2-8AF3-8539847A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6740" y="2447925"/>
            <a:ext cx="440055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W</a:t>
            </a:r>
          </a:p>
        </p:txBody>
      </p:sp>
      <p:sp>
        <p:nvSpPr>
          <p:cNvPr id="24" name="native-figure-caption">
            <a:extLst xmlns:a="http://schemas.openxmlformats.org/drawingml/2006/main">
              <a:ext uri="{FF2B5EF4-FFF2-40B4-BE49-F238E27FC236}">
                <a16:creationId xmlns:a16="http://schemas.microsoft.com/office/drawing/2014/main" id="{684EAB35-DB58-4C60-8AF5-1D956C40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29225"/>
            <a:ext cx="4400550" cy="199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能量向上。χ與W從同一真空基準量起，線距僅示意</a:t>
            </a:r>
          </a:p>
        </p:txBody>
      </p:sp>
      <p:sp>
        <p:nvSpPr>
          <p:cNvPr id="25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66D2052B-6372-454D-AC9E-B4C464C9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6" name="footer">
            <a:extLst xmlns:a="http://schemas.openxmlformats.org/drawingml/2006/main">
              <a:ext uri="{FF2B5EF4-FFF2-40B4-BE49-F238E27FC236}">
                <a16:creationId xmlns:a16="http://schemas.microsoft.com/office/drawing/2014/main" id="{8562478F-E238-4D29-828D-375D7C9F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7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E46A45F4-AD38-4A62-8771-5DD079ED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05-18</a:t>
            </a:r>
          </a:p>
        </p:txBody>
      </p:sp>
      <p:sp>
        <p:nvSpPr>
          <p:cNvPr id="2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66EFE5D-9370-4CEB-A8A2-933DC387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18 / 28</a:t>
            </a:r>
          </a:p>
        </p:txBody>
      </p:sp>
    </p:spTree>
    <p:extLst>
      <p:ext uri="{BB962C8B-B14F-4D97-AF65-F5344CB8AC3E}">
        <p14:creationId xmlns:p14="http://schemas.microsoft.com/office/powerpoint/2010/main" val="16039641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16D847-D51D-4B14-868C-AB25D8B5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例題5：理想接觸的能障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F514EFF-C232-4E03-9FC4-371C31DB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2CDDAEC7-2E43-4A37-AD71-3A7F69EB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教學假設：金屬 Wm = 5.0 eV，半導體 χ = 4.2 eV，EC - EF = 0.15 eV。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677F7425-7177-47A2-B2A6-4CEAF4F7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理想 Schottky–Mott 模型忽略介面態、偶極與化學反應。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20E02986-3A99-4EBE-9AD5-C864B0F6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步驟1：電子能障 ΦBn = Wm - χ = 0.80 eV。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8A2560FF-D364-4923-BC60-201EFD3F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步驟2：帶彎曲能量 = ΦBn - (EC - EF) = 0.65 eV。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F4171358-D242-4CCB-B361-75A2364A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步驟3：qVbi = 0.65 eV，故內建電位 Vbi = 0.65 V。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9EB73594-CC47-4755-8362-53B4C9C4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BD8396F-09A8-4840-9534-C1C378A2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2112433C-C7C1-4F1D-BFCB-37AF7D16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05-19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6517AA8-60EF-44BE-B242-B9BFDB05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19 / 28</a:t>
            </a:r>
          </a:p>
        </p:txBody>
      </p:sp>
    </p:spTree>
    <p:extLst>
      <p:ext uri="{BB962C8B-B14F-4D97-AF65-F5344CB8AC3E}">
        <p14:creationId xmlns:p14="http://schemas.microsoft.com/office/powerpoint/2010/main" val="8777805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B73C50-DDB4-4733-BD2D-80539511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Schottky 與歐姆接觸的判定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6D649BE-DCBE-4634-8165-8F4AAD52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9E4AED3D-FCA4-4D1E-9D08-41AF3C8D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Schottky 接觸常有整流行為。歐姆接觸在指定工作範圍內近線性且接觸阻抗夠低。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A04109B8-8B1C-45BF-90AF-57BB25B9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厚且高的能障會抑制注入。薄障壁即使仍有高度，也可能讓隧穿變明顯。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1B747FD2-3F2A-45B2-849F-5290691B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介面態、費米能階釘扎、反應層與缺陷會使理想功函數規則失準。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73B582FE-1098-4564-8801-0806FD2B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判定需結合雙極性 I–V、溫度依賴與接觸電阻量測，並交代測試範圍。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3A06CF83-8382-4C8B-97DB-0F20E27A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單張近原點直線，或只比較金屬功函數，都不足以證明零能障。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6541106B-61C4-4560-B0C9-0ABF5D2E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4D7C2AA-A504-42DD-97F6-CFCD1730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CE17452C-0191-4649-9383-114EF30A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05-20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B473307-223C-414B-BD94-CD834716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20 / 28</a:t>
            </a:r>
          </a:p>
        </p:txBody>
      </p:sp>
    </p:spTree>
    <p:extLst>
      <p:ext uri="{BB962C8B-B14F-4D97-AF65-F5344CB8AC3E}">
        <p14:creationId xmlns:p14="http://schemas.microsoft.com/office/powerpoint/2010/main" val="18743383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99F8B4-6B56-438A-B2A9-C2646C14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異質介面的能帶偏移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A86BFDD-AA0F-4CF8-942F-54A65620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F5B917DA-5AAA-4C0B-9F3C-2399E3B6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兩種半導體接觸時，導帶底差稱 ΔEC，價帶頂差稱 ΔEV。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4588DE38-259C-42D1-8778-ECC4C52E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偏移決定電子或電洞面對的位能階梯，也會影響侷限與注入。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F04F9E04-CEF8-444A-97BA-C6CEE6F6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接觸前的電子親和能規則提供初估，接觸後還要處理電荷轉移與帶彎曲。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B3DB1480-4F4D-4AC4-A59F-1DF58057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介面偶極、晶格應變與化學組成可能改變真實偏移。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769D8155-4662-4F0A-8240-FF87F3A5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讀圖時先找共同能量基準，再區分能隙大小、帶彎曲與介面跳躍。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804A2D19-8EE5-4FDC-B4FF-C388C671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8FF5E37F-8C0D-4B86-A08B-8E2EBB2C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C7174D8B-EBA2-4A99-9ECE-E8522518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05-21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F02AB3-DAF4-402D-A132-9E2408AC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21 / 28</a:t>
            </a:r>
          </a:p>
        </p:txBody>
      </p:sp>
    </p:spTree>
    <p:extLst>
      <p:ext uri="{BB962C8B-B14F-4D97-AF65-F5344CB8AC3E}">
        <p14:creationId xmlns:p14="http://schemas.microsoft.com/office/powerpoint/2010/main" val="8866759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319F01-81CE-4F93-AA02-5ECE87E7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電子漂移、擴散與平衡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A5951C1-0511-44E7-A5D9-A2A59952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016EE503-A4E0-4E51-8EF5-8C577460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漂移來自電場，擴散來自濃度不均。兩者都可能同時存在。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F6C0478D-C523-4EAA-8A1B-EBC59410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對低場非簡併模型，電子電流密度 Jn = qnμnE_field + qDn dn/dx。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EDDA2434-4C80-4266-8242-B39B6BD7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μn 是電子遷移率，單位 m^(2)/(V·s)。Dn 是擴散係數，單位 m^(2)/s。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8F52463D-50C3-4EA5-9BFF-B44ACAC4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電子帶負電，所以電子擴散方向與其傳統電流方向相反。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E0EAC831-5817-4CD2-82E3-9A91DD4D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熱平衡時總電流為0，並不要求電場或濃度梯度各自為0。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2D365880-CEEF-448A-8A9F-AFB6A88A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4C4322E-8C6E-4046-9AD9-F2F68B52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3467389E-9AFB-4417-A1FB-57D8EED8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05-22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DF6AE80-50C8-4819-8404-22673982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22 / 28</a:t>
            </a:r>
          </a:p>
        </p:txBody>
      </p:sp>
    </p:spTree>
    <p:extLst>
      <p:ext uri="{BB962C8B-B14F-4D97-AF65-F5344CB8AC3E}">
        <p14:creationId xmlns:p14="http://schemas.microsoft.com/office/powerpoint/2010/main" val="199336431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6E8CC7-2E19-49A9-905B-2CD170E0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RRAM 的能帶解讀邊界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FC6B3CE-9828-4B4C-8D51-9A64D881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E8A83743-8A9B-45A2-BCAE-98D9407F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讀取電流探測當下電子傳輸，寫入過程可能同時改變離子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與缺陷分布。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E1F98F15-BB17-4EB6-B054-7983C1E4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2568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缺陷可產生局域能態，也可能改變介面注入障壁或導電路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徑。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3BCECDC8-15F7-45CE-A159-7EDE4E68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18360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TiO_2／Pt 原始研究曾以受控缺陷分布支持介面相關切換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模型。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9185FC6-D759-465D-AC5B-5D0EF368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44152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這是特定系統的證據，不能替所有氧化物 RRAM 指定同一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機制。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64245467-644D-44CD-8374-6E6E1E45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6994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一段直線化 I–V 擬合只能支持模型相容性，仍需溫度、厚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度或結構對照。</a:t>
            </a:r>
          </a:p>
        </p:txBody>
      </p:sp>
      <p:sp>
        <p:nvSpPr>
          <p:cNvPr id="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EC40DE04-9FE0-4814-A821-3775F7EA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寫入後的缺陷配置</a:t>
            </a:r>
          </a:p>
        </p:txBody>
      </p:sp>
      <p:sp>
        <p:nvSpPr>
          <p:cNvPr id="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4E13B8D6-C85C-480E-910C-77F208F0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電子能態與注入障壁</a:t>
            </a:r>
          </a:p>
        </p:txBody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D6FA51E-E021-442C-9E67-27F14D3A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15716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7EA01E4C-0F7C-422B-A313-86CEE724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1A5F33C0-80C8-4C1D-9CC1-56DD9349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3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1F411B94-A624-4868-9185-06F8CDF1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讀取時的電流</a:t>
            </a:r>
          </a:p>
        </p:txBody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6716304F-212C-4944-89B3-95B9247F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242887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271CC045-B082-432B-9A14-5B7F87B1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D86C5B47-6C3B-48C0-A89E-94089443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7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8C564C9E-14C3-4994-91D9-6C1C61B7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額外證據檢查機制</a:t>
            </a:r>
          </a:p>
        </p:txBody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DA755359-D4D1-4A9B-A598-AC419482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32861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75E57E93-6420-413C-8D4B-C96DB476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68C1636A-D7AB-4F4A-A5F8-440A6A93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1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CA7F632A-8B2C-4C1F-8462-027F30FD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4400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因果假說的拆解示意，需以實驗逐項檢驗</a:t>
            </a:r>
          </a:p>
        </p:txBody>
      </p:sp>
      <p:sp>
        <p:nvSpPr>
          <p:cNvPr id="22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64F5B38E-E99F-4A6B-80F3-16872B77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79B22B5B-0F2D-4327-967D-363609A2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4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9A9B934-4186-429A-9991-195F51C2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05-23</a:t>
            </a:r>
          </a:p>
        </p:txBody>
      </p:sp>
      <p:sp>
        <p:nvSpPr>
          <p:cNvPr id="2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E3F173C-136A-4406-9BF3-BD939CE8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23 / 28</a:t>
            </a:r>
          </a:p>
        </p:txBody>
      </p:sp>
    </p:spTree>
    <p:extLst>
      <p:ext uri="{BB962C8B-B14F-4D97-AF65-F5344CB8AC3E}">
        <p14:creationId xmlns:p14="http://schemas.microsoft.com/office/powerpoint/2010/main" val="43440837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F6794F-9A6D-42E3-A6F7-012FE671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練習3：態數乘上佔據率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27110CE-75C6-484E-9301-2AB1DBBC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0B99B787-75BC-4BA7-A6A2-A2383C41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某窄能量區間中心位於 E = EF + 2kBT，區間寬度 ΔE = 0.010 eV。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F32C6449-4A8F-4194-B10A-F2850DB7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區間內 g ≈ 2.0 × 10^(20) states·m^(-3)·eV^(-1)，並假設 f 近似不變。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777645B-8260-4326-8943-01DE2C77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問題a：計算中心能態的 f。問題b：估計區間中的電子密度 Δn。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7FA92F56-6154-4C28-AE08-3363CCDB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問題c：若該區間其實位於理想能隙、g = 0，答案如何改變？</a:t>
            </a:r>
          </a:p>
        </p:txBody>
      </p:sp>
      <p:sp>
        <p:nvSpPr>
          <p:cNvPr id="7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CCEC70F9-2774-4321-878B-985C26F4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8C3D969-1FD0-4B13-879A-7003B6DF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9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D36B4A2E-8CFF-4F70-B204-02D297AE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05-24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F30AA0-2AE5-4F99-8A55-12F2ED9C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24 / 28</a:t>
            </a:r>
          </a:p>
        </p:txBody>
      </p:sp>
    </p:spTree>
    <p:extLst>
      <p:ext uri="{BB962C8B-B14F-4D97-AF65-F5344CB8AC3E}">
        <p14:creationId xmlns:p14="http://schemas.microsoft.com/office/powerpoint/2010/main" val="19991611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59863F-F6BD-4F03-9391-87E571D2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解答3：機率與密度的區別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CED52655-9725-4D77-A5BD-F201A687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F89C8175-ADF9-4F6D-B6CC-AE997560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a．u = 2，因此 f = 1/(1 + e^(2)) = 0.1192。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CEA56062-822C-44E1-BFC6-B889C395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b．先算態密度份額：gΔE = 2.0 × 10^(20) × 0.010 = 2.0 × 10^(18) states/m^(3)。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FA419E64-3AFA-4A06-A980-67B023E3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再乘佔據率：Δn ≈ g f ΔE = 2.38 × 10^(17) m^(-3)。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7453BB59-6E63-4E88-A1B0-8CF49EDA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c．若 g = 0，則 Δn = 0。有限 f 不會憑空創造可用能態。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9DEDD28D-208F-4BE8-8606-E330CF03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檢查：Δn 小於可用態數密度，且 eV^(-1) 與 eV 相消。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DA692E91-1E08-4D7E-B366-7D914B52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7FD0C61-AD4B-43AA-8818-3384DD92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7C6BD2F6-FA92-4ABC-8E92-885B0F6A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05-25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DF1D64-E745-4246-B199-720E0F7A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25 / 28</a:t>
            </a:r>
          </a:p>
        </p:txBody>
      </p:sp>
    </p:spTree>
    <p:extLst>
      <p:ext uri="{BB962C8B-B14F-4D97-AF65-F5344CB8AC3E}">
        <p14:creationId xmlns:p14="http://schemas.microsoft.com/office/powerpoint/2010/main" val="142432369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5D2F2A-7312-44D1-8FB3-9EFD7422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練習4：接觸模型與證據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5310F42-039E-401B-B06B-54324BE8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766FA868-5997-4EEB-9C0B-8CCBE2BE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 Wm = 4.6 eV，χ = 4.0 eV，半導體內部 EC - EF = 0.20 eV。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2D9EBAD1-D89F-4381-AC90-9C29B2D6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問題a：用理想模型求電子能障 ΦBn 與內建電位 Vbi。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97AF34B-406F-4136-B832-C71D54C6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問題b：若實驗只看到小電壓附近近線性 I–V，能否斷言 ΦBn = 0？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F203F20C-8C9C-493A-AB86-DA82BECE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問題c：提出兩項額外證據，並說明各自要排除哪種替代解釋。</a:t>
            </a:r>
          </a:p>
        </p:txBody>
      </p:sp>
      <p:sp>
        <p:nvSpPr>
          <p:cNvPr id="7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8968D3B-3303-4F0C-B722-51287410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FA4C64F-0BC7-4F15-9CCB-E989798F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9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D13DA337-5669-4FEF-9E17-93003FAD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05-26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D9475C-27C9-4827-A4DD-F9B56BE2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26 / 28</a:t>
            </a:r>
          </a:p>
        </p:txBody>
      </p:sp>
    </p:spTree>
    <p:extLst>
      <p:ext uri="{BB962C8B-B14F-4D97-AF65-F5344CB8AC3E}">
        <p14:creationId xmlns:p14="http://schemas.microsoft.com/office/powerpoint/2010/main" val="7280327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E05F04-F8D4-4233-96EB-87CE6593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解答4：理想數值與真實接觸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D1811D8-2CCD-41BB-9955-2ACC5AA6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240B7A42-FF4D-40CC-9BA1-99DA07E5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a．ΦBn = 4.6 - 4.0 = 0.60 eV。qVbi = 0.60 - 0.20 = 0.40 eV，Vbi = 0.40 V。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909960D9-9172-402F-90CD-6EC3FCD5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b．不能。薄障壁隧穿或很窄量測區間，都可能產生近線性外觀。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67AF93DF-2587-41AF-AE1E-84ACA7FE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c．雙極性、足夠範圍的 I–V 可檢查整流，並記錄串聯電阻與電流限制。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B717EF23-F1F6-4417-9A9A-9C3BE0FF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溫度依賴可檢查熱活化注入。專用接觸結構可分離接觸與體材料電阻。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93D2B888-A459-4CCA-9EC6-73D50CB4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最後應寫「在何種範圍符合何種模型」，並保留尚未排除的解釋。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531A3442-E65D-4840-B69B-F615B93E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A161AB9-20A2-4A54-BE5E-BFE4556F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4CB39884-C23D-41FB-B047-BA9138EF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05-27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B7C98B5-0F5B-43AF-BB94-2105C0A0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27 / 28</a:t>
            </a:r>
          </a:p>
        </p:txBody>
      </p:sp>
    </p:spTree>
    <p:extLst>
      <p:ext uri="{BB962C8B-B14F-4D97-AF65-F5344CB8AC3E}">
        <p14:creationId xmlns:p14="http://schemas.microsoft.com/office/powerpoint/2010/main" val="106901951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8E17F8-575D-41C0-A4F8-68980496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第3–4週完成標準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37F57C4C-8014-4991-A403-7EA373B7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E197BDE8-7F01-486B-AB1E-CD27621A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能從 λ = h/p 與邊界條件解釋量子尺度，並重算波長、能階與隧穿比值。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8F39A038-E238-460D-851F-DE0B6D9D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能分清 g(E)、f(E) 與 n，說出非簡併近似的適用條件。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FF7AE4B-9746-4955-A27C-A501B2D7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能標註 EC、EV、EF、Evac，且分清 eV、V 與電場方向。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9E1886C8-F971-4DF3-8E03-4F257DD1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能計算理想接觸，並列出至少兩種讓功函數規則失準的介面因素。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BE5159D5-4889-46BE-89BB-1F298F53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下一章處理缺陷如何形成與移動，以及材料量測能支持哪些結論。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6A157FDA-E747-462F-8E94-368D783D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53442C55-1724-4113-95FE-0CBF9974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66402BC2-7902-4A55-A21B-E8A171FE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05-28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AF29CED-A609-412E-B6E2-A86B43F5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28 / 28</a:t>
            </a:r>
          </a:p>
        </p:txBody>
      </p:sp>
    </p:spTree>
    <p:extLst>
      <p:ext uri="{BB962C8B-B14F-4D97-AF65-F5344CB8AC3E}">
        <p14:creationId xmlns:p14="http://schemas.microsoft.com/office/powerpoint/2010/main" val="14766588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2026-10-29T05:01:11.7950000Z</dcterms:created>
  <dcterms:modified xsi:type="dcterms:W3CDTF">2026-10-29T05:01:11.7950000Z</dcterms:modified>
</coreProperties>
</file>